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annual volume</c:v>
                </c:pt>
              </c:strCache>
            </c:strRef>
          </c:tx>
          <c:spPr>
            <a:solidFill>
              <a:srgbClr val="53565A"/>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 Apr-Jun</c:v>
                  </c:pt>
                  <c:pt idx="1">
                    <c:v>Q2 Jul-Sep</c:v>
                  </c:pt>
                  <c:pt idx="2">
                    <c:v>Q3 Oct-Dec</c:v>
                  </c:pt>
                  <c:pt idx="3">
                    <c:v>Q4 Jan-Mar</c:v>
                  </c:pt>
                </c:lvl>
              </c:multiLvlStrCache>
            </c:multiLvlStrRef>
          </c:cat>
          <c:val>
            <c:numRef>
              <c:f>Sheet1!$B$2:$B$5</c:f>
              <c:numCache>
                <c:formatCode>General</c:formatCode>
                <c:ptCount val="4"/>
                <c:pt idx="0">
                  <c:v>41</c:v>
                </c:pt>
                <c:pt idx="1">
                  <c:v>23</c:v>
                </c:pt>
                <c:pt idx="2">
                  <c:v>15</c:v>
                </c:pt>
                <c:pt idx="3">
                  <c:v>21</c:v>
                </c:pt>
              </c:numCache>
            </c:numRef>
          </c:val>
        </c:ser>
        <c:ser>
          <c:idx val="1"/>
          <c:order val="1"/>
          <c:tx>
            <c:strRef>
              <c:f>Sheet1!$C$1</c:f>
              <c:strCache>
                <c:ptCount val="1"/>
                <c:pt idx="0">
                  <c:v>Plant utilisation</c:v>
                </c:pt>
              </c:strCache>
            </c:strRef>
          </c:tx>
          <c:spPr>
            <a:solidFill>
              <a:srgbClr val="86BC25"/>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Q1 Apr-Jun</c:v>
                  </c:pt>
                  <c:pt idx="1">
                    <c:v>Q2 Jul-Sep</c:v>
                  </c:pt>
                  <c:pt idx="2">
                    <c:v>Q3 Oct-Dec</c:v>
                  </c:pt>
                  <c:pt idx="3">
                    <c:v>Q4 Jan-Mar</c:v>
                  </c:pt>
                </c:lvl>
              </c:multiLvlStrCache>
            </c:multiLvlStrRef>
          </c:cat>
          <c:val>
            <c:numRef>
              <c:f>Sheet1!$C$2:$C$5</c:f>
              <c:numCache>
                <c:formatCode>General</c:formatCode>
                <c:ptCount val="4"/>
                <c:pt idx="0">
                  <c:v>84</c:v>
                </c:pt>
                <c:pt idx="1">
                  <c:v>49</c:v>
                </c:pt>
                <c:pt idx="2">
                  <c:v>34</c:v>
                </c:pt>
                <c:pt idx="3">
                  <c:v>50</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revenue</c:v>
                </c:pt>
              </c:strCache>
            </c:strRef>
          </c:tx>
          <c:spPr>
            <a:solidFill>
              <a:srgbClr val="046A38"/>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Region 1</c:v>
                  </c:pt>
                  <c:pt idx="1">
                    <c:v>Region 2</c:v>
                  </c:pt>
                  <c:pt idx="2">
                    <c:v>Region 3</c:v>
                  </c:pt>
                  <c:pt idx="3">
                    <c:v>Region 4</c:v>
                  </c:pt>
                </c:lvl>
              </c:multiLvlStrCache>
            </c:multiLvlStrRef>
          </c:cat>
          <c:val>
            <c:numRef>
              <c:f>Sheet1!$B$2:$B$5</c:f>
              <c:numCache>
                <c:formatCode>General</c:formatCode>
                <c:ptCount val="4"/>
                <c:pt idx="0">
                  <c:v>47</c:v>
                </c:pt>
                <c:pt idx="1">
                  <c:v>27</c:v>
                </c:pt>
                <c:pt idx="2">
                  <c:v>15</c:v>
                </c:pt>
                <c:pt idx="3">
                  <c:v>11</c:v>
                </c:pt>
              </c:numCache>
            </c:numRef>
          </c:val>
        </c:ser>
        <c:ser>
          <c:idx val="1"/>
          <c:order val="1"/>
          <c:tx>
            <c:strRef>
              <c:f>Sheet1!$C$1</c:f>
              <c:strCache>
                <c:ptCount val="1"/>
                <c:pt idx="0">
                  <c:v>Numeric distribution</c:v>
                </c:pt>
              </c:strCache>
            </c:strRef>
          </c:tx>
          <c:spPr>
            <a:solidFill>
              <a:srgbClr val="86BC25"/>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Region 1</c:v>
                  </c:pt>
                  <c:pt idx="1">
                    <c:v>Region 2</c:v>
                  </c:pt>
                  <c:pt idx="2">
                    <c:v>Region 3</c:v>
                  </c:pt>
                  <c:pt idx="3">
                    <c:v>Region 4</c:v>
                  </c:pt>
                </c:lvl>
              </c:multiLvlStrCache>
            </c:multiLvlStrRef>
          </c:cat>
          <c:val>
            <c:numRef>
              <c:f>Sheet1!$C$2:$C$5</c:f>
              <c:numCache>
                <c:formatCode>General</c:formatCode>
                <c:ptCount val="4"/>
                <c:pt idx="0">
                  <c:v>58</c:v>
                </c:pt>
                <c:pt idx="1">
                  <c:v>45</c:v>
                </c:pt>
                <c:pt idx="2">
                  <c:v>22</c:v>
                </c:pt>
                <c:pt idx="3">
                  <c:v>13</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Contribution margin</c:v>
                </c:pt>
              </c:strCache>
            </c:strRef>
          </c:tx>
          <c:spPr>
            <a:solidFill>
              <a:srgbClr val="26890D"/>
            </a:solidFill>
            <a:effectLst/>
          </c:spPr>
          <c:invertIfNegative val="0"/>
          <c:dLbls>
            <c:numFmt formatCode="0.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 flagship</c:v>
                  </c:pt>
                  <c:pt idx="1">
                    <c:v>B: squash</c:v>
                  </c:pt>
                  <c:pt idx="2">
                    <c:v>C: RTD</c:v>
                  </c:pt>
                </c:lvl>
              </c:multiLvlStrCache>
            </c:multiLvlStrRef>
          </c:cat>
          <c:val>
            <c:numRef>
              <c:f>Sheet1!$B$2:$B$4</c:f>
              <c:numCache>
                <c:formatCode>General</c:formatCode>
                <c:ptCount val="3"/>
                <c:pt idx="0">
                  <c:v>27.3</c:v>
                </c:pt>
                <c:pt idx="1">
                  <c:v>18.9</c:v>
                </c:pt>
                <c:pt idx="2">
                  <c:v>1.9</c:v>
                </c:pt>
              </c:numCache>
            </c:numRef>
          </c:val>
        </c:ser>
        <c:ser>
          <c:idx val="1"/>
          <c:order val="1"/>
          <c:tx>
            <c:strRef>
              <c:f>Sheet1!$C$1</c:f>
              <c:strCache>
                <c:ptCount val="1"/>
                <c:pt idx="0">
                  <c:v>EBITDA margin</c:v>
                </c:pt>
              </c:strCache>
            </c:strRef>
          </c:tx>
          <c:spPr>
            <a:solidFill>
              <a:srgbClr val="D0D0CE"/>
            </a:solidFill>
            <a:effectLst/>
          </c:spPr>
          <c:invertIfNegative val="0"/>
          <c:dLbls>
            <c:numFmt formatCode="0.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 flagship</c:v>
                  </c:pt>
                  <c:pt idx="1">
                    <c:v>B: squash</c:v>
                  </c:pt>
                  <c:pt idx="2">
                    <c:v>C: RTD</c:v>
                  </c:pt>
                </c:lvl>
              </c:multiLvlStrCache>
            </c:multiLvlStrRef>
          </c:cat>
          <c:val>
            <c:numRef>
              <c:f>Sheet1!$C$2:$C$4</c:f>
              <c:numCache>
                <c:formatCode>General</c:formatCode>
                <c:ptCount val="3"/>
                <c:pt idx="0">
                  <c:v>14.9</c:v>
                </c:pt>
                <c:pt idx="1">
                  <c:v>6.5</c:v>
                </c:pt>
                <c:pt idx="2">
                  <c:v>-10.5</c:v>
                </c:pt>
              </c:numCache>
            </c:numRef>
          </c:val>
        </c:ser>
        <c:dLbls>
          <c:numFmt formatCode="0.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
          <c:min val="-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Pass</c:v>
                </c:pt>
              </c:strCache>
            </c:strRef>
          </c:tx>
          <c:spPr>
            <a:solidFill>
              <a:srgbClr val="26890D"/>
            </a:solidFill>
            <a:effectLst/>
          </c:spPr>
          <c:invertIfNegative val="0"/>
          <c:dLbls>
            <c:numFmt formatCode="0.00;;;" sourceLinked="0"/>
            <c:txPr>
              <a:bodyPr/>
              <a:lstStyle/>
              <a:p>
                <a:pPr>
                  <a:defRPr b="0" i="0" strike="noStrike" sz="75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Spices</c:v>
                  </c:pt>
                  <c:pt idx="1">
                    <c:v>RTC mixes</c:v>
                  </c:pt>
                  <c:pt idx="2">
                    <c:v>Pickles</c:v>
                  </c:pt>
                  <c:pt idx="3">
                    <c:v>Premixes</c:v>
                  </c:pt>
                  <c:pt idx="4">
                    <c:v>Namkeen (out)</c:v>
                  </c:pt>
                  <c:pt idx="5">
                    <c:v>Staples (out)</c:v>
                  </c:pt>
                  <c:pt idx="6">
                    <c:v>Dairy (out)</c:v>
                  </c:pt>
                  <c:pt idx="7">
                    <c:v>Juices/RTD (out)</c:v>
                  </c:pt>
                </c:lvl>
              </c:multiLvlStrCache>
            </c:multiLvlStrRef>
          </c:cat>
          <c:val>
            <c:numRef>
              <c:f>Sheet1!$B$2:$B$9</c:f>
              <c:numCache>
                <c:formatCode>General</c:formatCode>
                <c:ptCount val="8"/>
                <c:pt idx="0">
                  <c:v>3.63</c:v>
                </c:pt>
                <c:pt idx="1">
                  <c:v>3.61</c:v>
                </c:pt>
                <c:pt idx="2">
                  <c:v>3.24</c:v>
                </c:pt>
                <c:pt idx="3">
                  <c:v>3.13</c:v>
                </c:pt>
                <c:pt idx="4">
                  <c:v>0</c:v>
                </c:pt>
                <c:pt idx="5">
                  <c:v>0</c:v>
                </c:pt>
                <c:pt idx="6">
                  <c:v>0</c:v>
                </c:pt>
                <c:pt idx="7">
                  <c:v>0</c:v>
                </c:pt>
              </c:numCache>
            </c:numRef>
          </c:val>
        </c:ser>
        <c:ser>
          <c:idx val="1"/>
          <c:order val="1"/>
          <c:tx>
            <c:strRef>
              <c:f>Sheet1!$C$1</c:f>
              <c:strCache>
                <c:ptCount val="1"/>
                <c:pt idx="0">
                  <c:v>Refused</c:v>
                </c:pt>
              </c:strCache>
            </c:strRef>
          </c:tx>
          <c:spPr>
            <a:solidFill>
              <a:srgbClr val="8C8C8C"/>
            </a:solidFill>
            <a:effectLst/>
          </c:spPr>
          <c:invertIfNegative val="0"/>
          <c:dLbls>
            <c:numFmt formatCode="0.00;;;" sourceLinked="0"/>
            <c:txPr>
              <a:bodyPr/>
              <a:lstStyle/>
              <a:p>
                <a:pPr>
                  <a:defRPr b="0" i="0" strike="noStrike" sz="75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Spices</c:v>
                  </c:pt>
                  <c:pt idx="1">
                    <c:v>RTC mixes</c:v>
                  </c:pt>
                  <c:pt idx="2">
                    <c:v>Pickles</c:v>
                  </c:pt>
                  <c:pt idx="3">
                    <c:v>Premixes</c:v>
                  </c:pt>
                  <c:pt idx="4">
                    <c:v>Namkeen (out)</c:v>
                  </c:pt>
                  <c:pt idx="5">
                    <c:v>Staples (out)</c:v>
                  </c:pt>
                  <c:pt idx="6">
                    <c:v>Dairy (out)</c:v>
                  </c:pt>
                  <c:pt idx="7">
                    <c:v>Juices/RTD (out)</c:v>
                  </c:pt>
                </c:lvl>
              </c:multiLvlStrCache>
            </c:multiLvlStrRef>
          </c:cat>
          <c:val>
            <c:numRef>
              <c:f>Sheet1!$C$2:$C$9</c:f>
              <c:numCache>
                <c:formatCode>General</c:formatCode>
                <c:ptCount val="8"/>
                <c:pt idx="0">
                  <c:v>0</c:v>
                </c:pt>
                <c:pt idx="1">
                  <c:v>0</c:v>
                </c:pt>
                <c:pt idx="2">
                  <c:v>0</c:v>
                </c:pt>
                <c:pt idx="3">
                  <c:v>0</c:v>
                </c:pt>
                <c:pt idx="4">
                  <c:v>3.13</c:v>
                </c:pt>
                <c:pt idx="5">
                  <c:v>2.85</c:v>
                </c:pt>
                <c:pt idx="6">
                  <c:v>2.32</c:v>
                </c:pt>
                <c:pt idx="7">
                  <c:v>1.93</c:v>
                </c:pt>
              </c:numCache>
            </c:numRef>
          </c:val>
        </c:ser>
        <c:dLbls>
          <c:numFmt formatCode="0.00;;;" sourceLinked="0"/>
          <c:txPr>
            <a:bodyPr/>
            <a:lstStyle/>
            <a:p>
              <a:pPr>
                <a:defRPr b="0" i="0" strike="noStrike" sz="750" u="none">
                  <a:solidFill>
                    <a:srgbClr val="FFFFFF"/>
                  </a:solidFill>
                  <a:latin typeface="Arial"/>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Weights</c:v>
                </c:pt>
              </c:strCache>
            </c:strRef>
          </c:tx>
          <c:spPr>
            <a:solidFill>
              <a:schemeClr val="accent1"/>
            </a:solidFill>
            <a:ln w="9525" cap="flat">
              <a:solidFill>
                <a:srgbClr val="F9F9F9"/>
              </a:solidFill>
              <a:prstDash val="solid"/>
              <a:round/>
            </a:ln>
            <a:effectLst/>
          </c:spPr>
          <c:dPt>
            <c:idx val="0"/>
            <c:bubble3D val="0"/>
            <c:spPr>
              <a:solidFill>
                <a:srgbClr val="046A38"/>
              </a:solidFill>
              <a:effectLst/>
            </c:spPr>
          </c:dPt>
          <c:dPt>
            <c:idx val="1"/>
            <c:bubble3D val="0"/>
            <c:spPr>
              <a:solidFill>
                <a:srgbClr val="26890D"/>
              </a:solidFill>
              <a:effectLst/>
            </c:spPr>
          </c:dPt>
          <c:dPt>
            <c:idx val="2"/>
            <c:bubble3D val="0"/>
            <c:spPr>
              <a:solidFill>
                <a:srgbClr val="86BC25"/>
              </a:solidFill>
              <a:effectLst/>
            </c:spPr>
          </c:dPt>
          <c:dPt>
            <c:idx val="3"/>
            <c:bubble3D val="0"/>
            <c:spPr>
              <a:solidFill>
                <a:srgbClr val="53565A"/>
              </a:solidFill>
              <a:effectLst/>
            </c:spPr>
          </c:dPt>
          <c:dLbls>
            <c:dLbl>
              <c:idx val="0"/>
              <c:numFmt formatCode="General" sourceLinked="0"/>
              <c:spPr/>
              <c:txPr>
                <a:bodyPr/>
                <a:lstStyle/>
                <a:p>
                  <a:pPr>
                    <a:defRPr sz="8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8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8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8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Market size</c:v>
                </c:pt>
                <c:pt idx="1">
                  <c:v>3-yr growth</c:v>
                </c:pt>
                <c:pt idx="2">
                  <c:v>Distributor fit</c:v>
                </c:pt>
                <c:pt idx="3">
                  <c:v>Budget fit</c:v>
                </c:pt>
              </c:strCache>
            </c:strRef>
          </c:cat>
          <c:val>
            <c:numRef>
              <c:f>Sheet1!$B$2:$B$5</c:f>
              <c:numCache>
                <c:ptCount val="4"/>
                <c:pt idx="0">
                  <c:v>35</c:v>
                </c:pt>
                <c:pt idx="1">
                  <c:v>35</c:v>
                </c:pt>
                <c:pt idx="2">
                  <c:v>15</c:v>
                </c:pt>
                <c:pt idx="3">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Mar-Jul share of company sales</c:v>
                </c:pt>
              </c:strCache>
            </c:strRef>
          </c:tx>
          <c:spPr>
            <a:solidFill>
              <a:srgbClr val="53565A"/>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53565A"/>
              </a:solidFill>
              <a:effectLst/>
            </c:spPr>
          </c:dPt>
          <c:dPt>
            <c:idx val="1"/>
            <c:invertIfNegative val="0"/>
            <c:bubble3D val="0"/>
            <c:spPr>
              <a:solidFill>
                <a:srgbClr val="86BC25"/>
              </a:solidFill>
              <a:effectLst/>
            </c:spPr>
          </c:dPt>
          <c:cat>
            <c:multiLvlStrRef>
              <c:f>Sheet1!$A$2:$A$3</c:f>
              <c:multiLvlStrCache>
                <c:ptCount val="2"/>
                <c:lvl>
                  <c:pt idx="0">
                    <c:v>FY21 (Exh. 1)</c:v>
                  </c:pt>
                  <c:pt idx="1">
                    <c:v>FY24 base (team)</c:v>
                  </c:pt>
                </c:lvl>
              </c:multiLvlStrCache>
            </c:multiLvlStrRef>
          </c:cat>
          <c:val>
            <c:numRef>
              <c:f>Sheet1!$B$2:$B$3</c:f>
              <c:numCache>
                <c:formatCode>General</c:formatCode>
                <c:ptCount val="2"/>
                <c:pt idx="0">
                  <c:v>58</c:v>
                </c:pt>
                <c:pt idx="1">
                  <c:v>54</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Picks</c:v>
                </c:pt>
              </c:strCache>
            </c:strRef>
          </c:tx>
          <c:spPr>
            <a:solidFill>
              <a:srgbClr val="26890D"/>
            </a:solidFill>
            <a:effectLst/>
          </c:spPr>
          <c:invertIfNegative val="0"/>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Ready-to-cook mix</c:v>
                  </c:pt>
                  <c:pt idx="1">
                    <c:v>Ginger tea premix</c:v>
                  </c:pt>
                  <c:pt idx="2">
                    <c:v>Mango pickle</c:v>
                  </c:pt>
                  <c:pt idx="3">
                    <c:v>Masala</c:v>
                  </c:pt>
                  <c:pt idx="4">
                    <c:v>None (then ginger tea)</c:v>
                  </c:pt>
                </c:lvl>
              </c:multiLvlStrCache>
            </c:multiLvlStrRef>
          </c:cat>
          <c:val>
            <c:numRef>
              <c:f>Sheet1!$B$2:$B$6</c:f>
              <c:numCache>
                <c:formatCode>General</c:formatCode>
                <c:ptCount val="5"/>
                <c:pt idx="0">
                  <c:v>4</c:v>
                </c:pt>
                <c:pt idx="1">
                  <c:v>2</c:v>
                </c:pt>
                <c:pt idx="2">
                  <c:v>1</c:v>
                </c:pt>
                <c:pt idx="3">
                  <c:v>1</c:v>
                </c:pt>
                <c:pt idx="4">
                  <c:v>1</c:v>
                </c:pt>
              </c:numCache>
            </c:numRef>
          </c:val>
        </c:ser>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2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46A38"/>
              </a:solidFill>
              <a:effectLst/>
            </c:spPr>
          </c:dPt>
          <c:dPt>
            <c:idx val="1"/>
            <c:bubble3D val="0"/>
            <c:spPr>
              <a:solidFill>
                <a:srgbClr val="86BC25"/>
              </a:solidFill>
              <a:effectLst/>
            </c:spPr>
          </c:dPt>
          <c:dPt>
            <c:idx val="2"/>
            <c:bubble3D val="0"/>
            <c:spPr>
              <a:solidFill>
                <a:srgbClr val="53565A"/>
              </a:solidFill>
              <a:effectLst/>
            </c:spPr>
          </c:dPt>
          <c:dLbls>
            <c:dLbl>
              <c:idx val="0"/>
              <c:numFmt formatCode="0.0&quot;%&quot;" sourceLinked="0"/>
              <c:spPr/>
              <c:txPr>
                <a:bodyPr/>
                <a:lstStyle/>
                <a:p>
                  <a:pPr>
                    <a:defRPr sz="750" b="0" i="0" u="none" strike="noStrike">
                      <a:solidFill>
                        <a:srgbClr val="FFFFFF"/>
                      </a:solidFill>
                      <a:latin typeface="Arial"/>
                    </a:defRPr>
                  </a:pPr>
                </a:p>
              </c:txPr>
              <c:showLegendKey val="0"/>
              <c:showVal val="1"/>
              <c:showCatName val="0"/>
              <c:showSerName val="0"/>
              <c:showPercent val="0"/>
              <c:showBubbleSize val="0"/>
            </c:dLbl>
            <c:dLbl>
              <c:idx val="1"/>
              <c:numFmt formatCode="0.0&quot;%&quot;" sourceLinked="0"/>
              <c:spPr/>
              <c:txPr>
                <a:bodyPr/>
                <a:lstStyle/>
                <a:p>
                  <a:pPr>
                    <a:defRPr sz="750" b="0" i="0" u="none" strike="noStrike">
                      <a:solidFill>
                        <a:srgbClr val="FFFFFF"/>
                      </a:solidFill>
                      <a:latin typeface="Arial"/>
                    </a:defRPr>
                  </a:pPr>
                </a:p>
              </c:txPr>
              <c:showLegendKey val="0"/>
              <c:showVal val="1"/>
              <c:showCatName val="0"/>
              <c:showSerName val="0"/>
              <c:showPercent val="0"/>
              <c:showBubbleSize val="0"/>
            </c:dLbl>
            <c:dLbl>
              <c:idx val="2"/>
              <c:numFmt formatCode="0.0&quot;%&quot;" sourceLinked="0"/>
              <c:spPr/>
              <c:txPr>
                <a:bodyPr/>
                <a:lstStyle/>
                <a:p>
                  <a:pPr>
                    <a:defRPr sz="750" b="0" i="0" u="none" strike="noStrike">
                      <a:solidFill>
                        <a:srgbClr val="FFFFFF"/>
                      </a:solidFill>
                      <a:latin typeface="Arial"/>
                    </a:defRPr>
                  </a:pPr>
                </a:p>
              </c:txPr>
              <c:showLegendKey val="0"/>
              <c:showVal val="1"/>
              <c:showCatName val="0"/>
              <c:showSerName val="0"/>
              <c:showPercent val="0"/>
              <c:showBubbleSize val="0"/>
            </c:dLbl>
            <c:numFmt formatCode="0.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General trade</c:v>
                </c:pt>
                <c:pt idx="1">
                  <c:v>Quick-commerce</c:v>
                </c:pt>
                <c:pt idx="2">
                  <c:v>Modern trade</c:v>
                </c:pt>
              </c:strCache>
            </c:strRef>
          </c:cat>
          <c:val>
            <c:numRef>
              <c:f>Sheet1!$B$2:$B$4</c:f>
              <c:numCache>
                <c:ptCount val="3"/>
                <c:pt idx="0">
                  <c:v>78.5</c:v>
                </c:pt>
                <c:pt idx="1">
                  <c:v>10.9</c:v>
                </c:pt>
                <c:pt idx="2">
                  <c:v>10.6</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FY21 (Exh. 4.2)</c:v>
                </c:pt>
              </c:strCache>
            </c:strRef>
          </c:tx>
          <c:spPr>
            <a:solidFill>
              <a:srgbClr val="53565A"/>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Region 1</c:v>
                  </c:pt>
                  <c:pt idx="1">
                    <c:v>Region 2</c:v>
                  </c:pt>
                  <c:pt idx="2">
                    <c:v>Region 3</c:v>
                  </c:pt>
                  <c:pt idx="3">
                    <c:v>Region 4</c:v>
                  </c:pt>
                </c:lvl>
              </c:multiLvlStrCache>
            </c:multiLvlStrRef>
          </c:cat>
          <c:val>
            <c:numRef>
              <c:f>Sheet1!$B$2:$B$5</c:f>
              <c:numCache>
                <c:formatCode>General</c:formatCode>
                <c:ptCount val="4"/>
                <c:pt idx="0">
                  <c:v>58</c:v>
                </c:pt>
                <c:pt idx="1">
                  <c:v>45</c:v>
                </c:pt>
                <c:pt idx="2">
                  <c:v>22</c:v>
                </c:pt>
                <c:pt idx="3">
                  <c:v>13</c:v>
                </c:pt>
              </c:numCache>
            </c:numRef>
          </c:val>
        </c:ser>
        <c:ser>
          <c:idx val="1"/>
          <c:order val="1"/>
          <c:tx>
            <c:strRef>
              <c:f>Sheet1!$C$1</c:f>
              <c:strCache>
                <c:ptCount val="1"/>
                <c:pt idx="0">
                  <c:v>FY24 stretch target</c:v>
                </c:pt>
              </c:strCache>
            </c:strRef>
          </c:tx>
          <c:spPr>
            <a:solidFill>
              <a:srgbClr val="86BC25"/>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Region 1</c:v>
                  </c:pt>
                  <c:pt idx="1">
                    <c:v>Region 2</c:v>
                  </c:pt>
                  <c:pt idx="2">
                    <c:v>Region 3</c:v>
                  </c:pt>
                  <c:pt idx="3">
                    <c:v>Region 4</c:v>
                  </c:pt>
                </c:lvl>
              </c:multiLvlStrCache>
            </c:multiLvlStrRef>
          </c:cat>
          <c:val>
            <c:numRef>
              <c:f>Sheet1!$C$2:$C$5</c:f>
              <c:numCache>
                <c:formatCode>General</c:formatCode>
                <c:ptCount val="4"/>
                <c:pt idx="0">
                  <c:v>58</c:v>
                </c:pt>
                <c:pt idx="1">
                  <c:v>45</c:v>
                </c:pt>
                <c:pt idx="2">
                  <c:v>30</c:v>
                </c:pt>
                <c:pt idx="3">
                  <c:v>22</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Core range (gross)</c:v>
                </c:pt>
              </c:strCache>
            </c:strRef>
          </c:tx>
          <c:spPr>
            <a:solidFill>
              <a:srgbClr val="53565A"/>
            </a:solidFill>
            <a:effectLst/>
          </c:spPr>
          <c:invertIfNegative val="0"/>
          <c:dLbls>
            <c:numFmt formatCode="0.0;;;" sourceLinked="0"/>
            <c:txPr>
              <a:bodyPr/>
              <a:lstStyle/>
              <a:p>
                <a:pPr>
                  <a:defRPr b="0" i="0" strike="noStrike" sz="7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FY21</c:v>
                  </c:pt>
                  <c:pt idx="1">
                    <c:v>FY24 base</c:v>
                  </c:pt>
                </c:lvl>
              </c:multiLvlStrCache>
            </c:multiLvlStrRef>
          </c:cat>
          <c:val>
            <c:numRef>
              <c:f>Sheet1!$B$2:$B$3</c:f>
              <c:numCache>
                <c:formatCode>General</c:formatCode>
                <c:ptCount val="2"/>
                <c:pt idx="0">
                  <c:v>7.8</c:v>
                </c:pt>
                <c:pt idx="1">
                  <c:v>7.8</c:v>
                </c:pt>
              </c:numCache>
            </c:numRef>
          </c:val>
        </c:ser>
        <c:ser>
          <c:idx val="1"/>
          <c:order val="1"/>
          <c:tx>
            <c:strRef>
              <c:f>Sheet1!$C$1</c:f>
              <c:strCache>
                <c:ptCount val="1"/>
                <c:pt idx="0">
                  <c:v>New lines (gross)</c:v>
                </c:pt>
              </c:strCache>
            </c:strRef>
          </c:tx>
          <c:spPr>
            <a:solidFill>
              <a:srgbClr val="86BC25"/>
            </a:solidFill>
            <a:effectLst/>
          </c:spPr>
          <c:invertIfNegative val="0"/>
          <c:dLbls>
            <c:numFmt formatCode="0.0;;;" sourceLinked="0"/>
            <c:txPr>
              <a:bodyPr/>
              <a:lstStyle/>
              <a:p>
                <a:pPr>
                  <a:defRPr b="0" i="0" strike="noStrike" sz="7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FY21</c:v>
                  </c:pt>
                  <c:pt idx="1">
                    <c:v>FY24 base</c:v>
                  </c:pt>
                </c:lvl>
              </c:multiLvlStrCache>
            </c:multiLvlStrRef>
          </c:cat>
          <c:val>
            <c:numRef>
              <c:f>Sheet1!$C$2:$C$3</c:f>
              <c:numCache>
                <c:formatCode>General</c:formatCode>
                <c:ptCount val="2"/>
                <c:pt idx="0">
                  <c:v>0</c:v>
                </c:pt>
                <c:pt idx="1">
                  <c:v>1.9</c:v>
                </c:pt>
              </c:numCache>
            </c:numRef>
          </c:val>
        </c:ser>
        <c:dLbls>
          <c:numFmt formatCode="0.0;;;" sourceLinked="0"/>
          <c:txPr>
            <a:bodyPr/>
            <a:lstStyle/>
            <a:p>
              <a:pPr>
                <a:defRPr b="0" i="0" strike="noStrike" sz="750" u="none">
                  <a:solidFill>
                    <a:srgbClr val="FFFFFF"/>
                  </a:solidFill>
                  <a:latin typeface="Arial"/>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68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launch A&amp;P</c:v>
                </c:pt>
              </c:strCache>
            </c:strRef>
          </c:tx>
          <c:spPr>
            <a:solidFill>
              <a:srgbClr val="26890D"/>
            </a:solidFill>
            <a:effectLst/>
          </c:spPr>
          <c:invertIfNegative val="0"/>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BTL: sampling, in-pack</c:v>
                  </c:pt>
                  <c:pt idx="1">
                    <c:v>Digital: campus, social, Q-com</c:v>
                  </c:pt>
                  <c:pt idx="2">
                    <c:v>ATL: regional TV, CTV</c:v>
                  </c:pt>
                  <c:pt idx="3">
                    <c:v>In-store: racks, POSM</c:v>
                  </c:pt>
                </c:lvl>
              </c:multiLvlStrCache>
            </c:multiLvlStrRef>
          </c:cat>
          <c:val>
            <c:numRef>
              <c:f>Sheet1!$B$2:$B$5</c:f>
              <c:numCache>
                <c:formatCode>General</c:formatCode>
                <c:ptCount val="4"/>
                <c:pt idx="0">
                  <c:v>35</c:v>
                </c:pt>
                <c:pt idx="1">
                  <c:v>25</c:v>
                </c:pt>
                <c:pt idx="2">
                  <c:v>25</c:v>
                </c:pt>
                <c:pt idx="3">
                  <c:v>15</c:v>
                </c:pt>
              </c:numCache>
            </c:numRef>
          </c:val>
        </c:ser>
        <c:dLbls>
          <c:numFmt formatCode="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Idea-to-shelf, months</c:v>
                </c:pt>
              </c:strCache>
            </c:strRef>
          </c:tx>
          <c:spPr>
            <a:solidFill>
              <a:srgbClr val="53565A"/>
            </a:solidFill>
            <a:effectLst/>
          </c:spPr>
          <c:invertIfNegative val="0"/>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Rasmitra today</c:v>
                  </c:pt>
                  <c:pt idx="1">
                    <c:v>Peers</c:v>
                  </c:pt>
                  <c:pt idx="2">
                    <c:v>Our plan</c:v>
                  </c:pt>
                </c:lvl>
              </c:multiLvlStrCache>
            </c:multiLvlStrRef>
          </c:cat>
          <c:val>
            <c:numRef>
              <c:f>Sheet1!$B$2:$B$4</c:f>
              <c:numCache>
                <c:formatCode>General</c:formatCode>
                <c:ptCount val="3"/>
                <c:pt idx="0">
                  <c:v>11</c:v>
                </c:pt>
                <c:pt idx="1">
                  <c:v>7</c:v>
                </c:pt>
                <c:pt idx="2">
                  <c:v>6</c:v>
                </c:pt>
              </c:numCache>
            </c:numRef>
          </c:val>
        </c:ser>
        <c:dLbls>
          <c:numFmt formatCode="#,##0"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2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Today's new products</c:v>
                </c:pt>
              </c:strCache>
            </c:strRef>
          </c:tx>
          <c:spPr>
            <a:solidFill>
              <a:srgbClr val="D0D0CE"/>
            </a:solidFill>
            <a:effectLst/>
          </c:spPr>
          <c:invertIfNegative val="0"/>
          <c:dLbls>
            <c:numFmt formatCode="[&lt;5]&quot;&quot;;0.0" sourceLinked="0"/>
            <c:txPr>
              <a:bodyPr/>
              <a:lstStyle/>
              <a:p>
                <a:pPr>
                  <a:defRPr b="0" i="0" strike="noStrike" sz="68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FY21</c:v>
                  </c:pt>
                  <c:pt idx="1">
                    <c:v>FY22</c:v>
                  </c:pt>
                  <c:pt idx="2">
                    <c:v>FY23</c:v>
                  </c:pt>
                  <c:pt idx="3">
                    <c:v>FY24</c:v>
                  </c:pt>
                </c:lvl>
              </c:multiLvlStrCache>
            </c:multiLvlStrRef>
          </c:cat>
          <c:val>
            <c:numRef>
              <c:f>Sheet1!$B$2:$B$5</c:f>
              <c:numCache>
                <c:formatCode>General</c:formatCode>
                <c:ptCount val="4"/>
                <c:pt idx="0">
                  <c:v>23.5</c:v>
                </c:pt>
                <c:pt idx="1">
                  <c:v>25.9</c:v>
                </c:pt>
                <c:pt idx="2">
                  <c:v>28.5</c:v>
                </c:pt>
                <c:pt idx="3">
                  <c:v>31.3</c:v>
                </c:pt>
              </c:numCache>
            </c:numRef>
          </c:val>
        </c:ser>
        <c:ser>
          <c:idx val="1"/>
          <c:order val="1"/>
          <c:tx>
            <c:strRef>
              <c:f>Sheet1!$C$1</c:f>
              <c:strCache>
                <c:ptCount val="1"/>
                <c:pt idx="0">
                  <c:v>Premixes</c:v>
                </c:pt>
              </c:strCache>
            </c:strRef>
          </c:tx>
          <c:spPr>
            <a:solidFill>
              <a:srgbClr val="86BC25"/>
            </a:solidFill>
            <a:effectLst/>
          </c:spPr>
          <c:invertIfNegative val="0"/>
          <c:dLbls>
            <c:numFmt formatCode="[&lt;5]&quot;&quot;;0.0" sourceLinked="0"/>
            <c:txPr>
              <a:bodyPr/>
              <a:lstStyle/>
              <a:p>
                <a:pPr>
                  <a:defRPr b="0" i="0" strike="noStrike" sz="68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FY21</c:v>
                  </c:pt>
                  <c:pt idx="1">
                    <c:v>FY22</c:v>
                  </c:pt>
                  <c:pt idx="2">
                    <c:v>FY23</c:v>
                  </c:pt>
                  <c:pt idx="3">
                    <c:v>FY24</c:v>
                  </c:pt>
                </c:lvl>
              </c:multiLvlStrCache>
            </c:multiLvlStrRef>
          </c:cat>
          <c:val>
            <c:numRef>
              <c:f>Sheet1!$C$2:$C$5</c:f>
              <c:numCache>
                <c:formatCode>General</c:formatCode>
                <c:ptCount val="4"/>
                <c:pt idx="0">
                  <c:v>0</c:v>
                </c:pt>
                <c:pt idx="1">
                  <c:v>7.3</c:v>
                </c:pt>
                <c:pt idx="2">
                  <c:v>20.7</c:v>
                </c:pt>
                <c:pt idx="3">
                  <c:v>31.5</c:v>
                </c:pt>
              </c:numCache>
            </c:numRef>
          </c:val>
        </c:ser>
        <c:ser>
          <c:idx val="2"/>
          <c:order val="2"/>
          <c:tx>
            <c:strRef>
              <c:f>Sheet1!$D$1</c:f>
              <c:strCache>
                <c:ptCount val="1"/>
                <c:pt idx="0">
                  <c:v>Spices</c:v>
                </c:pt>
              </c:strCache>
            </c:strRef>
          </c:tx>
          <c:spPr>
            <a:solidFill>
              <a:srgbClr val="046A38"/>
            </a:solidFill>
            <a:effectLst/>
          </c:spPr>
          <c:invertIfNegative val="0"/>
          <c:dLbls>
            <c:numFmt formatCode="[&lt;5]&quot;&quot;;0.0" sourceLinked="0"/>
            <c:txPr>
              <a:bodyPr/>
              <a:lstStyle/>
              <a:p>
                <a:pPr>
                  <a:defRPr b="0" i="0" strike="noStrike" sz="68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FY21</c:v>
                  </c:pt>
                  <c:pt idx="1">
                    <c:v>FY22</c:v>
                  </c:pt>
                  <c:pt idx="2">
                    <c:v>FY23</c:v>
                  </c:pt>
                  <c:pt idx="3">
                    <c:v>FY24</c:v>
                  </c:pt>
                </c:lvl>
              </c:multiLvlStrCache>
            </c:multiLvlStrRef>
          </c:cat>
          <c:val>
            <c:numRef>
              <c:f>Sheet1!$D$2:$D$5</c:f>
              <c:numCache>
                <c:formatCode>General</c:formatCode>
                <c:ptCount val="4"/>
                <c:pt idx="0">
                  <c:v>0</c:v>
                </c:pt>
                <c:pt idx="1">
                  <c:v>3.3</c:v>
                </c:pt>
                <c:pt idx="2">
                  <c:v>43.8</c:v>
                </c:pt>
                <c:pt idx="3">
                  <c:v>77</c:v>
                </c:pt>
              </c:numCache>
            </c:numRef>
          </c:val>
        </c:ser>
        <c:dLbls>
          <c:numFmt formatCode="[&lt;5]&quot;&quot;;0.0" sourceLinked="0"/>
          <c:txPr>
            <a:bodyPr/>
            <a:lstStyle/>
            <a:p>
              <a:pPr>
                <a:defRPr b="0" i="0" strike="noStrike" sz="680" u="none">
                  <a:solidFill>
                    <a:srgbClr val="000000"/>
                  </a:solidFill>
                  <a:latin typeface="Arial"/>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majorUnit val="40"/>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FY24 new-product share</c:v>
                </c:pt>
              </c:strCache>
            </c:strRef>
          </c:tx>
          <c:spPr>
            <a:solidFill>
              <a:srgbClr val="046A38"/>
            </a:solidFill>
            <a:effectLst/>
          </c:spPr>
          <c:invertIfNegative val="0"/>
          <c:dLbls>
            <c:numFmt formatCode="0.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Top-down (plan)</c:v>
                  </c:pt>
                  <c:pt idx="1">
                    <c:v>Bottom-up Excel</c:v>
                  </c:pt>
                </c:lvl>
              </c:multiLvlStrCache>
            </c:multiLvlStrRef>
          </c:cat>
          <c:val>
            <c:numRef>
              <c:f>Sheet1!$B$2:$B$3</c:f>
              <c:numCache>
                <c:formatCode>General</c:formatCode>
                <c:ptCount val="2"/>
                <c:pt idx="0">
                  <c:v>18.5</c:v>
                </c:pt>
                <c:pt idx="1">
                  <c:v>35.2</c:v>
                </c:pt>
              </c:numCache>
            </c:numRef>
          </c:val>
        </c:ser>
        <c:dLbls>
          <c:numFmt formatCode="0.0&quot;%&quot;" sourceLinked="0"/>
          <c:txPr>
            <a:bodyPr/>
            <a:lstStyle/>
            <a:p>
              <a:pPr>
                <a:defRPr b="0" i="0" strike="noStrike" sz="750" u="none">
                  <a:solidFill>
                    <a:srgbClr val="00000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2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Stretch</c:v>
                </c:pt>
              </c:strCache>
            </c:strRef>
          </c:tx>
          <c:spPr>
            <a:solidFill>
              <a:srgbClr val="046A38"/>
            </a:solidFill>
            <a:ln w="25400" cap="flat">
              <a:solidFill>
                <a:srgbClr val="046A38"/>
              </a:solidFill>
              <a:prstDash val="solid"/>
              <a:round/>
            </a:ln>
            <a:effectLst/>
          </c:spPr>
          <c:invertIfNegative val="0"/>
          <c:dLbls>
            <c:numFmt formatCode="#,##0" sourceLinked="0"/>
            <c:txPr>
              <a:bodyPr/>
              <a:lstStyle/>
              <a:p>
                <a:pPr>
                  <a:defRPr b="0" i="0" strike="noStrike" sz="75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46A38"/>
              </a:solidFill>
              <a:ln w="9525" cap="flat">
                <a:solidFill>
                  <a:srgbClr val="046A38"/>
                </a:solidFill>
                <a:prstDash val="solid"/>
                <a:round/>
              </a:ln>
              <a:effectLst/>
            </c:spPr>
          </c:marker>
          <c:cat>
            <c:multiLvlStrRef>
              <c:f>Sheet1!$A$2:$A$6</c:f>
              <c:multiLvlStrCache>
                <c:ptCount val="5"/>
                <c:lvl>
                  <c:pt idx="0">
                    <c:v>FY22</c:v>
                  </c:pt>
                  <c:pt idx="1">
                    <c:v>FY23</c:v>
                  </c:pt>
                  <c:pt idx="2">
                    <c:v>FY24</c:v>
                  </c:pt>
                  <c:pt idx="3">
                    <c:v>FY25E</c:v>
                  </c:pt>
                  <c:pt idx="4">
                    <c:v>FY26E</c:v>
                  </c:pt>
                </c:lvl>
              </c:multiLvlStrCache>
            </c:multiLvlStrRef>
          </c:cat>
          <c:val>
            <c:numRef>
              <c:f>Sheet1!$B$2:$B$6</c:f>
              <c:numCache>
                <c:formatCode>General</c:formatCode>
                <c:ptCount val="5"/>
                <c:pt idx="0">
                  <c:v>-10.2</c:v>
                </c:pt>
                <c:pt idx="1">
                  <c:v>-12.6</c:v>
                </c:pt>
                <c:pt idx="2">
                  <c:v>6.2</c:v>
                </c:pt>
                <c:pt idx="3">
                  <c:v>36.8</c:v>
                </c:pt>
                <c:pt idx="4">
                  <c:v>72</c:v>
                </c:pt>
              </c:numCache>
            </c:numRef>
          </c:val>
          <c:smooth val="0"/>
        </c:ser>
        <c:ser>
          <c:idx val="1"/>
          <c:order val="1"/>
          <c:tx>
            <c:strRef>
              <c:f>Sheet1!$C$1</c:f>
              <c:strCache>
                <c:ptCount val="1"/>
                <c:pt idx="0">
                  <c:v>Base</c:v>
                </c:pt>
              </c:strCache>
            </c:strRef>
          </c:tx>
          <c:spPr>
            <a:solidFill>
              <a:srgbClr val="86BC25"/>
            </a:solidFill>
            <a:ln w="25400" cap="flat">
              <a:solidFill>
                <a:srgbClr val="86BC25"/>
              </a:solidFill>
              <a:prstDash val="solid"/>
              <a:round/>
            </a:ln>
            <a:effectLst/>
          </c:spPr>
          <c:invertIfNegative val="0"/>
          <c:dLbls>
            <c:numFmt formatCode="#,##0" sourceLinked="0"/>
            <c:txPr>
              <a:bodyPr/>
              <a:lstStyle/>
              <a:p>
                <a:pPr>
                  <a:defRPr b="0" i="0" strike="noStrike" sz="75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6BC25"/>
              </a:solidFill>
              <a:ln w="9525" cap="flat">
                <a:solidFill>
                  <a:srgbClr val="86BC25"/>
                </a:solidFill>
                <a:prstDash val="solid"/>
                <a:round/>
              </a:ln>
              <a:effectLst/>
            </c:spPr>
          </c:marker>
          <c:cat>
            <c:multiLvlStrRef>
              <c:f>Sheet1!$A$2:$A$6</c:f>
              <c:multiLvlStrCache>
                <c:ptCount val="5"/>
                <c:lvl>
                  <c:pt idx="0">
                    <c:v>FY22</c:v>
                  </c:pt>
                  <c:pt idx="1">
                    <c:v>FY23</c:v>
                  </c:pt>
                  <c:pt idx="2">
                    <c:v>FY24</c:v>
                  </c:pt>
                  <c:pt idx="3">
                    <c:v>FY25E</c:v>
                  </c:pt>
                  <c:pt idx="4">
                    <c:v>FY26E</c:v>
                  </c:pt>
                </c:lvl>
              </c:multiLvlStrCache>
            </c:multiLvlStrRef>
          </c:cat>
          <c:val>
            <c:numRef>
              <c:f>Sheet1!$C$2:$C$6</c:f>
              <c:numCache>
                <c:formatCode>General</c:formatCode>
                <c:ptCount val="5"/>
                <c:pt idx="0">
                  <c:v>-11.2</c:v>
                </c:pt>
                <c:pt idx="1">
                  <c:v>-20.6</c:v>
                </c:pt>
                <c:pt idx="2">
                  <c:v>-19.1</c:v>
                </c:pt>
                <c:pt idx="3">
                  <c:v>-4.6</c:v>
                </c:pt>
                <c:pt idx="4">
                  <c:v>12.3</c:v>
                </c:pt>
              </c:numCache>
            </c:numRef>
          </c:val>
          <c:smooth val="0"/>
        </c:ser>
        <c:ser>
          <c:idx val="2"/>
          <c:order val="2"/>
          <c:tx>
            <c:strRef>
              <c:f>Sheet1!$D$1</c:f>
              <c:strCache>
                <c:ptCount val="1"/>
                <c:pt idx="0">
                  <c:v>Downside</c:v>
                </c:pt>
              </c:strCache>
            </c:strRef>
          </c:tx>
          <c:spPr>
            <a:solidFill>
              <a:srgbClr val="C0392B"/>
            </a:solidFill>
            <a:ln w="25400" cap="flat">
              <a:solidFill>
                <a:srgbClr val="C0392B"/>
              </a:solidFill>
              <a:prstDash val="solid"/>
              <a:round/>
            </a:ln>
            <a:effectLst/>
          </c:spPr>
          <c:invertIfNegative val="0"/>
          <c:dLbls>
            <c:numFmt formatCode="#,##0" sourceLinked="0"/>
            <c:txPr>
              <a:bodyPr/>
              <a:lstStyle/>
              <a:p>
                <a:pPr>
                  <a:defRPr b="0" i="0" strike="noStrike" sz="75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0392B"/>
              </a:solidFill>
              <a:ln w="9525" cap="flat">
                <a:solidFill>
                  <a:srgbClr val="C0392B"/>
                </a:solidFill>
                <a:prstDash val="solid"/>
                <a:round/>
              </a:ln>
              <a:effectLst/>
            </c:spPr>
          </c:marker>
          <c:cat>
            <c:multiLvlStrRef>
              <c:f>Sheet1!$A$2:$A$6</c:f>
              <c:multiLvlStrCache>
                <c:ptCount val="5"/>
                <c:lvl>
                  <c:pt idx="0">
                    <c:v>FY22</c:v>
                  </c:pt>
                  <c:pt idx="1">
                    <c:v>FY23</c:v>
                  </c:pt>
                  <c:pt idx="2">
                    <c:v>FY24</c:v>
                  </c:pt>
                  <c:pt idx="3">
                    <c:v>FY25E</c:v>
                  </c:pt>
                  <c:pt idx="4">
                    <c:v>FY26E</c:v>
                  </c:pt>
                </c:lvl>
              </c:multiLvlStrCache>
            </c:multiLvlStrRef>
          </c:cat>
          <c:val>
            <c:numRef>
              <c:f>Sheet1!$D$2:$D$6</c:f>
              <c:numCache>
                <c:formatCode>General</c:formatCode>
                <c:ptCount val="5"/>
                <c:pt idx="0">
                  <c:v>-13</c:v>
                </c:pt>
                <c:pt idx="1">
                  <c:v>-30.6</c:v>
                </c:pt>
                <c:pt idx="2">
                  <c:v>-40.9</c:v>
                </c:pt>
                <c:pt idx="3">
                  <c:v>-36.3</c:v>
                </c:pt>
                <c:pt idx="4">
                  <c:v>-30.6</c:v>
                </c:pt>
              </c:numCache>
            </c:numRef>
          </c:val>
          <c:smooth val="0"/>
        </c:ser>
        <c:dLbls>
          <c:numFmt formatCode="#,##0" sourceLinked="0"/>
          <c:txPr>
            <a:bodyPr/>
            <a:lstStyle/>
            <a:p>
              <a:pPr>
                <a:defRPr b="0" i="0" strike="noStrike" sz="75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6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3565A"/>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750">
              <a:latin typeface="Arial"/>
              <a:cs typeface="Arial"/>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046A38"/>
              </a:solidFill>
              <a:effectLst/>
            </c:spPr>
          </c:dPt>
          <c:dPt>
            <c:idx val="1"/>
            <c:bubble3D val="0"/>
            <c:spPr>
              <a:solidFill>
                <a:srgbClr val="26890D"/>
              </a:solidFill>
              <a:effectLst/>
            </c:spPr>
          </c:dPt>
          <c:dPt>
            <c:idx val="2"/>
            <c:bubble3D val="0"/>
            <c:spPr>
              <a:solidFill>
                <a:srgbClr val="86BC25"/>
              </a:solidFill>
              <a:effectLst/>
            </c:spPr>
          </c:dPt>
          <c:dPt>
            <c:idx val="3"/>
            <c:bubble3D val="0"/>
            <c:spPr>
              <a:solidFill>
                <a:srgbClr val="0097A9"/>
              </a:solidFill>
              <a:effectLst/>
            </c:spPr>
          </c:dPt>
          <c:dPt>
            <c:idx val="4"/>
            <c:bubble3D val="0"/>
            <c:spPr>
              <a:solidFill>
                <a:srgbClr val="53565A"/>
              </a:solidFill>
              <a:effectLst/>
            </c:spPr>
          </c:dPt>
          <c:dPt>
            <c:idx val="5"/>
            <c:bubble3D val="0"/>
            <c:spPr>
              <a:solidFill>
                <a:srgbClr val="D0D0CE"/>
              </a:solidFill>
              <a:effectLst/>
            </c:spPr>
          </c:dPt>
          <c:dLbls>
            <c:dLbl>
              <c:idx val="0"/>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dLbl>
              <c:idx val="4"/>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dLbl>
              <c:idx val="5"/>
              <c:numFmt formatCode="General" sourceLinked="0"/>
              <c:spPr/>
              <c:txPr>
                <a:bodyPr/>
                <a:lstStyle/>
                <a:p>
                  <a:pPr>
                    <a:defRPr sz="7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Launch A&amp;P, sampling</c:v>
                </c:pt>
                <c:pt idx="1">
                  <c:v>Working-capital envelope</c:v>
                </c:pt>
                <c:pt idx="2">
                  <c:v>Development, testing, QA</c:v>
                </c:pt>
                <c:pt idx="3">
                  <c:v>Field selling, training</c:v>
                </c:pt>
                <c:pt idx="4">
                  <c:v>Small capex</c:v>
                </c:pt>
                <c:pt idx="5">
                  <c:v>Contingency (unspent)</c:v>
                </c:pt>
              </c:strCache>
            </c:strRef>
          </c:cat>
          <c:val>
            <c:numRef>
              <c:f>Sheet1!$B$2:$B$7</c:f>
              <c:numCache>
                <c:ptCount val="6"/>
                <c:pt idx="0">
                  <c:v>35</c:v>
                </c:pt>
                <c:pt idx="1">
                  <c:v>18</c:v>
                </c:pt>
                <c:pt idx="2">
                  <c:v>7</c:v>
                </c:pt>
                <c:pt idx="3">
                  <c:v>5</c:v>
                </c:pt>
                <c:pt idx="4">
                  <c:v>5</c:v>
                </c:pt>
                <c:pt idx="5">
                  <c:v>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347472"/>
            <a:ext cx="12191695" cy="0"/>
          </a:xfrm>
          <a:prstGeom prst="line">
            <a:avLst/>
          </a:prstGeom>
          <a:noFill/>
          <a:ln w="19050">
            <a:solidFill>
              <a:srgbClr val="86BC25"/>
            </a:solidFill>
            <a:prstDash val="solid"/>
          </a:ln>
        </p:spPr>
      </p:sp>
      <p:sp>
        <p:nvSpPr>
          <p:cNvPr id="3" name="Shape 1"/>
          <p:cNvSpPr/>
          <p:nvPr/>
        </p:nvSpPr>
        <p:spPr>
          <a:xfrm>
            <a:off x="0" y="6510528"/>
            <a:ext cx="12191695" cy="0"/>
          </a:xfrm>
          <a:prstGeom prst="line">
            <a:avLst/>
          </a:prstGeom>
          <a:noFill/>
          <a:ln w="12700">
            <a:solidFill>
              <a:srgbClr val="86BC25"/>
            </a:solidFill>
            <a:prstDash val="solid"/>
          </a:ln>
        </p:spPr>
      </p:sp>
      <p:sp>
        <p:nvSpPr>
          <p:cNvPr id="4" name="Text 2"/>
          <p:cNvSpPr/>
          <p:nvPr/>
        </p:nvSpPr>
        <p:spPr>
          <a:xfrm>
            <a:off x="8503920" y="36576"/>
            <a:ext cx="3611880" cy="274320"/>
          </a:xfrm>
          <a:prstGeom prst="rect">
            <a:avLst/>
          </a:prstGeom>
          <a:noFill/>
          <a:ln/>
        </p:spPr>
        <p:txBody>
          <a:bodyPr wrap="square" lIns="0" tIns="0" rIns="0" bIns="0" rtlCol="0" anchor="ctr"/>
          <a:lstStyle/>
          <a:p>
            <a:pPr algn="r" indent="0" marL="0">
              <a:buNone/>
            </a:pPr>
            <a:r>
              <a:rPr lang="en-US" sz="900" dirty="0">
                <a:solidFill>
                  <a:srgbClr val="53565A"/>
                </a:solidFill>
                <a:latin typeface="Arial" pitchFamily="34" charset="0"/>
                <a:ea typeface="Arial" pitchFamily="34" charset="-122"/>
                <a:cs typeface="Arial" pitchFamily="34" charset="-120"/>
              </a:rPr>
              <a:t>IIM Calcutta x Monitor Deloitte | Campus Case Challenge</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chart" Target="/ppt/charts/chart4.xml"/><Relationship Id="rId6" Type="http://schemas.openxmlformats.org/officeDocument/2006/relationships/chart" Target="/ppt/charts/chart5.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7.xml"/><Relationship Id="rId1" Type="http://schemas.openxmlformats.org/officeDocument/2006/relationships/image" Target="../media/image-7-1.jpeg"/><Relationship Id="rId2" Type="http://schemas.openxmlformats.org/officeDocument/2006/relationships/image" Target="../media/image-7-2.jpe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chart" Target="/ppt/charts/chart8.xml"/><Relationship Id="rId7" Type="http://schemas.openxmlformats.org/officeDocument/2006/relationships/chart" Target="/ppt/charts/chart9.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0.xml"/><Relationship Id="rId10" Type="http://schemas.openxmlformats.org/officeDocument/2006/relationships/chart" Target="/ppt/charts/chart1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laude.ai/artifact/TEa5SgsMFq1L6yyBw3a9u6" TargetMode="External"/><Relationship Id="rId2" Type="http://schemas.openxmlformats.org/officeDocument/2006/relationships/hyperlink" Target="https://claude.ai/artifact/8m7DvmjMwMNyDfwxoNqZCB" TargetMode="External"/><Relationship Id="rId3" Type="http://schemas.openxmlformats.org/officeDocument/2006/relationships/hyperlink" Target="https://amitg2027-del.github.io/rasmitra-growth-simulator/model.html" TargetMode="External"/><Relationship Id="rId4" Type="http://schemas.openxmlformats.org/officeDocument/2006/relationships/hyperlink" Target="https://amitg2027-del.github.io/rasmitra-growth-simulator/" TargetMode="External"/><Relationship Id="rId5" Type="http://schemas.openxmlformats.org/officeDocument/2006/relationships/hyperlink" Target="https://docs.google.com/spreadsheets/d/1nZSGHXq3_sRKb0EueC1a_8jHta1uloNFJPVZoNb5j6Y/edit?usp=sharing" TargetMode="External"/><Relationship Id="rId6" Type="http://schemas.openxmlformats.org/officeDocument/2006/relationships/hyperlink" Target="https://github.com/amitg2027-del/rasmitra-growth-simulator" TargetMode="External"/><Relationship Id="rId7" Type="http://schemas.openxmlformats.org/officeDocument/2006/relationships/hyperlink" Target="https://www.deloitte.com/in/en/about/press-room/indias-consumer-sector-heightened-growth-through-targeted-policy-intervention.html" TargetMode="External"/><Relationship Id="rId8" Type="http://schemas.openxmlformats.org/officeDocument/2006/relationships/hyperlink" Target="https://www.retail4growth.com/viewpoints/deloitte-ficci-report-show-shifting-consumer-behaviour-in-fmcg-space-1222" TargetMode="External"/><Relationship Id="rId9" Type="http://schemas.openxmlformats.org/officeDocument/2006/relationships/hyperlink" Target="https://www.bain.com/insights/how-india-shops-online-2025/" TargetMode="External"/><Relationship Id="rId10" Type="http://schemas.openxmlformats.org/officeDocument/2006/relationships/hyperlink" Target="https://www.business-standard.com/industry/news/retail-distributors-allege-predatory-pricing-by-blinkit-swiggy-zepto-124102200522_1.html" TargetMode="External"/><Relationship Id="rId11" Type="http://schemas.openxmlformats.org/officeDocument/2006/relationships/hyperlink" Target="https://avendus.com/india/newsroom/india-s-branded-spices-market-is-estimated-to-grow-2x-to-inr-50-000-cr-by-2025-avendus-capital-study" TargetMode="External"/><Relationship Id="rId12" Type="http://schemas.openxmlformats.org/officeDocument/2006/relationships/hyperlink" Target="https://www.theweek.in/news/india/2024/05/21/fssai-clears-mdh-everest-spices-samples-finds-no-trace-of-ethylene-oxide.amp.html" TargetMode="External"/><Relationship Id="rId13" Type="http://schemas.openxmlformats.org/officeDocument/2006/relationships/hyperlink" Target="https://fssai.gov.in/upload/uploadfiles/files/Compendium_Labelling_Display_04_01_2022.pdf" TargetMode="External"/><Relationship Id="rId14" Type="http://schemas.openxmlformats.org/officeDocument/2006/relationships/hyperlink" Target="https://www.bain.com/insights/hard-core-growth-bain-research-shows-how-smart-companies-profit-from-their-core-business-beyond/" TargetMode="External"/><Relationship Id="rId15" Type="http://schemas.openxmlformats.org/officeDocument/2006/relationships/hyperlink" Target="https://www.business-standard.com/article/specials/rasna-s-health-trump-card-117022600776_1.html" TargetMode="External"/><Relationship Id="rId16" Type="http://schemas.openxmlformats.org/officeDocument/2006/relationships/hyperlink" Target="https://indianretailer.com/news/rasna-forays-health-and-wellness" TargetMode="External"/><Relationship Id="rId17" Type="http://schemas.openxmlformats.org/officeDocument/2006/relationships/hyperlink" Target="https://en.wikipedia.org/wiki/Paper_Boat" TargetMode="External"/><Relationship Id="rId18" Type="http://schemas.openxmlformats.org/officeDocument/2006/relationships/hyperlink" Target="https://www.businesstoday.in/amp/latest/corporate/story/hamdard-forays-into-the-ready-to-serve-beverage-market-with-roohafza-fusion-145614-2016-09-08" TargetMode="External"/><Relationship Id="rId19" Type="http://schemas.openxmlformats.org/officeDocument/2006/relationships/hyperlink" Target="https://www2.deloitte.com/us/en/pages/strategy/articles/managing-your-innovation-portfolio.html" TargetMode="External"/><Relationship Id="rId20" Type="http://schemas.openxmlformats.org/officeDocument/2006/relationships/slideLayout" Target="../slideLayouts/slideLayout2.xml"/><Relationship Id="rId21"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411480"/>
            <a:ext cx="1005840" cy="1051560"/>
          </a:xfrm>
          <a:prstGeom prst="rect">
            <a:avLst/>
          </a:prstGeom>
          <a:solidFill>
            <a:srgbClr val="046A38"/>
          </a:solidFill>
          <a:ln w="12700">
            <a:solidFill>
              <a:srgbClr val="046A38"/>
            </a:solidFill>
            <a:prstDash val="solid"/>
          </a:ln>
        </p:spPr>
      </p:sp>
      <p:pic>
        <p:nvPicPr>
          <p:cNvPr id="3" name="Image 0" descr="preencoded.png">    </p:cNvPr>
          <p:cNvPicPr>
            <a:picLocks noChangeAspect="1"/>
          </p:cNvPicPr>
          <p:nvPr/>
        </p:nvPicPr>
        <p:blipFill>
          <a:blip r:embed="rId1"/>
          <a:stretch>
            <a:fillRect/>
          </a:stretch>
        </p:blipFill>
        <p:spPr>
          <a:xfrm>
            <a:off x="594360" y="704088"/>
            <a:ext cx="457200" cy="457200"/>
          </a:xfrm>
          <a:prstGeom prst="rect">
            <a:avLst/>
          </a:prstGeom>
        </p:spPr>
      </p:pic>
      <p:sp>
        <p:nvSpPr>
          <p:cNvPr id="4" name="Shape 1"/>
          <p:cNvSpPr/>
          <p:nvPr/>
        </p:nvSpPr>
        <p:spPr>
          <a:xfrm>
            <a:off x="1463040" y="411480"/>
            <a:ext cx="1005840" cy="1051560"/>
          </a:xfrm>
          <a:prstGeom prst="rect">
            <a:avLst/>
          </a:prstGeom>
          <a:solidFill>
            <a:srgbClr val="26890D"/>
          </a:solidFill>
          <a:ln w="12700">
            <a:solidFill>
              <a:srgbClr val="26890D"/>
            </a:solidFill>
            <a:prstDash val="solid"/>
          </a:ln>
        </p:spPr>
      </p:sp>
      <p:pic>
        <p:nvPicPr>
          <p:cNvPr id="5" name="Image 1" descr="preencoded.png">    </p:cNvPr>
          <p:cNvPicPr>
            <a:picLocks noChangeAspect="1"/>
          </p:cNvPicPr>
          <p:nvPr/>
        </p:nvPicPr>
        <p:blipFill>
          <a:blip r:embed="rId2"/>
          <a:stretch>
            <a:fillRect/>
          </a:stretch>
        </p:blipFill>
        <p:spPr>
          <a:xfrm>
            <a:off x="1737360" y="704088"/>
            <a:ext cx="457200" cy="457200"/>
          </a:xfrm>
          <a:prstGeom prst="rect">
            <a:avLst/>
          </a:prstGeom>
        </p:spPr>
      </p:pic>
      <p:sp>
        <p:nvSpPr>
          <p:cNvPr id="6" name="Shape 2"/>
          <p:cNvSpPr/>
          <p:nvPr/>
        </p:nvSpPr>
        <p:spPr>
          <a:xfrm>
            <a:off x="2606040" y="411480"/>
            <a:ext cx="1005840" cy="1051560"/>
          </a:xfrm>
          <a:prstGeom prst="rect">
            <a:avLst/>
          </a:prstGeom>
          <a:solidFill>
            <a:srgbClr val="86BC25"/>
          </a:solidFill>
          <a:ln w="12700">
            <a:solidFill>
              <a:srgbClr val="86BC25"/>
            </a:solidFill>
            <a:prstDash val="solid"/>
          </a:ln>
        </p:spPr>
      </p:sp>
      <p:pic>
        <p:nvPicPr>
          <p:cNvPr id="7" name="Image 2" descr="preencoded.png">    </p:cNvPr>
          <p:cNvPicPr>
            <a:picLocks noChangeAspect="1"/>
          </p:cNvPicPr>
          <p:nvPr/>
        </p:nvPicPr>
        <p:blipFill>
          <a:blip r:embed="rId3"/>
          <a:stretch>
            <a:fillRect/>
          </a:stretch>
        </p:blipFill>
        <p:spPr>
          <a:xfrm>
            <a:off x="2880360" y="704088"/>
            <a:ext cx="457200" cy="457200"/>
          </a:xfrm>
          <a:prstGeom prst="rect">
            <a:avLst/>
          </a:prstGeom>
        </p:spPr>
      </p:pic>
      <p:sp>
        <p:nvSpPr>
          <p:cNvPr id="8" name="Shape 3"/>
          <p:cNvSpPr/>
          <p:nvPr/>
        </p:nvSpPr>
        <p:spPr>
          <a:xfrm>
            <a:off x="3749040" y="411480"/>
            <a:ext cx="1005840" cy="1051560"/>
          </a:xfrm>
          <a:prstGeom prst="rect">
            <a:avLst/>
          </a:prstGeom>
          <a:solidFill>
            <a:srgbClr val="000000"/>
          </a:solidFill>
          <a:ln w="12700">
            <a:solidFill>
              <a:srgbClr val="000000"/>
            </a:solidFill>
            <a:prstDash val="solid"/>
          </a:ln>
        </p:spPr>
      </p:sp>
      <p:pic>
        <p:nvPicPr>
          <p:cNvPr id="9" name="Image 3" descr="preencoded.png">    </p:cNvPr>
          <p:cNvPicPr>
            <a:picLocks noChangeAspect="1"/>
          </p:cNvPicPr>
          <p:nvPr/>
        </p:nvPicPr>
        <p:blipFill>
          <a:blip r:embed="rId4"/>
          <a:stretch>
            <a:fillRect/>
          </a:stretch>
        </p:blipFill>
        <p:spPr>
          <a:xfrm>
            <a:off x="4023360" y="704088"/>
            <a:ext cx="457200" cy="457200"/>
          </a:xfrm>
          <a:prstGeom prst="rect">
            <a:avLst/>
          </a:prstGeom>
        </p:spPr>
      </p:pic>
      <p:sp>
        <p:nvSpPr>
          <p:cNvPr id="10" name="Shape 4"/>
          <p:cNvSpPr/>
          <p:nvPr/>
        </p:nvSpPr>
        <p:spPr>
          <a:xfrm>
            <a:off x="320040" y="1600200"/>
            <a:ext cx="1005840" cy="1051560"/>
          </a:xfrm>
          <a:prstGeom prst="rect">
            <a:avLst/>
          </a:prstGeom>
          <a:solidFill>
            <a:srgbClr val="26890D"/>
          </a:solidFill>
          <a:ln w="12700">
            <a:solidFill>
              <a:srgbClr val="26890D"/>
            </a:solidFill>
            <a:prstDash val="solid"/>
          </a:ln>
        </p:spPr>
      </p:sp>
      <p:pic>
        <p:nvPicPr>
          <p:cNvPr id="11" name="Image 4" descr="preencoded.png">    </p:cNvPr>
          <p:cNvPicPr>
            <a:picLocks noChangeAspect="1"/>
          </p:cNvPicPr>
          <p:nvPr/>
        </p:nvPicPr>
        <p:blipFill>
          <a:blip r:embed="rId5"/>
          <a:stretch>
            <a:fillRect/>
          </a:stretch>
        </p:blipFill>
        <p:spPr>
          <a:xfrm>
            <a:off x="594360" y="1892808"/>
            <a:ext cx="457200" cy="457200"/>
          </a:xfrm>
          <a:prstGeom prst="rect">
            <a:avLst/>
          </a:prstGeom>
        </p:spPr>
      </p:pic>
      <p:sp>
        <p:nvSpPr>
          <p:cNvPr id="12" name="Shape 5"/>
          <p:cNvSpPr/>
          <p:nvPr/>
        </p:nvSpPr>
        <p:spPr>
          <a:xfrm>
            <a:off x="1463040" y="1600200"/>
            <a:ext cx="1005840" cy="1051560"/>
          </a:xfrm>
          <a:prstGeom prst="rect">
            <a:avLst/>
          </a:prstGeom>
          <a:solidFill>
            <a:srgbClr val="86BC25"/>
          </a:solidFill>
          <a:ln w="12700">
            <a:solidFill>
              <a:srgbClr val="86BC25"/>
            </a:solidFill>
            <a:prstDash val="solid"/>
          </a:ln>
        </p:spPr>
      </p:sp>
      <p:pic>
        <p:nvPicPr>
          <p:cNvPr id="13" name="Image 5" descr="preencoded.png">    </p:cNvPr>
          <p:cNvPicPr>
            <a:picLocks noChangeAspect="1"/>
          </p:cNvPicPr>
          <p:nvPr/>
        </p:nvPicPr>
        <p:blipFill>
          <a:blip r:embed="rId6"/>
          <a:stretch>
            <a:fillRect/>
          </a:stretch>
        </p:blipFill>
        <p:spPr>
          <a:xfrm>
            <a:off x="1737360" y="1892808"/>
            <a:ext cx="457200" cy="457200"/>
          </a:xfrm>
          <a:prstGeom prst="rect">
            <a:avLst/>
          </a:prstGeom>
        </p:spPr>
      </p:pic>
      <p:sp>
        <p:nvSpPr>
          <p:cNvPr id="14" name="Shape 6"/>
          <p:cNvSpPr/>
          <p:nvPr/>
        </p:nvSpPr>
        <p:spPr>
          <a:xfrm>
            <a:off x="2606040" y="1600200"/>
            <a:ext cx="1005840" cy="1051560"/>
          </a:xfrm>
          <a:prstGeom prst="rect">
            <a:avLst/>
          </a:prstGeom>
          <a:solidFill>
            <a:srgbClr val="000000"/>
          </a:solidFill>
          <a:ln w="12700">
            <a:solidFill>
              <a:srgbClr val="000000"/>
            </a:solidFill>
            <a:prstDash val="solid"/>
          </a:ln>
        </p:spPr>
      </p:sp>
      <p:pic>
        <p:nvPicPr>
          <p:cNvPr id="15" name="Image 6" descr="preencoded.png">    </p:cNvPr>
          <p:cNvPicPr>
            <a:picLocks noChangeAspect="1"/>
          </p:cNvPicPr>
          <p:nvPr/>
        </p:nvPicPr>
        <p:blipFill>
          <a:blip r:embed="rId7"/>
          <a:stretch>
            <a:fillRect/>
          </a:stretch>
        </p:blipFill>
        <p:spPr>
          <a:xfrm>
            <a:off x="2880360" y="1892808"/>
            <a:ext cx="457200" cy="457200"/>
          </a:xfrm>
          <a:prstGeom prst="rect">
            <a:avLst/>
          </a:prstGeom>
        </p:spPr>
      </p:pic>
      <p:sp>
        <p:nvSpPr>
          <p:cNvPr id="16" name="Shape 7"/>
          <p:cNvSpPr/>
          <p:nvPr/>
        </p:nvSpPr>
        <p:spPr>
          <a:xfrm>
            <a:off x="3749040" y="1600200"/>
            <a:ext cx="1005840" cy="1051560"/>
          </a:xfrm>
          <a:prstGeom prst="rect">
            <a:avLst/>
          </a:prstGeom>
          <a:solidFill>
            <a:srgbClr val="046A38"/>
          </a:solidFill>
          <a:ln w="12700">
            <a:solidFill>
              <a:srgbClr val="046A38"/>
            </a:solidFill>
            <a:prstDash val="solid"/>
          </a:ln>
        </p:spPr>
      </p:sp>
      <p:pic>
        <p:nvPicPr>
          <p:cNvPr id="17" name="Image 7" descr="preencoded.png">    </p:cNvPr>
          <p:cNvPicPr>
            <a:picLocks noChangeAspect="1"/>
          </p:cNvPicPr>
          <p:nvPr/>
        </p:nvPicPr>
        <p:blipFill>
          <a:blip r:embed="rId8"/>
          <a:stretch>
            <a:fillRect/>
          </a:stretch>
        </p:blipFill>
        <p:spPr>
          <a:xfrm>
            <a:off x="4023360" y="1892808"/>
            <a:ext cx="457200" cy="457200"/>
          </a:xfrm>
          <a:prstGeom prst="rect">
            <a:avLst/>
          </a:prstGeom>
        </p:spPr>
      </p:pic>
      <p:sp>
        <p:nvSpPr>
          <p:cNvPr id="18" name="Shape 8"/>
          <p:cNvSpPr/>
          <p:nvPr/>
        </p:nvSpPr>
        <p:spPr>
          <a:xfrm>
            <a:off x="320040" y="2788920"/>
            <a:ext cx="1005840" cy="1051560"/>
          </a:xfrm>
          <a:prstGeom prst="rect">
            <a:avLst/>
          </a:prstGeom>
          <a:solidFill>
            <a:srgbClr val="86BC25"/>
          </a:solidFill>
          <a:ln w="12700">
            <a:solidFill>
              <a:srgbClr val="86BC25"/>
            </a:solidFill>
            <a:prstDash val="solid"/>
          </a:ln>
        </p:spPr>
      </p:sp>
      <p:pic>
        <p:nvPicPr>
          <p:cNvPr id="19" name="Image 8" descr="preencoded.png">    </p:cNvPr>
          <p:cNvPicPr>
            <a:picLocks noChangeAspect="1"/>
          </p:cNvPicPr>
          <p:nvPr/>
        </p:nvPicPr>
        <p:blipFill>
          <a:blip r:embed="rId9"/>
          <a:stretch>
            <a:fillRect/>
          </a:stretch>
        </p:blipFill>
        <p:spPr>
          <a:xfrm>
            <a:off x="594360" y="3081528"/>
            <a:ext cx="457200" cy="457200"/>
          </a:xfrm>
          <a:prstGeom prst="rect">
            <a:avLst/>
          </a:prstGeom>
        </p:spPr>
      </p:pic>
      <p:sp>
        <p:nvSpPr>
          <p:cNvPr id="20" name="Shape 9"/>
          <p:cNvSpPr/>
          <p:nvPr/>
        </p:nvSpPr>
        <p:spPr>
          <a:xfrm>
            <a:off x="1463040" y="2788920"/>
            <a:ext cx="1005840" cy="1051560"/>
          </a:xfrm>
          <a:prstGeom prst="rect">
            <a:avLst/>
          </a:prstGeom>
          <a:solidFill>
            <a:srgbClr val="000000"/>
          </a:solidFill>
          <a:ln w="12700">
            <a:solidFill>
              <a:srgbClr val="000000"/>
            </a:solidFill>
            <a:prstDash val="solid"/>
          </a:ln>
        </p:spPr>
      </p:sp>
      <p:pic>
        <p:nvPicPr>
          <p:cNvPr id="21" name="Image 9" descr="preencoded.png">    </p:cNvPr>
          <p:cNvPicPr>
            <a:picLocks noChangeAspect="1"/>
          </p:cNvPicPr>
          <p:nvPr/>
        </p:nvPicPr>
        <p:blipFill>
          <a:blip r:embed="rId10"/>
          <a:stretch>
            <a:fillRect/>
          </a:stretch>
        </p:blipFill>
        <p:spPr>
          <a:xfrm>
            <a:off x="1737360" y="3081528"/>
            <a:ext cx="457200" cy="457200"/>
          </a:xfrm>
          <a:prstGeom prst="rect">
            <a:avLst/>
          </a:prstGeom>
        </p:spPr>
      </p:pic>
      <p:sp>
        <p:nvSpPr>
          <p:cNvPr id="22" name="Shape 10"/>
          <p:cNvSpPr/>
          <p:nvPr/>
        </p:nvSpPr>
        <p:spPr>
          <a:xfrm>
            <a:off x="2606040" y="2788920"/>
            <a:ext cx="1005840" cy="1051560"/>
          </a:xfrm>
          <a:prstGeom prst="rect">
            <a:avLst/>
          </a:prstGeom>
          <a:solidFill>
            <a:srgbClr val="046A38"/>
          </a:solidFill>
          <a:ln w="12700">
            <a:solidFill>
              <a:srgbClr val="046A38"/>
            </a:solidFill>
            <a:prstDash val="solid"/>
          </a:ln>
        </p:spPr>
      </p:sp>
      <p:pic>
        <p:nvPicPr>
          <p:cNvPr id="23" name="Image 10" descr="preencoded.png">    </p:cNvPr>
          <p:cNvPicPr>
            <a:picLocks noChangeAspect="1"/>
          </p:cNvPicPr>
          <p:nvPr/>
        </p:nvPicPr>
        <p:blipFill>
          <a:blip r:embed="rId11"/>
          <a:stretch>
            <a:fillRect/>
          </a:stretch>
        </p:blipFill>
        <p:spPr>
          <a:xfrm>
            <a:off x="2880360" y="3081528"/>
            <a:ext cx="457200" cy="457200"/>
          </a:xfrm>
          <a:prstGeom prst="rect">
            <a:avLst/>
          </a:prstGeom>
        </p:spPr>
      </p:pic>
      <p:sp>
        <p:nvSpPr>
          <p:cNvPr id="24" name="Shape 11"/>
          <p:cNvSpPr/>
          <p:nvPr/>
        </p:nvSpPr>
        <p:spPr>
          <a:xfrm>
            <a:off x="3749040" y="2788920"/>
            <a:ext cx="1005840" cy="1051560"/>
          </a:xfrm>
          <a:prstGeom prst="rect">
            <a:avLst/>
          </a:prstGeom>
          <a:solidFill>
            <a:srgbClr val="26890D"/>
          </a:solidFill>
          <a:ln w="12700">
            <a:solidFill>
              <a:srgbClr val="26890D"/>
            </a:solidFill>
            <a:prstDash val="solid"/>
          </a:ln>
        </p:spPr>
      </p:sp>
      <p:pic>
        <p:nvPicPr>
          <p:cNvPr id="25" name="Image 11" descr="preencoded.png">    </p:cNvPr>
          <p:cNvPicPr>
            <a:picLocks noChangeAspect="1"/>
          </p:cNvPicPr>
          <p:nvPr/>
        </p:nvPicPr>
        <p:blipFill>
          <a:blip r:embed="rId12"/>
          <a:stretch>
            <a:fillRect/>
          </a:stretch>
        </p:blipFill>
        <p:spPr>
          <a:xfrm>
            <a:off x="4023360" y="3081528"/>
            <a:ext cx="457200" cy="457200"/>
          </a:xfrm>
          <a:prstGeom prst="rect">
            <a:avLst/>
          </a:prstGeom>
        </p:spPr>
      </p:pic>
      <p:sp>
        <p:nvSpPr>
          <p:cNvPr id="26" name="Shape 12"/>
          <p:cNvSpPr/>
          <p:nvPr/>
        </p:nvSpPr>
        <p:spPr>
          <a:xfrm>
            <a:off x="320040" y="3977640"/>
            <a:ext cx="1005840" cy="1051560"/>
          </a:xfrm>
          <a:prstGeom prst="rect">
            <a:avLst/>
          </a:prstGeom>
          <a:solidFill>
            <a:srgbClr val="000000"/>
          </a:solidFill>
          <a:ln w="12700">
            <a:solidFill>
              <a:srgbClr val="000000"/>
            </a:solidFill>
            <a:prstDash val="solid"/>
          </a:ln>
        </p:spPr>
      </p:sp>
      <p:pic>
        <p:nvPicPr>
          <p:cNvPr id="27" name="Image 12" descr="preencoded.png">    </p:cNvPr>
          <p:cNvPicPr>
            <a:picLocks noChangeAspect="1"/>
          </p:cNvPicPr>
          <p:nvPr/>
        </p:nvPicPr>
        <p:blipFill>
          <a:blip r:embed="rId13"/>
          <a:stretch>
            <a:fillRect/>
          </a:stretch>
        </p:blipFill>
        <p:spPr>
          <a:xfrm>
            <a:off x="594360" y="4270248"/>
            <a:ext cx="457200" cy="457200"/>
          </a:xfrm>
          <a:prstGeom prst="rect">
            <a:avLst/>
          </a:prstGeom>
        </p:spPr>
      </p:pic>
      <p:sp>
        <p:nvSpPr>
          <p:cNvPr id="28" name="Shape 13"/>
          <p:cNvSpPr/>
          <p:nvPr/>
        </p:nvSpPr>
        <p:spPr>
          <a:xfrm>
            <a:off x="1463040" y="3977640"/>
            <a:ext cx="1005840" cy="1051560"/>
          </a:xfrm>
          <a:prstGeom prst="rect">
            <a:avLst/>
          </a:prstGeom>
          <a:solidFill>
            <a:srgbClr val="046A38"/>
          </a:solidFill>
          <a:ln w="12700">
            <a:solidFill>
              <a:srgbClr val="046A38"/>
            </a:solidFill>
            <a:prstDash val="solid"/>
          </a:ln>
        </p:spPr>
      </p:sp>
      <p:pic>
        <p:nvPicPr>
          <p:cNvPr id="29" name="Image 13" descr="preencoded.png">    </p:cNvPr>
          <p:cNvPicPr>
            <a:picLocks noChangeAspect="1"/>
          </p:cNvPicPr>
          <p:nvPr/>
        </p:nvPicPr>
        <p:blipFill>
          <a:blip r:embed="rId14"/>
          <a:stretch>
            <a:fillRect/>
          </a:stretch>
        </p:blipFill>
        <p:spPr>
          <a:xfrm>
            <a:off x="1737360" y="4270248"/>
            <a:ext cx="457200" cy="457200"/>
          </a:xfrm>
          <a:prstGeom prst="rect">
            <a:avLst/>
          </a:prstGeom>
        </p:spPr>
      </p:pic>
      <p:sp>
        <p:nvSpPr>
          <p:cNvPr id="30" name="Shape 14"/>
          <p:cNvSpPr/>
          <p:nvPr/>
        </p:nvSpPr>
        <p:spPr>
          <a:xfrm>
            <a:off x="2606040" y="3977640"/>
            <a:ext cx="1005840" cy="1051560"/>
          </a:xfrm>
          <a:prstGeom prst="rect">
            <a:avLst/>
          </a:prstGeom>
          <a:solidFill>
            <a:srgbClr val="26890D"/>
          </a:solidFill>
          <a:ln w="12700">
            <a:solidFill>
              <a:srgbClr val="26890D"/>
            </a:solidFill>
            <a:prstDash val="solid"/>
          </a:ln>
        </p:spPr>
      </p:sp>
      <p:pic>
        <p:nvPicPr>
          <p:cNvPr id="31" name="Image 14" descr="preencoded.png">    </p:cNvPr>
          <p:cNvPicPr>
            <a:picLocks noChangeAspect="1"/>
          </p:cNvPicPr>
          <p:nvPr/>
        </p:nvPicPr>
        <p:blipFill>
          <a:blip r:embed="rId15"/>
          <a:stretch>
            <a:fillRect/>
          </a:stretch>
        </p:blipFill>
        <p:spPr>
          <a:xfrm>
            <a:off x="2880360" y="4270248"/>
            <a:ext cx="457200" cy="457200"/>
          </a:xfrm>
          <a:prstGeom prst="rect">
            <a:avLst/>
          </a:prstGeom>
        </p:spPr>
      </p:pic>
      <p:sp>
        <p:nvSpPr>
          <p:cNvPr id="32" name="Shape 15"/>
          <p:cNvSpPr/>
          <p:nvPr/>
        </p:nvSpPr>
        <p:spPr>
          <a:xfrm>
            <a:off x="3749040" y="3977640"/>
            <a:ext cx="1005840" cy="1051560"/>
          </a:xfrm>
          <a:prstGeom prst="rect">
            <a:avLst/>
          </a:prstGeom>
          <a:solidFill>
            <a:srgbClr val="86BC25"/>
          </a:solidFill>
          <a:ln w="12700">
            <a:solidFill>
              <a:srgbClr val="86BC25"/>
            </a:solidFill>
            <a:prstDash val="solid"/>
          </a:ln>
        </p:spPr>
      </p:sp>
      <p:pic>
        <p:nvPicPr>
          <p:cNvPr id="33" name="Image 15" descr="preencoded.png">    </p:cNvPr>
          <p:cNvPicPr>
            <a:picLocks noChangeAspect="1"/>
          </p:cNvPicPr>
          <p:nvPr/>
        </p:nvPicPr>
        <p:blipFill>
          <a:blip r:embed="rId16"/>
          <a:stretch>
            <a:fillRect/>
          </a:stretch>
        </p:blipFill>
        <p:spPr>
          <a:xfrm>
            <a:off x="4023360" y="4270248"/>
            <a:ext cx="457200" cy="457200"/>
          </a:xfrm>
          <a:prstGeom prst="rect">
            <a:avLst/>
          </a:prstGeom>
        </p:spPr>
      </p:pic>
      <p:sp>
        <p:nvSpPr>
          <p:cNvPr id="34" name="Shape 16"/>
          <p:cNvSpPr/>
          <p:nvPr/>
        </p:nvSpPr>
        <p:spPr>
          <a:xfrm>
            <a:off x="320040" y="5166360"/>
            <a:ext cx="1005840" cy="1051560"/>
          </a:xfrm>
          <a:prstGeom prst="rect">
            <a:avLst/>
          </a:prstGeom>
          <a:solidFill>
            <a:srgbClr val="046A38"/>
          </a:solidFill>
          <a:ln w="12700">
            <a:solidFill>
              <a:srgbClr val="046A38"/>
            </a:solidFill>
            <a:prstDash val="solid"/>
          </a:ln>
        </p:spPr>
      </p:sp>
      <p:pic>
        <p:nvPicPr>
          <p:cNvPr id="35" name="Image 16" descr="preencoded.png">    </p:cNvPr>
          <p:cNvPicPr>
            <a:picLocks noChangeAspect="1"/>
          </p:cNvPicPr>
          <p:nvPr/>
        </p:nvPicPr>
        <p:blipFill>
          <a:blip r:embed="rId17"/>
          <a:stretch>
            <a:fillRect/>
          </a:stretch>
        </p:blipFill>
        <p:spPr>
          <a:xfrm>
            <a:off x="594360" y="5458968"/>
            <a:ext cx="457200" cy="457200"/>
          </a:xfrm>
          <a:prstGeom prst="rect">
            <a:avLst/>
          </a:prstGeom>
        </p:spPr>
      </p:pic>
      <p:sp>
        <p:nvSpPr>
          <p:cNvPr id="36" name="Shape 17"/>
          <p:cNvSpPr/>
          <p:nvPr/>
        </p:nvSpPr>
        <p:spPr>
          <a:xfrm>
            <a:off x="1463040" y="5166360"/>
            <a:ext cx="1005840" cy="1051560"/>
          </a:xfrm>
          <a:prstGeom prst="rect">
            <a:avLst/>
          </a:prstGeom>
          <a:solidFill>
            <a:srgbClr val="26890D"/>
          </a:solidFill>
          <a:ln w="12700">
            <a:solidFill>
              <a:srgbClr val="26890D"/>
            </a:solidFill>
            <a:prstDash val="solid"/>
          </a:ln>
        </p:spPr>
      </p:sp>
      <p:pic>
        <p:nvPicPr>
          <p:cNvPr id="37" name="Image 17" descr="preencoded.png">    </p:cNvPr>
          <p:cNvPicPr>
            <a:picLocks noChangeAspect="1"/>
          </p:cNvPicPr>
          <p:nvPr/>
        </p:nvPicPr>
        <p:blipFill>
          <a:blip r:embed="rId18"/>
          <a:stretch>
            <a:fillRect/>
          </a:stretch>
        </p:blipFill>
        <p:spPr>
          <a:xfrm>
            <a:off x="1737360" y="5458968"/>
            <a:ext cx="457200" cy="457200"/>
          </a:xfrm>
          <a:prstGeom prst="rect">
            <a:avLst/>
          </a:prstGeom>
        </p:spPr>
      </p:pic>
      <p:sp>
        <p:nvSpPr>
          <p:cNvPr id="38" name="Shape 18"/>
          <p:cNvSpPr/>
          <p:nvPr/>
        </p:nvSpPr>
        <p:spPr>
          <a:xfrm>
            <a:off x="2606040" y="5166360"/>
            <a:ext cx="1005840" cy="1051560"/>
          </a:xfrm>
          <a:prstGeom prst="rect">
            <a:avLst/>
          </a:prstGeom>
          <a:solidFill>
            <a:srgbClr val="86BC25"/>
          </a:solidFill>
          <a:ln w="12700">
            <a:solidFill>
              <a:srgbClr val="86BC25"/>
            </a:solidFill>
            <a:prstDash val="solid"/>
          </a:ln>
        </p:spPr>
      </p:sp>
      <p:pic>
        <p:nvPicPr>
          <p:cNvPr id="39" name="Image 18" descr="preencoded.png">    </p:cNvPr>
          <p:cNvPicPr>
            <a:picLocks noChangeAspect="1"/>
          </p:cNvPicPr>
          <p:nvPr/>
        </p:nvPicPr>
        <p:blipFill>
          <a:blip r:embed="rId19"/>
          <a:stretch>
            <a:fillRect/>
          </a:stretch>
        </p:blipFill>
        <p:spPr>
          <a:xfrm>
            <a:off x="2880360" y="5458968"/>
            <a:ext cx="457200" cy="457200"/>
          </a:xfrm>
          <a:prstGeom prst="rect">
            <a:avLst/>
          </a:prstGeom>
        </p:spPr>
      </p:pic>
      <p:sp>
        <p:nvSpPr>
          <p:cNvPr id="40" name="Shape 19"/>
          <p:cNvSpPr/>
          <p:nvPr/>
        </p:nvSpPr>
        <p:spPr>
          <a:xfrm>
            <a:off x="3749040" y="5166360"/>
            <a:ext cx="1005840" cy="1051560"/>
          </a:xfrm>
          <a:prstGeom prst="rect">
            <a:avLst/>
          </a:prstGeom>
          <a:solidFill>
            <a:srgbClr val="000000"/>
          </a:solidFill>
          <a:ln w="12700">
            <a:solidFill>
              <a:srgbClr val="000000"/>
            </a:solidFill>
            <a:prstDash val="solid"/>
          </a:ln>
        </p:spPr>
      </p:sp>
      <p:pic>
        <p:nvPicPr>
          <p:cNvPr id="41" name="Image 19" descr="preencoded.png">    </p:cNvPr>
          <p:cNvPicPr>
            <a:picLocks noChangeAspect="1"/>
          </p:cNvPicPr>
          <p:nvPr/>
        </p:nvPicPr>
        <p:blipFill>
          <a:blip r:embed="rId20"/>
          <a:stretch>
            <a:fillRect/>
          </a:stretch>
        </p:blipFill>
        <p:spPr>
          <a:xfrm>
            <a:off x="4023360" y="5458968"/>
            <a:ext cx="457200" cy="457200"/>
          </a:xfrm>
          <a:prstGeom prst="rect">
            <a:avLst/>
          </a:prstGeom>
        </p:spPr>
      </p:pic>
      <p:sp>
        <p:nvSpPr>
          <p:cNvPr id="42" name="Text 20"/>
          <p:cNvSpPr txBox="1"/>
          <p:nvPr/>
        </p:nvSpPr>
        <p:spPr>
          <a:xfrm>
            <a:off x="5120640" y="502920"/>
            <a:ext cx="6766560" cy="320040"/>
          </a:xfrm>
          <a:prstGeom prst="rect">
            <a:avLst/>
          </a:prstGeom>
          <a:noFill/>
          <a:ln/>
        </p:spPr>
        <p:txBody>
          <a:bodyPr wrap="square" lIns="0" tIns="0" rIns="0" bIns="0" rtlCol="0" anchor="ctr"/>
          <a:lstStyle/>
          <a:p>
            <a:pPr indent="0" marL="0">
              <a:buNone/>
            </a:pPr>
            <a:r>
              <a:rPr lang="en-US" sz="1300" dirty="0">
                <a:solidFill>
                  <a:srgbClr val="53565A"/>
                </a:solidFill>
                <a:latin typeface="Arial" pitchFamily="34" charset="0"/>
                <a:ea typeface="Arial" pitchFamily="34" charset="-122"/>
                <a:cs typeface="Arial" pitchFamily="34" charset="-120"/>
              </a:rPr>
              <a:t>IIM Calcutta x Monitor Deloitte | Campus Case Challenge</a:t>
            </a:r>
            <a:endParaRPr lang="en-US" sz="1300" dirty="0"/>
          </a:p>
        </p:txBody>
      </p:sp>
      <p:sp>
        <p:nvSpPr>
          <p:cNvPr id="43" name="Text 21"/>
          <p:cNvSpPr txBox="1"/>
          <p:nvPr/>
        </p:nvSpPr>
        <p:spPr>
          <a:xfrm>
            <a:off x="5120640" y="868680"/>
            <a:ext cx="6766560" cy="36576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Final Round | Presentation to the Monitor Deloitte Panel</a:t>
            </a:r>
            <a:endParaRPr lang="en-US" sz="1600" dirty="0"/>
          </a:p>
        </p:txBody>
      </p:sp>
      <p:sp>
        <p:nvSpPr>
          <p:cNvPr id="44" name="Text 22"/>
          <p:cNvSpPr txBox="1"/>
          <p:nvPr/>
        </p:nvSpPr>
        <p:spPr>
          <a:xfrm>
            <a:off x="5120640" y="1417320"/>
            <a:ext cx="6949440" cy="914400"/>
          </a:xfrm>
          <a:prstGeom prst="rect">
            <a:avLst/>
          </a:prstGeom>
          <a:noFill/>
          <a:ln/>
        </p:spPr>
        <p:txBody>
          <a:bodyPr wrap="square" lIns="0" tIns="0" rIns="0" bIns="0" rtlCol="0" anchor="ctr"/>
          <a:lstStyle/>
          <a:p>
            <a:pPr indent="0" marL="0">
              <a:buNone/>
            </a:pPr>
            <a:r>
              <a:rPr lang="en-US" sz="5400" b="1" dirty="0">
                <a:solidFill>
                  <a:srgbClr val="000000"/>
                </a:solidFill>
                <a:latin typeface="Arial" pitchFamily="34" charset="0"/>
                <a:ea typeface="Arial" pitchFamily="34" charset="-122"/>
                <a:cs typeface="Arial" pitchFamily="34" charset="-120"/>
              </a:rPr>
              <a:t>The Growth</a:t>
            </a:r>
            <a:pPr indent="0" marL="0">
              <a:buNone/>
            </a:pPr>
            <a:r>
              <a:rPr lang="en-US" sz="5400" b="1" dirty="0">
                <a:solidFill>
                  <a:srgbClr val="86BC25"/>
                </a:solidFill>
                <a:latin typeface="Arial" pitchFamily="34" charset="0"/>
                <a:ea typeface="Arial" pitchFamily="34" charset="-122"/>
                <a:cs typeface="Arial" pitchFamily="34" charset="-120"/>
              </a:rPr>
              <a:t> Gambit</a:t>
            </a:r>
            <a:endParaRPr lang="en-US" sz="5400" dirty="0"/>
          </a:p>
        </p:txBody>
      </p:sp>
      <p:sp>
        <p:nvSpPr>
          <p:cNvPr id="45" name="Text 23"/>
          <p:cNvSpPr txBox="1"/>
          <p:nvPr/>
        </p:nvSpPr>
        <p:spPr>
          <a:xfrm>
            <a:off x="5120640" y="2377440"/>
            <a:ext cx="6766560" cy="777240"/>
          </a:xfrm>
          <a:prstGeom prst="rect">
            <a:avLst/>
          </a:prstGeom>
          <a:noFill/>
          <a:ln/>
        </p:spPr>
        <p:txBody>
          <a:bodyPr wrap="square" lIns="0" tIns="0" rIns="0" bIns="0" rtlCol="0" anchor="ctr"/>
          <a:lstStyle/>
          <a:p>
            <a:pPr indent="0" marL="0">
              <a:buNone/>
            </a:pPr>
            <a:r>
              <a:rPr lang="en-US" sz="1800" dirty="0">
                <a:solidFill>
                  <a:srgbClr val="046A38"/>
                </a:solidFill>
                <a:latin typeface="Arial" pitchFamily="34" charset="0"/>
                <a:ea typeface="Arial" pitchFamily="34" charset="-122"/>
                <a:cs typeface="Arial" pitchFamily="34" charset="-120"/>
              </a:rPr>
              <a:t>Rasmitra Beverages: winter premixes and spices to earn revenue when concentrates do not</a:t>
            </a:r>
            <a:endParaRPr lang="en-US" sz="1800" dirty="0"/>
          </a:p>
        </p:txBody>
      </p:sp>
      <p:sp>
        <p:nvSpPr>
          <p:cNvPr id="46" name="Shape 24"/>
          <p:cNvSpPr/>
          <p:nvPr/>
        </p:nvSpPr>
        <p:spPr>
          <a:xfrm>
            <a:off x="5120640" y="3291840"/>
            <a:ext cx="1554480" cy="914400"/>
          </a:xfrm>
          <a:prstGeom prst="rect">
            <a:avLst/>
          </a:prstGeom>
          <a:solidFill>
            <a:srgbClr val="F2F2F2"/>
          </a:solidFill>
          <a:ln w="12700">
            <a:solidFill>
              <a:srgbClr val="D0D0CE"/>
            </a:solidFill>
            <a:prstDash val="solid"/>
          </a:ln>
        </p:spPr>
      </p:sp>
      <p:sp>
        <p:nvSpPr>
          <p:cNvPr id="47" name="Text 25"/>
          <p:cNvSpPr txBox="1"/>
          <p:nvPr/>
        </p:nvSpPr>
        <p:spPr>
          <a:xfrm>
            <a:off x="5193792" y="3291840"/>
            <a:ext cx="1426464" cy="914400"/>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Where to play</a:t>
            </a:r>
            <a:endParaRPr lang="en-US" sz="1150" dirty="0"/>
          </a:p>
          <a:p>
            <a:pPr indent="0" marL="0">
              <a:buNone/>
            </a:pPr>
            <a:r>
              <a:rPr lang="en-US" sz="930" dirty="0">
                <a:solidFill>
                  <a:srgbClr val="000000"/>
                </a:solidFill>
                <a:latin typeface="Arial" pitchFamily="34" charset="0"/>
                <a:ea typeface="Arial" pitchFamily="34" charset="-122"/>
                <a:cs typeface="Arial" pitchFamily="34" charset="-120"/>
              </a:rPr>
              <a:t>Premixes (Q3 FY22), spices (Q4 FY22)</a:t>
            </a:r>
            <a:endParaRPr lang="en-US" sz="1150" dirty="0"/>
          </a:p>
        </p:txBody>
      </p:sp>
      <p:sp>
        <p:nvSpPr>
          <p:cNvPr id="48" name="Shape 26"/>
          <p:cNvSpPr/>
          <p:nvPr/>
        </p:nvSpPr>
        <p:spPr>
          <a:xfrm>
            <a:off x="6766560" y="3291840"/>
            <a:ext cx="1554480" cy="914400"/>
          </a:xfrm>
          <a:prstGeom prst="rect">
            <a:avLst/>
          </a:prstGeom>
          <a:solidFill>
            <a:srgbClr val="86BC25"/>
          </a:solidFill>
          <a:ln w="12700">
            <a:solidFill>
              <a:srgbClr val="86BC25"/>
            </a:solidFill>
            <a:prstDash val="solid"/>
          </a:ln>
        </p:spPr>
      </p:sp>
      <p:sp>
        <p:nvSpPr>
          <p:cNvPr id="49" name="Text 27"/>
          <p:cNvSpPr txBox="1"/>
          <p:nvPr/>
        </p:nvSpPr>
        <p:spPr>
          <a:xfrm>
            <a:off x="6839712" y="3291840"/>
            <a:ext cx="1426464" cy="914400"/>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How to win</a:t>
            </a:r>
            <a:endParaRPr lang="en-US" sz="1150" dirty="0"/>
          </a:p>
          <a:p>
            <a:pPr indent="0" marL="0">
              <a:buNone/>
            </a:pPr>
            <a:r>
              <a:rPr lang="en-US" sz="930" dirty="0">
                <a:solidFill>
                  <a:srgbClr val="000000"/>
                </a:solidFill>
                <a:latin typeface="Arial" pitchFamily="34" charset="0"/>
                <a:ea typeface="Arial" pitchFamily="34" charset="-122"/>
                <a:cs typeface="Arial" pitchFamily="34" charset="-120"/>
              </a:rPr>
              <a:t>GT-first; distributors serve Q-com</a:t>
            </a:r>
            <a:endParaRPr lang="en-US" sz="1150" dirty="0"/>
          </a:p>
        </p:txBody>
      </p:sp>
      <p:sp>
        <p:nvSpPr>
          <p:cNvPr id="50" name="Shape 28"/>
          <p:cNvSpPr/>
          <p:nvPr/>
        </p:nvSpPr>
        <p:spPr>
          <a:xfrm>
            <a:off x="8412480" y="3291840"/>
            <a:ext cx="1554480" cy="914400"/>
          </a:xfrm>
          <a:prstGeom prst="rect">
            <a:avLst/>
          </a:prstGeom>
          <a:solidFill>
            <a:srgbClr val="F2F2F2"/>
          </a:solidFill>
          <a:ln w="12700">
            <a:solidFill>
              <a:srgbClr val="D0D0CE"/>
            </a:solidFill>
            <a:prstDash val="solid"/>
          </a:ln>
        </p:spPr>
      </p:sp>
      <p:sp>
        <p:nvSpPr>
          <p:cNvPr id="51" name="Text 29"/>
          <p:cNvSpPr txBox="1"/>
          <p:nvPr/>
        </p:nvSpPr>
        <p:spPr>
          <a:xfrm>
            <a:off x="8485632" y="3291840"/>
            <a:ext cx="1426464" cy="914400"/>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What it is worth</a:t>
            </a:r>
            <a:endParaRPr lang="en-US" sz="1150" dirty="0"/>
          </a:p>
          <a:p>
            <a:pPr indent="0" marL="0">
              <a:buNone/>
            </a:pPr>
            <a:r>
              <a:rPr lang="en-US" sz="930" dirty="0">
                <a:solidFill>
                  <a:srgbClr val="000000"/>
                </a:solidFill>
                <a:latin typeface="Arial" pitchFamily="34" charset="0"/>
                <a:ea typeface="Arial" pitchFamily="34" charset="-122"/>
                <a:cs typeface="Arial" pitchFamily="34" charset="-120"/>
              </a:rPr>
              <a:t>18.5% base, 27.5% stretch; 30% gated</a:t>
            </a:r>
            <a:endParaRPr lang="en-US" sz="1150" dirty="0"/>
          </a:p>
        </p:txBody>
      </p:sp>
      <p:sp>
        <p:nvSpPr>
          <p:cNvPr id="52" name="Shape 30"/>
          <p:cNvSpPr/>
          <p:nvPr/>
        </p:nvSpPr>
        <p:spPr>
          <a:xfrm>
            <a:off x="10149840" y="3017520"/>
            <a:ext cx="1783080" cy="3108960"/>
          </a:xfrm>
          <a:prstGeom prst="rect">
            <a:avLst/>
          </a:prstGeom>
          <a:solidFill>
            <a:srgbClr val="FFFFFF"/>
          </a:solidFill>
          <a:ln w="12700">
            <a:solidFill>
              <a:srgbClr val="000000"/>
            </a:solidFill>
            <a:prstDash val="solid"/>
          </a:ln>
        </p:spPr>
      </p:sp>
      <p:pic>
        <p:nvPicPr>
          <p:cNvPr id="53" name="Image 20" descr="preencoded.png">    </p:cNvPr>
          <p:cNvPicPr>
            <a:picLocks noChangeAspect="1"/>
          </p:cNvPicPr>
          <p:nvPr/>
        </p:nvPicPr>
        <p:blipFill>
          <a:blip r:embed="rId21"/>
          <a:stretch>
            <a:fillRect/>
          </a:stretch>
        </p:blipFill>
        <p:spPr>
          <a:xfrm>
            <a:off x="10378440" y="3090672"/>
            <a:ext cx="1325880" cy="1325880"/>
          </a:xfrm>
          <a:prstGeom prst="rect">
            <a:avLst/>
          </a:prstGeom>
        </p:spPr>
      </p:pic>
      <p:sp>
        <p:nvSpPr>
          <p:cNvPr id="54" name="Text 31"/>
          <p:cNvSpPr txBox="1"/>
          <p:nvPr/>
        </p:nvSpPr>
        <p:spPr>
          <a:xfrm>
            <a:off x="10168128" y="4425696"/>
            <a:ext cx="1746504" cy="384048"/>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Scan: live model</a:t>
            </a:r>
            <a:endParaRPr lang="en-US" sz="950" dirty="0"/>
          </a:p>
          <a:p>
            <a:pPr algn="ctr" indent="0" marL="0">
              <a:buNone/>
            </a:pPr>
            <a:r>
              <a:rPr lang="en-US" sz="750" dirty="0">
                <a:solidFill>
                  <a:srgbClr val="000000"/>
                </a:solidFill>
                <a:latin typeface="Arial" pitchFamily="34" charset="0"/>
                <a:ea typeface="Arial" pitchFamily="34" charset="-122"/>
                <a:cs typeface="Arial" pitchFamily="34" charset="-120"/>
              </a:rPr>
              <a:t>Category screen and growth model</a:t>
            </a:r>
            <a:endParaRPr lang="en-US" sz="950" dirty="0"/>
          </a:p>
        </p:txBody>
      </p:sp>
      <p:sp>
        <p:nvSpPr>
          <p:cNvPr id="55" name="Shape 32"/>
          <p:cNvSpPr/>
          <p:nvPr/>
        </p:nvSpPr>
        <p:spPr>
          <a:xfrm>
            <a:off x="10287000" y="4846320"/>
            <a:ext cx="1508760" cy="0"/>
          </a:xfrm>
          <a:prstGeom prst="line">
            <a:avLst/>
          </a:prstGeom>
          <a:noFill/>
          <a:ln w="9525">
            <a:solidFill>
              <a:srgbClr val="D0D0CE"/>
            </a:solidFill>
            <a:prstDash val="solid"/>
          </a:ln>
        </p:spPr>
      </p:sp>
      <p:pic>
        <p:nvPicPr>
          <p:cNvPr id="56" name="Image 21" descr="preencoded.png">    </p:cNvPr>
          <p:cNvPicPr>
            <a:picLocks noChangeAspect="1"/>
          </p:cNvPicPr>
          <p:nvPr/>
        </p:nvPicPr>
        <p:blipFill>
          <a:blip r:embed="rId22"/>
          <a:stretch>
            <a:fillRect/>
          </a:stretch>
        </p:blipFill>
        <p:spPr>
          <a:xfrm>
            <a:off x="10607040" y="4901184"/>
            <a:ext cx="868680" cy="868680"/>
          </a:xfrm>
          <a:prstGeom prst="rect">
            <a:avLst/>
          </a:prstGeom>
        </p:spPr>
      </p:pic>
      <p:sp>
        <p:nvSpPr>
          <p:cNvPr id="57" name="Text 33"/>
          <p:cNvSpPr txBox="1"/>
          <p:nvPr/>
        </p:nvSpPr>
        <p:spPr>
          <a:xfrm>
            <a:off x="10168128" y="5760720"/>
            <a:ext cx="1746504" cy="347472"/>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No login needed</a:t>
            </a:r>
            <a:endParaRPr lang="en-US" sz="850" dirty="0"/>
          </a:p>
          <a:p>
            <a:pPr algn="ctr" indent="0" marL="0">
              <a:buNone/>
            </a:pPr>
            <a:r>
              <a:rPr lang="en-US" sz="700" dirty="0">
                <a:solidFill>
                  <a:srgbClr val="000000"/>
                </a:solidFill>
                <a:latin typeface="Arial" pitchFamily="34" charset="0"/>
                <a:ea typeface="Arial" pitchFamily="34" charset="-122"/>
                <a:cs typeface="Arial" pitchFamily="34" charset="-120"/>
              </a:rPr>
              <a:t>Same model, public mirror</a:t>
            </a:r>
            <a:endParaRPr lang="en-US" sz="850" dirty="0"/>
          </a:p>
        </p:txBody>
      </p:sp>
      <p:sp>
        <p:nvSpPr>
          <p:cNvPr id="58" name="Text 34"/>
          <p:cNvSpPr txBox="1"/>
          <p:nvPr/>
        </p:nvSpPr>
        <p:spPr>
          <a:xfrm>
            <a:off x="5120640" y="4526280"/>
            <a:ext cx="4846320" cy="1188720"/>
          </a:xfrm>
          <a:prstGeom prst="rect">
            <a:avLst/>
          </a:prstGeom>
          <a:noFill/>
          <a:ln/>
        </p:spPr>
        <p:txBody>
          <a:bodyPr wrap="square" lIns="0" tIns="0" rIns="0" bIns="0" rtlCol="0" anchor="t"/>
          <a:lstStyle/>
          <a:p>
            <a:pPr indent="0" marL="0">
              <a:buNone/>
            </a:pPr>
            <a:r>
              <a:rPr lang="en-US" sz="1300" b="1" dirty="0">
                <a:solidFill>
                  <a:srgbClr val="000000"/>
                </a:solidFill>
                <a:latin typeface="Arial" pitchFamily="34" charset="0"/>
                <a:ea typeface="Arial" pitchFamily="34" charset="-122"/>
                <a:cs typeface="Arial" pitchFamily="34" charset="-120"/>
              </a:rPr>
              <a:t>Team: Quadria</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Amit Gupta  |  Abhishek  |  Aahana  |  Aaishi</a:t>
            </a:r>
            <a:endParaRPr lang="en-US" sz="1300" dirty="0"/>
          </a:p>
          <a:p>
            <a:pPr indent="0" marL="0">
              <a:buNone/>
            </a:pPr>
            <a:r>
              <a:rPr lang="en-US" sz="1300" dirty="0">
                <a:solidFill>
                  <a:srgbClr val="0097A9"/>
                </a:solidFill>
                <a:latin typeface="Arial" pitchFamily="34" charset="0"/>
                <a:ea typeface="Arial" pitchFamily="34" charset="-122"/>
                <a:cs typeface="Arial" pitchFamily="34" charset="-120"/>
              </a:rPr>
              <a:t>amitg2027@email.iimcal.ac.in</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Indian Institute of Management Calcutta</a:t>
            </a:r>
            <a:endParaRPr lang="en-US" sz="1300" dirty="0"/>
          </a:p>
        </p:txBody>
      </p:sp>
      <p:sp>
        <p:nvSpPr>
          <p:cNvPr id="59" name="Text 35"/>
          <p:cNvSpPr txBox="1"/>
          <p:nvPr/>
        </p:nvSpPr>
        <p:spPr>
          <a:xfrm>
            <a:off x="5120640" y="6217920"/>
            <a:ext cx="6949440" cy="365760"/>
          </a:xfrm>
          <a:prstGeom prst="rect">
            <a:avLst/>
          </a:prstGeom>
          <a:noFill/>
          <a:ln/>
        </p:spPr>
        <p:txBody>
          <a:bodyPr wrap="square" lIns="0" tIns="0" rIns="0" bIns="0" rtlCol="0" anchor="ctr"/>
          <a:lstStyle/>
          <a:p>
            <a:pPr indent="0" marL="0">
              <a:buNone/>
            </a:pPr>
            <a:r>
              <a:rPr lang="en-US" sz="820" dirty="0">
                <a:solidFill>
                  <a:srgbClr val="53565A"/>
                </a:solidFill>
                <a:latin typeface="Arial" pitchFamily="34" charset="0"/>
                <a:ea typeface="Arial" pitchFamily="34" charset="-122"/>
                <a:cs typeface="Arial" pitchFamily="34" charset="-120"/>
              </a:rPr>
              <a:t>Contents: 1 Mandate and answer | 2 Diagnosis | 3-4 Where to play | 5-6 What to launch and consumer proof | 7-8 Go-to-market | 9 Launch engine | 10-12 What it is worth, risks and the ask | Appendix A1 Assumptions, A2 Sources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1. The Mandate and Our Answer</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Rasmitra is a profitable one-season, two-region, one-channel business; we answer the Board's five questions with a winter-first, gated programme</a:t>
            </a:r>
            <a:endParaRPr lang="en-US" sz="1250" dirty="0"/>
          </a:p>
        </p:txBody>
      </p:sp>
      <p:sp>
        <p:nvSpPr>
          <p:cNvPr id="6" name="Text 4"/>
          <p:cNvSpPr txBox="1"/>
          <p:nvPr/>
        </p:nvSpPr>
        <p:spPr>
          <a:xfrm>
            <a:off x="109728" y="7498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Where Rasmitra stands, FY21 (Exhibits 1, 4, 6)</a:t>
            </a:r>
            <a:endParaRPr lang="en-US" sz="1100" dirty="0"/>
          </a:p>
        </p:txBody>
      </p:sp>
      <p:sp>
        <p:nvSpPr>
          <p:cNvPr id="7" name="Shape 5"/>
          <p:cNvSpPr/>
          <p:nvPr/>
        </p:nvSpPr>
        <p:spPr>
          <a:xfrm>
            <a:off x="109728" y="1005840"/>
            <a:ext cx="1874520" cy="493776"/>
          </a:xfrm>
          <a:prstGeom prst="rect">
            <a:avLst/>
          </a:prstGeom>
          <a:solidFill>
            <a:srgbClr val="F2F2F2"/>
          </a:solidFill>
          <a:ln w="12700">
            <a:solidFill>
              <a:srgbClr val="D0D0CE"/>
            </a:solidFill>
            <a:prstDash val="solid"/>
          </a:ln>
        </p:spPr>
      </p:sp>
      <p:sp>
        <p:nvSpPr>
          <p:cNvPr id="8" name="Shape 6"/>
          <p:cNvSpPr/>
          <p:nvPr/>
        </p:nvSpPr>
        <p:spPr>
          <a:xfrm>
            <a:off x="109728" y="1005840"/>
            <a:ext cx="45720" cy="493776"/>
          </a:xfrm>
          <a:prstGeom prst="rect">
            <a:avLst/>
          </a:prstGeom>
          <a:solidFill>
            <a:srgbClr val="046A38"/>
          </a:solidFill>
          <a:ln w="12700">
            <a:solidFill>
              <a:srgbClr val="046A38"/>
            </a:solidFill>
            <a:prstDash val="solid"/>
          </a:ln>
        </p:spPr>
      </p:sp>
      <p:sp>
        <p:nvSpPr>
          <p:cNvPr id="9" name="Text 7"/>
          <p:cNvSpPr txBox="1"/>
          <p:nvPr/>
        </p:nvSpPr>
        <p:spPr>
          <a:xfrm>
            <a:off x="219456" y="1005840"/>
            <a:ext cx="1728216" cy="493776"/>
          </a:xfrm>
          <a:prstGeom prst="rect">
            <a:avLst/>
          </a:prstGeom>
          <a:noFill/>
          <a:ln/>
        </p:spPr>
        <p:txBody>
          <a:bodyPr wrap="square" lIns="0" tIns="0" rIns="0" bIns="0" rtlCol="0" anchor="ctr"/>
          <a:lstStyle/>
          <a:p>
            <a:pPr indent="0" marL="0">
              <a:buNone/>
            </a:pPr>
            <a:r>
              <a:rPr lang="en-US" sz="1500" b="1" dirty="0">
                <a:solidFill>
                  <a:srgbClr val="046A38"/>
                </a:solidFill>
                <a:latin typeface="Arial" pitchFamily="34" charset="0"/>
                <a:ea typeface="Arial" pitchFamily="34" charset="-122"/>
                <a:cs typeface="Arial" pitchFamily="34" charset="-120"/>
              </a:rPr>
              <a:t>Rs 560 Cr</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Revenue; 4.8% CAGR vs 11-17% for adjacent foods</a:t>
            </a:r>
            <a:endParaRPr lang="en-US" sz="1500" dirty="0"/>
          </a:p>
        </p:txBody>
      </p:sp>
      <p:sp>
        <p:nvSpPr>
          <p:cNvPr id="10" name="Shape 8"/>
          <p:cNvSpPr/>
          <p:nvPr/>
        </p:nvSpPr>
        <p:spPr>
          <a:xfrm>
            <a:off x="2048256" y="1005840"/>
            <a:ext cx="1874520" cy="493776"/>
          </a:xfrm>
          <a:prstGeom prst="rect">
            <a:avLst/>
          </a:prstGeom>
          <a:solidFill>
            <a:srgbClr val="F2F2F2"/>
          </a:solidFill>
          <a:ln w="12700">
            <a:solidFill>
              <a:srgbClr val="D0D0CE"/>
            </a:solidFill>
            <a:prstDash val="solid"/>
          </a:ln>
        </p:spPr>
      </p:sp>
      <p:sp>
        <p:nvSpPr>
          <p:cNvPr id="11" name="Shape 9"/>
          <p:cNvSpPr/>
          <p:nvPr/>
        </p:nvSpPr>
        <p:spPr>
          <a:xfrm>
            <a:off x="2048256" y="1005840"/>
            <a:ext cx="45720" cy="493776"/>
          </a:xfrm>
          <a:prstGeom prst="rect">
            <a:avLst/>
          </a:prstGeom>
          <a:solidFill>
            <a:srgbClr val="046A38"/>
          </a:solidFill>
          <a:ln w="12700">
            <a:solidFill>
              <a:srgbClr val="046A38"/>
            </a:solidFill>
            <a:prstDash val="solid"/>
          </a:ln>
        </p:spPr>
      </p:sp>
      <p:sp>
        <p:nvSpPr>
          <p:cNvPr id="12" name="Text 10"/>
          <p:cNvSpPr txBox="1"/>
          <p:nvPr/>
        </p:nvSpPr>
        <p:spPr>
          <a:xfrm>
            <a:off x="2157984" y="1005840"/>
            <a:ext cx="1728216" cy="493776"/>
          </a:xfrm>
          <a:prstGeom prst="rect">
            <a:avLst/>
          </a:prstGeom>
          <a:noFill/>
          <a:ln/>
        </p:spPr>
        <p:txBody>
          <a:bodyPr wrap="square" lIns="0" tIns="0" rIns="0" bIns="0" rtlCol="0" anchor="ctr"/>
          <a:lstStyle/>
          <a:p>
            <a:pPr indent="0" marL="0">
              <a:buNone/>
            </a:pPr>
            <a:r>
              <a:rPr lang="en-US" sz="1500" b="1" dirty="0">
                <a:solidFill>
                  <a:srgbClr val="046A38"/>
                </a:solidFill>
                <a:latin typeface="Arial" pitchFamily="34" charset="0"/>
                <a:ea typeface="Arial" pitchFamily="34" charset="-122"/>
                <a:cs typeface="Arial" pitchFamily="34" charset="-120"/>
              </a:rPr>
              <a:t>88%</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Revenue from the core concentrates category</a:t>
            </a:r>
            <a:endParaRPr lang="en-US" sz="1500" dirty="0"/>
          </a:p>
        </p:txBody>
      </p:sp>
      <p:sp>
        <p:nvSpPr>
          <p:cNvPr id="13" name="Shape 11"/>
          <p:cNvSpPr/>
          <p:nvPr/>
        </p:nvSpPr>
        <p:spPr>
          <a:xfrm>
            <a:off x="109728" y="1554480"/>
            <a:ext cx="1874520" cy="493776"/>
          </a:xfrm>
          <a:prstGeom prst="rect">
            <a:avLst/>
          </a:prstGeom>
          <a:solidFill>
            <a:srgbClr val="F2F2F2"/>
          </a:solidFill>
          <a:ln w="12700">
            <a:solidFill>
              <a:srgbClr val="D0D0CE"/>
            </a:solidFill>
            <a:prstDash val="solid"/>
          </a:ln>
        </p:spPr>
      </p:sp>
      <p:sp>
        <p:nvSpPr>
          <p:cNvPr id="14" name="Shape 12"/>
          <p:cNvSpPr/>
          <p:nvPr/>
        </p:nvSpPr>
        <p:spPr>
          <a:xfrm>
            <a:off x="109728" y="1554480"/>
            <a:ext cx="45720" cy="493776"/>
          </a:xfrm>
          <a:prstGeom prst="rect">
            <a:avLst/>
          </a:prstGeom>
          <a:solidFill>
            <a:srgbClr val="E0702B"/>
          </a:solidFill>
          <a:ln w="12700">
            <a:solidFill>
              <a:srgbClr val="E0702B"/>
            </a:solidFill>
            <a:prstDash val="solid"/>
          </a:ln>
        </p:spPr>
      </p:sp>
      <p:sp>
        <p:nvSpPr>
          <p:cNvPr id="15" name="Text 13"/>
          <p:cNvSpPr txBox="1"/>
          <p:nvPr/>
        </p:nvSpPr>
        <p:spPr>
          <a:xfrm>
            <a:off x="219456" y="1554480"/>
            <a:ext cx="1728216" cy="493776"/>
          </a:xfrm>
          <a:prstGeom prst="rect">
            <a:avLst/>
          </a:prstGeom>
          <a:noFill/>
          <a:ln/>
        </p:spPr>
        <p:txBody>
          <a:bodyPr wrap="square" lIns="0" tIns="0" rIns="0" bIns="0" rtlCol="0" anchor="ctr"/>
          <a:lstStyle/>
          <a:p>
            <a:pPr indent="0" marL="0">
              <a:buNone/>
            </a:pPr>
            <a:r>
              <a:rPr lang="en-US" sz="1500" b="1" dirty="0">
                <a:solidFill>
                  <a:srgbClr val="E0702B"/>
                </a:solidFill>
                <a:latin typeface="Arial" pitchFamily="34" charset="0"/>
                <a:ea typeface="Arial" pitchFamily="34" charset="-122"/>
                <a:cs typeface="Arial" pitchFamily="34" charset="-120"/>
              </a:rPr>
              <a:t>58%</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Annual volume shipped Mar-Jul</a:t>
            </a:r>
            <a:endParaRPr lang="en-US" sz="1500" dirty="0"/>
          </a:p>
        </p:txBody>
      </p:sp>
      <p:sp>
        <p:nvSpPr>
          <p:cNvPr id="16" name="Shape 14"/>
          <p:cNvSpPr/>
          <p:nvPr/>
        </p:nvSpPr>
        <p:spPr>
          <a:xfrm>
            <a:off x="2048256" y="1554480"/>
            <a:ext cx="1874520" cy="493776"/>
          </a:xfrm>
          <a:prstGeom prst="rect">
            <a:avLst/>
          </a:prstGeom>
          <a:solidFill>
            <a:srgbClr val="F2F2F2"/>
          </a:solidFill>
          <a:ln w="12700">
            <a:solidFill>
              <a:srgbClr val="D0D0CE"/>
            </a:solidFill>
            <a:prstDash val="solid"/>
          </a:ln>
        </p:spPr>
      </p:sp>
      <p:sp>
        <p:nvSpPr>
          <p:cNvPr id="17" name="Shape 15"/>
          <p:cNvSpPr/>
          <p:nvPr/>
        </p:nvSpPr>
        <p:spPr>
          <a:xfrm>
            <a:off x="2048256" y="1554480"/>
            <a:ext cx="45720" cy="493776"/>
          </a:xfrm>
          <a:prstGeom prst="rect">
            <a:avLst/>
          </a:prstGeom>
          <a:solidFill>
            <a:srgbClr val="E0702B"/>
          </a:solidFill>
          <a:ln w="12700">
            <a:solidFill>
              <a:srgbClr val="E0702B"/>
            </a:solidFill>
            <a:prstDash val="solid"/>
          </a:ln>
        </p:spPr>
      </p:sp>
      <p:sp>
        <p:nvSpPr>
          <p:cNvPr id="18" name="Text 16"/>
          <p:cNvSpPr txBox="1"/>
          <p:nvPr/>
        </p:nvSpPr>
        <p:spPr>
          <a:xfrm>
            <a:off x="2157984" y="1554480"/>
            <a:ext cx="1728216" cy="493776"/>
          </a:xfrm>
          <a:prstGeom prst="rect">
            <a:avLst/>
          </a:prstGeom>
          <a:noFill/>
          <a:ln/>
        </p:spPr>
        <p:txBody>
          <a:bodyPr wrap="square" lIns="0" tIns="0" rIns="0" bIns="0" rtlCol="0" anchor="ctr"/>
          <a:lstStyle/>
          <a:p>
            <a:pPr indent="0" marL="0">
              <a:buNone/>
            </a:pPr>
            <a:r>
              <a:rPr lang="en-US" sz="1500" b="1" dirty="0">
                <a:solidFill>
                  <a:srgbClr val="E0702B"/>
                </a:solidFill>
                <a:latin typeface="Arial" pitchFamily="34" charset="0"/>
                <a:ea typeface="Arial" pitchFamily="34" charset="-122"/>
                <a:cs typeface="Arial" pitchFamily="34" charset="-120"/>
              </a:rPr>
              <a:t>51%</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Plant utilisation; 34% in Q3 (Oct-Dec)</a:t>
            </a:r>
            <a:endParaRPr lang="en-US" sz="1500" dirty="0"/>
          </a:p>
        </p:txBody>
      </p:sp>
      <p:sp>
        <p:nvSpPr>
          <p:cNvPr id="19" name="Shape 17"/>
          <p:cNvSpPr/>
          <p:nvPr/>
        </p:nvSpPr>
        <p:spPr>
          <a:xfrm>
            <a:off x="109728" y="2103120"/>
            <a:ext cx="1874520" cy="493776"/>
          </a:xfrm>
          <a:prstGeom prst="rect">
            <a:avLst/>
          </a:prstGeom>
          <a:solidFill>
            <a:srgbClr val="F2F2F2"/>
          </a:solidFill>
          <a:ln w="12700">
            <a:solidFill>
              <a:srgbClr val="D0D0CE"/>
            </a:solidFill>
            <a:prstDash val="solid"/>
          </a:ln>
        </p:spPr>
      </p:sp>
      <p:sp>
        <p:nvSpPr>
          <p:cNvPr id="20" name="Shape 18"/>
          <p:cNvSpPr/>
          <p:nvPr/>
        </p:nvSpPr>
        <p:spPr>
          <a:xfrm>
            <a:off x="109728" y="2103120"/>
            <a:ext cx="45720" cy="493776"/>
          </a:xfrm>
          <a:prstGeom prst="rect">
            <a:avLst/>
          </a:prstGeom>
          <a:solidFill>
            <a:srgbClr val="53565A"/>
          </a:solidFill>
          <a:ln w="12700">
            <a:solidFill>
              <a:srgbClr val="53565A"/>
            </a:solidFill>
            <a:prstDash val="solid"/>
          </a:ln>
        </p:spPr>
      </p:sp>
      <p:sp>
        <p:nvSpPr>
          <p:cNvPr id="21" name="Text 19"/>
          <p:cNvSpPr txBox="1"/>
          <p:nvPr/>
        </p:nvSpPr>
        <p:spPr>
          <a:xfrm>
            <a:off x="219456" y="2103120"/>
            <a:ext cx="1728216" cy="493776"/>
          </a:xfrm>
          <a:prstGeom prst="rect">
            <a:avLst/>
          </a:prstGeom>
          <a:noFill/>
          <a:ln/>
        </p:spPr>
        <p:txBody>
          <a:bodyPr wrap="square" lIns="0" tIns="0" rIns="0" bIns="0" rtlCol="0" anchor="ctr"/>
          <a:lstStyle/>
          <a:p>
            <a:pPr indent="0" marL="0">
              <a:buNone/>
            </a:pPr>
            <a:r>
              <a:rPr lang="en-US" sz="1500" b="1" dirty="0">
                <a:solidFill>
                  <a:srgbClr val="53565A"/>
                </a:solidFill>
                <a:latin typeface="Arial" pitchFamily="34" charset="0"/>
                <a:ea typeface="Arial" pitchFamily="34" charset="-122"/>
                <a:cs typeface="Arial" pitchFamily="34" charset="-120"/>
              </a:rPr>
              <a:t>74%</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Revenue from two home regions</a:t>
            </a:r>
            <a:endParaRPr lang="en-US" sz="1500" dirty="0"/>
          </a:p>
        </p:txBody>
      </p:sp>
      <p:sp>
        <p:nvSpPr>
          <p:cNvPr id="22" name="Shape 20"/>
          <p:cNvSpPr/>
          <p:nvPr/>
        </p:nvSpPr>
        <p:spPr>
          <a:xfrm>
            <a:off x="2048256" y="2103120"/>
            <a:ext cx="1874520" cy="493776"/>
          </a:xfrm>
          <a:prstGeom prst="rect">
            <a:avLst/>
          </a:prstGeom>
          <a:solidFill>
            <a:srgbClr val="F2F2F2"/>
          </a:solidFill>
          <a:ln w="12700">
            <a:solidFill>
              <a:srgbClr val="D0D0CE"/>
            </a:solidFill>
            <a:prstDash val="solid"/>
          </a:ln>
        </p:spPr>
      </p:sp>
      <p:sp>
        <p:nvSpPr>
          <p:cNvPr id="23" name="Shape 21"/>
          <p:cNvSpPr/>
          <p:nvPr/>
        </p:nvSpPr>
        <p:spPr>
          <a:xfrm>
            <a:off x="2048256" y="2103120"/>
            <a:ext cx="45720" cy="493776"/>
          </a:xfrm>
          <a:prstGeom prst="rect">
            <a:avLst/>
          </a:prstGeom>
          <a:solidFill>
            <a:srgbClr val="53565A"/>
          </a:solidFill>
          <a:ln w="12700">
            <a:solidFill>
              <a:srgbClr val="53565A"/>
            </a:solidFill>
            <a:prstDash val="solid"/>
          </a:ln>
        </p:spPr>
      </p:sp>
      <p:sp>
        <p:nvSpPr>
          <p:cNvPr id="24" name="Text 22"/>
          <p:cNvSpPr txBox="1"/>
          <p:nvPr/>
        </p:nvSpPr>
        <p:spPr>
          <a:xfrm>
            <a:off x="2157984" y="2103120"/>
            <a:ext cx="1728216" cy="493776"/>
          </a:xfrm>
          <a:prstGeom prst="rect">
            <a:avLst/>
          </a:prstGeom>
          <a:noFill/>
          <a:ln/>
        </p:spPr>
        <p:txBody>
          <a:bodyPr wrap="square" lIns="0" tIns="0" rIns="0" bIns="0" rtlCol="0" anchor="ctr"/>
          <a:lstStyle/>
          <a:p>
            <a:pPr indent="0" marL="0">
              <a:buNone/>
            </a:pPr>
            <a:r>
              <a:rPr lang="en-US" sz="1500" b="1" dirty="0">
                <a:solidFill>
                  <a:srgbClr val="53565A"/>
                </a:solidFill>
                <a:latin typeface="Arial" pitchFamily="34" charset="0"/>
                <a:ea typeface="Arial" pitchFamily="34" charset="-122"/>
                <a:cs typeface="Arial" pitchFamily="34" charset="-120"/>
              </a:rPr>
              <a:t>85%</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Revenue through general trade; Q-com 1.3%</a:t>
            </a:r>
            <a:endParaRPr lang="en-US" sz="1500" dirty="0"/>
          </a:p>
        </p:txBody>
      </p:sp>
      <p:sp>
        <p:nvSpPr>
          <p:cNvPr id="25" name="Shape 23"/>
          <p:cNvSpPr/>
          <p:nvPr/>
        </p:nvSpPr>
        <p:spPr>
          <a:xfrm>
            <a:off x="109728" y="2651760"/>
            <a:ext cx="1874520" cy="493776"/>
          </a:xfrm>
          <a:prstGeom prst="rect">
            <a:avLst/>
          </a:prstGeom>
          <a:solidFill>
            <a:srgbClr val="F2F2F2"/>
          </a:solidFill>
          <a:ln w="12700">
            <a:solidFill>
              <a:srgbClr val="D0D0CE"/>
            </a:solidFill>
            <a:prstDash val="solid"/>
          </a:ln>
        </p:spPr>
      </p:sp>
      <p:sp>
        <p:nvSpPr>
          <p:cNvPr id="26" name="Shape 24"/>
          <p:cNvSpPr/>
          <p:nvPr/>
        </p:nvSpPr>
        <p:spPr>
          <a:xfrm>
            <a:off x="109728" y="2651760"/>
            <a:ext cx="45720" cy="493776"/>
          </a:xfrm>
          <a:prstGeom prst="rect">
            <a:avLst/>
          </a:prstGeom>
          <a:solidFill>
            <a:srgbClr val="C0392B"/>
          </a:solidFill>
          <a:ln w="12700">
            <a:solidFill>
              <a:srgbClr val="C0392B"/>
            </a:solidFill>
            <a:prstDash val="solid"/>
          </a:ln>
        </p:spPr>
      </p:sp>
      <p:sp>
        <p:nvSpPr>
          <p:cNvPr id="27" name="Text 25"/>
          <p:cNvSpPr txBox="1"/>
          <p:nvPr/>
        </p:nvSpPr>
        <p:spPr>
          <a:xfrm>
            <a:off x="219456" y="2651760"/>
            <a:ext cx="1728216" cy="493776"/>
          </a:xfrm>
          <a:prstGeom prst="rect">
            <a:avLst/>
          </a:prstGeom>
          <a:noFill/>
          <a:ln/>
        </p:spPr>
        <p:txBody>
          <a:bodyPr wrap="square" lIns="0" tIns="0" rIns="0" bIns="0" rtlCol="0" anchor="ctr"/>
          <a:lstStyle/>
          <a:p>
            <a:pPr indent="0" marL="0">
              <a:buNone/>
            </a:pPr>
            <a:r>
              <a:rPr lang="en-US" sz="1500" b="1" dirty="0">
                <a:solidFill>
                  <a:srgbClr val="C0392B"/>
                </a:solidFill>
                <a:latin typeface="Arial" pitchFamily="34" charset="0"/>
                <a:ea typeface="Arial" pitchFamily="34" charset="-122"/>
                <a:cs typeface="Arial" pitchFamily="34" charset="-120"/>
              </a:rPr>
              <a:t>4 of 6</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Launches since FY17 delisted or stalled</a:t>
            </a:r>
            <a:endParaRPr lang="en-US" sz="1500" dirty="0"/>
          </a:p>
        </p:txBody>
      </p:sp>
      <p:sp>
        <p:nvSpPr>
          <p:cNvPr id="28" name="Shape 26"/>
          <p:cNvSpPr/>
          <p:nvPr/>
        </p:nvSpPr>
        <p:spPr>
          <a:xfrm>
            <a:off x="2048256" y="2651760"/>
            <a:ext cx="1874520" cy="493776"/>
          </a:xfrm>
          <a:prstGeom prst="rect">
            <a:avLst/>
          </a:prstGeom>
          <a:solidFill>
            <a:srgbClr val="F2F2F2"/>
          </a:solidFill>
          <a:ln w="12700">
            <a:solidFill>
              <a:srgbClr val="D0D0CE"/>
            </a:solidFill>
            <a:prstDash val="solid"/>
          </a:ln>
        </p:spPr>
      </p:sp>
      <p:sp>
        <p:nvSpPr>
          <p:cNvPr id="29" name="Shape 27"/>
          <p:cNvSpPr/>
          <p:nvPr/>
        </p:nvSpPr>
        <p:spPr>
          <a:xfrm>
            <a:off x="2048256" y="2651760"/>
            <a:ext cx="45720" cy="493776"/>
          </a:xfrm>
          <a:prstGeom prst="rect">
            <a:avLst/>
          </a:prstGeom>
          <a:solidFill>
            <a:srgbClr val="C0392B"/>
          </a:solidFill>
          <a:ln w="12700">
            <a:solidFill>
              <a:srgbClr val="C0392B"/>
            </a:solidFill>
            <a:prstDash val="solid"/>
          </a:ln>
        </p:spPr>
      </p:sp>
      <p:sp>
        <p:nvSpPr>
          <p:cNvPr id="30" name="Text 28"/>
          <p:cNvSpPr txBox="1"/>
          <p:nvPr/>
        </p:nvSpPr>
        <p:spPr>
          <a:xfrm>
            <a:off x="2157984" y="2651760"/>
            <a:ext cx="1728216" cy="493776"/>
          </a:xfrm>
          <a:prstGeom prst="rect">
            <a:avLst/>
          </a:prstGeom>
          <a:noFill/>
          <a:ln/>
        </p:spPr>
        <p:txBody>
          <a:bodyPr wrap="square" lIns="0" tIns="0" rIns="0" bIns="0" rtlCol="0" anchor="ctr"/>
          <a:lstStyle/>
          <a:p>
            <a:pPr indent="0" marL="0">
              <a:buNone/>
            </a:pPr>
            <a:r>
              <a:rPr lang="en-US" sz="1500" b="1" dirty="0">
                <a:solidFill>
                  <a:srgbClr val="C0392B"/>
                </a:solidFill>
                <a:latin typeface="Arial" pitchFamily="34" charset="0"/>
                <a:ea typeface="Arial" pitchFamily="34" charset="-122"/>
                <a:cs typeface="Arial" pitchFamily="34" charset="-120"/>
              </a:rPr>
              <a:t>~11 mo</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Idea-to-shelf; peers 6-8 months</a:t>
            </a:r>
            <a:endParaRPr lang="en-US" sz="1500" dirty="0"/>
          </a:p>
        </p:txBody>
      </p:sp>
      <p:sp>
        <p:nvSpPr>
          <p:cNvPr id="31" name="Shape 29"/>
          <p:cNvSpPr/>
          <p:nvPr/>
        </p:nvSpPr>
        <p:spPr>
          <a:xfrm>
            <a:off x="109728" y="3200400"/>
            <a:ext cx="1874520" cy="493776"/>
          </a:xfrm>
          <a:prstGeom prst="rect">
            <a:avLst/>
          </a:prstGeom>
          <a:solidFill>
            <a:srgbClr val="F2F2F2"/>
          </a:solidFill>
          <a:ln w="12700">
            <a:solidFill>
              <a:srgbClr val="D0D0CE"/>
            </a:solidFill>
            <a:prstDash val="solid"/>
          </a:ln>
        </p:spPr>
      </p:sp>
      <p:sp>
        <p:nvSpPr>
          <p:cNvPr id="32" name="Shape 30"/>
          <p:cNvSpPr/>
          <p:nvPr/>
        </p:nvSpPr>
        <p:spPr>
          <a:xfrm>
            <a:off x="109728" y="3200400"/>
            <a:ext cx="45720" cy="493776"/>
          </a:xfrm>
          <a:prstGeom prst="rect">
            <a:avLst/>
          </a:prstGeom>
          <a:solidFill>
            <a:srgbClr val="0097A9"/>
          </a:solidFill>
          <a:ln w="12700">
            <a:solidFill>
              <a:srgbClr val="0097A9"/>
            </a:solidFill>
            <a:prstDash val="solid"/>
          </a:ln>
        </p:spPr>
      </p:sp>
      <p:sp>
        <p:nvSpPr>
          <p:cNvPr id="33" name="Text 31"/>
          <p:cNvSpPr txBox="1"/>
          <p:nvPr/>
        </p:nvSpPr>
        <p:spPr>
          <a:xfrm>
            <a:off x="219456" y="3200400"/>
            <a:ext cx="1728216" cy="493776"/>
          </a:xfrm>
          <a:prstGeom prst="rect">
            <a:avLst/>
          </a:prstGeom>
          <a:noFill/>
          <a:ln/>
        </p:spPr>
        <p:txBody>
          <a:bodyPr wrap="square" lIns="0" tIns="0" rIns="0" bIns="0" rtlCol="0" anchor="ctr"/>
          <a:lstStyle/>
          <a:p>
            <a:pPr indent="0" marL="0">
              <a:buNone/>
            </a:pPr>
            <a:r>
              <a:rPr lang="en-US" sz="1500" b="1" dirty="0">
                <a:solidFill>
                  <a:srgbClr val="0097A9"/>
                </a:solidFill>
                <a:latin typeface="Arial" pitchFamily="34" charset="0"/>
                <a:ea typeface="Arial" pitchFamily="34" charset="-122"/>
                <a:cs typeface="Arial" pitchFamily="34" charset="-120"/>
              </a:rPr>
              <a:t>2.4%</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A&amp;P as % of sales; peers 4-7%</a:t>
            </a:r>
            <a:endParaRPr lang="en-US" sz="1500" dirty="0"/>
          </a:p>
        </p:txBody>
      </p:sp>
      <p:sp>
        <p:nvSpPr>
          <p:cNvPr id="34" name="Shape 32"/>
          <p:cNvSpPr/>
          <p:nvPr/>
        </p:nvSpPr>
        <p:spPr>
          <a:xfrm>
            <a:off x="2048256" y="3200400"/>
            <a:ext cx="1874520" cy="493776"/>
          </a:xfrm>
          <a:prstGeom prst="rect">
            <a:avLst/>
          </a:prstGeom>
          <a:solidFill>
            <a:srgbClr val="F2F2F2"/>
          </a:solidFill>
          <a:ln w="12700">
            <a:solidFill>
              <a:srgbClr val="D0D0CE"/>
            </a:solidFill>
            <a:prstDash val="solid"/>
          </a:ln>
        </p:spPr>
      </p:sp>
      <p:sp>
        <p:nvSpPr>
          <p:cNvPr id="35" name="Shape 33"/>
          <p:cNvSpPr/>
          <p:nvPr/>
        </p:nvSpPr>
        <p:spPr>
          <a:xfrm>
            <a:off x="2048256" y="3200400"/>
            <a:ext cx="45720" cy="493776"/>
          </a:xfrm>
          <a:prstGeom prst="rect">
            <a:avLst/>
          </a:prstGeom>
          <a:solidFill>
            <a:srgbClr val="0097A9"/>
          </a:solidFill>
          <a:ln w="12700">
            <a:solidFill>
              <a:srgbClr val="0097A9"/>
            </a:solidFill>
            <a:prstDash val="solid"/>
          </a:ln>
        </p:spPr>
      </p:sp>
      <p:sp>
        <p:nvSpPr>
          <p:cNvPr id="36" name="Text 34"/>
          <p:cNvSpPr txBox="1"/>
          <p:nvPr/>
        </p:nvSpPr>
        <p:spPr>
          <a:xfrm>
            <a:off x="2157984" y="3200400"/>
            <a:ext cx="1728216" cy="493776"/>
          </a:xfrm>
          <a:prstGeom prst="rect">
            <a:avLst/>
          </a:prstGeom>
          <a:noFill/>
          <a:ln/>
        </p:spPr>
        <p:txBody>
          <a:bodyPr wrap="square" lIns="0" tIns="0" rIns="0" bIns="0" rtlCol="0" anchor="ctr"/>
          <a:lstStyle/>
          <a:p>
            <a:pPr indent="0" marL="0">
              <a:buNone/>
            </a:pPr>
            <a:r>
              <a:rPr lang="en-US" sz="1500" b="1" dirty="0">
                <a:solidFill>
                  <a:srgbClr val="0097A9"/>
                </a:solidFill>
                <a:latin typeface="Arial" pitchFamily="34" charset="0"/>
                <a:ea typeface="Arial" pitchFamily="34" charset="-122"/>
                <a:cs typeface="Arial" pitchFamily="34" charset="-120"/>
              </a:rPr>
              <a:t>4.2%</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New-product share of revenue today</a:t>
            </a:r>
            <a:endParaRPr lang="en-US" sz="1500" dirty="0"/>
          </a:p>
        </p:txBody>
      </p:sp>
      <p:sp>
        <p:nvSpPr>
          <p:cNvPr id="37" name="Text 35"/>
          <p:cNvSpPr txBox="1"/>
          <p:nvPr/>
        </p:nvSpPr>
        <p:spPr>
          <a:xfrm>
            <a:off x="109728" y="3794760"/>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The Board mandate, FY22-FY24</a:t>
            </a:r>
            <a:endParaRPr lang="en-US" sz="1100" dirty="0"/>
          </a:p>
        </p:txBody>
      </p:sp>
      <p:sp>
        <p:nvSpPr>
          <p:cNvPr id="38" name="Shape 36"/>
          <p:cNvSpPr/>
          <p:nvPr/>
        </p:nvSpPr>
        <p:spPr>
          <a:xfrm>
            <a:off x="109728" y="4050792"/>
            <a:ext cx="3813048" cy="1847088"/>
          </a:xfrm>
          <a:prstGeom prst="rect">
            <a:avLst/>
          </a:prstGeom>
          <a:solidFill>
            <a:srgbClr val="FFFFFF"/>
          </a:solidFill>
          <a:ln w="12700">
            <a:solidFill>
              <a:srgbClr val="046A38"/>
            </a:solidFill>
            <a:prstDash val="solid"/>
          </a:ln>
        </p:spPr>
      </p:sp>
      <p:sp>
        <p:nvSpPr>
          <p:cNvPr id="39" name="Text 37"/>
          <p:cNvSpPr txBox="1"/>
          <p:nvPr/>
        </p:nvSpPr>
        <p:spPr>
          <a:xfrm>
            <a:off x="228600" y="4096512"/>
            <a:ext cx="3611880" cy="1298448"/>
          </a:xfrm>
          <a:prstGeom prst="rect">
            <a:avLst/>
          </a:prstGeom>
          <a:noFill/>
          <a:ln/>
        </p:spPr>
        <p:txBody>
          <a:bodyPr wrap="square" lIns="0" tIns="0" rIns="0" bIns="0" rtlCol="0" anchor="t"/>
          <a:lstStyle/>
          <a:p>
            <a:pPr indent="0" marL="0">
              <a:spcAft>
                <a:spcPts val="100"/>
              </a:spcAft>
              <a:buNone/>
            </a:pPr>
            <a:r>
              <a:rPr lang="en-US" sz="840" b="1" dirty="0">
                <a:solidFill>
                  <a:srgbClr val="046A38"/>
                </a:solidFill>
                <a:latin typeface="Arial" pitchFamily="34" charset="0"/>
                <a:ea typeface="Arial" pitchFamily="34" charset="-122"/>
                <a:cs typeface="Arial" pitchFamily="34" charset="-120"/>
              </a:rPr>
              <a:t>Targets</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New-product revenue from under 5% to 30% of topline</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Company revenue toward Rs 900 Cr</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Categories that sell when concentrates do not</a:t>
            </a:r>
            <a:endParaRPr lang="en-US" sz="840" dirty="0"/>
          </a:p>
          <a:p>
            <a:pPr indent="0" marL="0">
              <a:spcAft>
                <a:spcPts val="100"/>
              </a:spcAft>
              <a:buNone/>
            </a:pPr>
            <a:r>
              <a:rPr lang="en-US" sz="840" b="1" dirty="0">
                <a:solidFill>
                  <a:srgbClr val="C0392B"/>
                </a:solidFill>
                <a:latin typeface="Arial" pitchFamily="34" charset="0"/>
                <a:ea typeface="Arial" pitchFamily="34" charset="-122"/>
                <a:cs typeface="Arial" pitchFamily="34" charset="-120"/>
              </a:rPr>
              <a:t>Constraints</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Do not dilute the mother brand</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Do not break distributor economics</a:t>
            </a:r>
            <a:endParaRPr lang="en-US" sz="840" dirty="0"/>
          </a:p>
          <a:p>
            <a:pPr marL="127000" indent="-127000">
              <a:spcAft>
                <a:spcPts val="100"/>
              </a:spcAft>
              <a:buSzPct val="100000"/>
              <a:buChar char="■"/>
            </a:pPr>
            <a:r>
              <a:rPr lang="en-US" sz="840" dirty="0">
                <a:solidFill>
                  <a:srgbClr val="000000"/>
                </a:solidFill>
                <a:latin typeface="Arial" pitchFamily="34" charset="0"/>
                <a:ea typeface="Arial" pitchFamily="34" charset="-122"/>
                <a:cs typeface="Arial" pitchFamily="34" charset="-120"/>
              </a:rPr>
              <a:t>Rs 75 Cr programme budget, capex-light</a:t>
            </a:r>
            <a:endParaRPr lang="en-US" sz="840" dirty="0"/>
          </a:p>
        </p:txBody>
      </p:sp>
      <p:sp>
        <p:nvSpPr>
          <p:cNvPr id="40" name="Shape 38"/>
          <p:cNvSpPr/>
          <p:nvPr/>
        </p:nvSpPr>
        <p:spPr>
          <a:xfrm>
            <a:off x="182880" y="5394960"/>
            <a:ext cx="3666744" cy="457200"/>
          </a:xfrm>
          <a:prstGeom prst="rect">
            <a:avLst/>
          </a:prstGeom>
          <a:solidFill>
            <a:srgbClr val="E3F1D0"/>
          </a:solidFill>
          <a:ln w="12700">
            <a:solidFill>
              <a:srgbClr val="E3F1D0"/>
            </a:solidFill>
            <a:prstDash val="solid"/>
          </a:ln>
        </p:spPr>
      </p:sp>
      <p:sp>
        <p:nvSpPr>
          <p:cNvPr id="41" name="Text 39"/>
          <p:cNvSpPr txBox="1"/>
          <p:nvPr/>
        </p:nvSpPr>
        <p:spPr>
          <a:xfrm>
            <a:off x="237744" y="5394960"/>
            <a:ext cx="3566160" cy="457200"/>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The MD's brief: </a:t>
            </a:r>
            <a:pPr indent="0" marL="0">
              <a:buNone/>
            </a:pPr>
            <a:r>
              <a:rPr lang="en-US" sz="720" i="1" dirty="0">
                <a:solidFill>
                  <a:srgbClr val="000000"/>
                </a:solidFill>
                <a:latin typeface="Arial" pitchFamily="34" charset="0"/>
                <a:ea typeface="Arial" pitchFamily="34" charset="-122"/>
                <a:cs typeface="Arial" pitchFamily="34" charset="-120"/>
              </a:rPr>
              <a:t>"Tell me which categories we earn the right to enter... and do not tell me what you think the consumer wants: go and ask them."</a:t>
            </a:r>
            <a:endParaRPr lang="en-US" sz="720" dirty="0"/>
          </a:p>
        </p:txBody>
      </p:sp>
      <p:sp>
        <p:nvSpPr>
          <p:cNvPr id="42" name="Text 40"/>
          <p:cNvSpPr txBox="1"/>
          <p:nvPr/>
        </p:nvSpPr>
        <p:spPr>
          <a:xfrm>
            <a:off x="4114800" y="749808"/>
            <a:ext cx="8001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Our answer, question by question</a:t>
            </a:r>
            <a:endParaRPr lang="en-US" sz="1100" dirty="0"/>
          </a:p>
        </p:txBody>
      </p:sp>
      <p:sp>
        <p:nvSpPr>
          <p:cNvPr id="43" name="Shape 41"/>
          <p:cNvSpPr/>
          <p:nvPr/>
        </p:nvSpPr>
        <p:spPr>
          <a:xfrm>
            <a:off x="4114800" y="1005840"/>
            <a:ext cx="7982712" cy="566928"/>
          </a:xfrm>
          <a:prstGeom prst="rect">
            <a:avLst/>
          </a:prstGeom>
          <a:solidFill>
            <a:srgbClr val="046A38"/>
          </a:solidFill>
          <a:ln w="12700">
            <a:solidFill>
              <a:srgbClr val="046A38"/>
            </a:solidFill>
            <a:prstDash val="solid"/>
          </a:ln>
        </p:spPr>
      </p:sp>
      <p:sp>
        <p:nvSpPr>
          <p:cNvPr id="44" name="Text 42"/>
          <p:cNvSpPr txBox="1"/>
          <p:nvPr/>
        </p:nvSpPr>
        <p:spPr>
          <a:xfrm>
            <a:off x="4206240" y="1005840"/>
            <a:ext cx="7818120" cy="566928"/>
          </a:xfrm>
          <a:prstGeom prst="rect">
            <a:avLst/>
          </a:prstGeom>
          <a:noFill/>
          <a:ln/>
        </p:spPr>
        <p:txBody>
          <a:bodyPr wrap="square" lIns="0" tIns="0" rIns="0" bIns="0" rtlCol="0" anchor="ctr"/>
          <a:lstStyle/>
          <a:p>
            <a:pPr indent="0" marL="0">
              <a:buNone/>
            </a:pPr>
            <a:r>
              <a:rPr lang="en-US" sz="860" b="1" dirty="0">
                <a:solidFill>
                  <a:srgbClr val="FFFFFF"/>
                </a:solidFill>
                <a:latin typeface="Arial" pitchFamily="34" charset="0"/>
                <a:ea typeface="Arial" pitchFamily="34" charset="-122"/>
                <a:cs typeface="Arial" pitchFamily="34" charset="-120"/>
              </a:rPr>
              <a:t>Governing thought: </a:t>
            </a:r>
            <a:pPr indent="0" marL="0">
              <a:buNone/>
            </a:pPr>
            <a:r>
              <a:rPr lang="en-US" sz="860" dirty="0">
                <a:solidFill>
                  <a:srgbClr val="FFFFFF"/>
                </a:solidFill>
                <a:latin typeface="Arial" pitchFamily="34" charset="0"/>
                <a:ea typeface="Arial" pitchFamily="34" charset="-122"/>
                <a:cs typeface="Arial" pitchFamily="34" charset="-120"/>
              </a:rPr>
              <a:t>earn the right in winter first. Launch winter premixes under Rasmitra in Q3 FY22 and spices under 'Swaad by Rasmitra' in Q4 FY22, sell through the kirana and our own distributors, and gate every rupee. Base case 18.5% new-product share in FY24; 30% only with stretch levers and a gated third category.</a:t>
            </a:r>
            <a:endParaRPr lang="en-US" sz="860" dirty="0"/>
          </a:p>
        </p:txBody>
      </p:sp>
      <p:sp>
        <p:nvSpPr>
          <p:cNvPr id="45" name="Shape 43"/>
          <p:cNvSpPr/>
          <p:nvPr/>
        </p:nvSpPr>
        <p:spPr>
          <a:xfrm>
            <a:off x="4114800" y="1664208"/>
            <a:ext cx="7982712" cy="493776"/>
          </a:xfrm>
          <a:prstGeom prst="rect">
            <a:avLst/>
          </a:prstGeom>
          <a:solidFill>
            <a:srgbClr val="F2F2F2"/>
          </a:solidFill>
          <a:ln w="12700">
            <a:solidFill>
              <a:srgbClr val="D0D0CE"/>
            </a:solidFill>
            <a:prstDash val="solid"/>
          </a:ln>
        </p:spPr>
      </p:sp>
      <p:sp>
        <p:nvSpPr>
          <p:cNvPr id="46" name="Shape 44"/>
          <p:cNvSpPr/>
          <p:nvPr/>
        </p:nvSpPr>
        <p:spPr>
          <a:xfrm>
            <a:off x="4178808" y="1755648"/>
            <a:ext cx="310896" cy="310896"/>
          </a:xfrm>
          <a:prstGeom prst="ellipse">
            <a:avLst/>
          </a:prstGeom>
          <a:solidFill>
            <a:srgbClr val="046A38"/>
          </a:solidFill>
          <a:ln w="12700">
            <a:solidFill>
              <a:srgbClr val="046A38"/>
            </a:solidFill>
            <a:prstDash val="solid"/>
          </a:ln>
        </p:spPr>
      </p:sp>
      <p:sp>
        <p:nvSpPr>
          <p:cNvPr id="47" name="Text 45"/>
          <p:cNvSpPr txBox="1"/>
          <p:nvPr/>
        </p:nvSpPr>
        <p:spPr>
          <a:xfrm>
            <a:off x="4178808" y="175564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1</a:t>
            </a:r>
            <a:endParaRPr lang="en-US" sz="884" dirty="0"/>
          </a:p>
        </p:txBody>
      </p:sp>
      <p:sp>
        <p:nvSpPr>
          <p:cNvPr id="48" name="Shape 46"/>
          <p:cNvSpPr/>
          <p:nvPr/>
        </p:nvSpPr>
        <p:spPr>
          <a:xfrm>
            <a:off x="4572000" y="1755648"/>
            <a:ext cx="310896" cy="310896"/>
          </a:xfrm>
          <a:prstGeom prst="ellipse">
            <a:avLst/>
          </a:prstGeom>
          <a:solidFill>
            <a:srgbClr val="0097A9"/>
          </a:solidFill>
          <a:ln w="12700">
            <a:solidFill>
              <a:srgbClr val="0097A9"/>
            </a:solidFill>
            <a:prstDash val="solid"/>
          </a:ln>
        </p:spPr>
      </p:sp>
      <p:pic>
        <p:nvPicPr>
          <p:cNvPr id="49" name="Image 0" descr="preencoded.png">    </p:cNvPr>
          <p:cNvPicPr>
            <a:picLocks noChangeAspect="1"/>
          </p:cNvPicPr>
          <p:nvPr/>
        </p:nvPicPr>
        <p:blipFill>
          <a:blip r:embed="rId1"/>
          <a:stretch>
            <a:fillRect/>
          </a:stretch>
        </p:blipFill>
        <p:spPr>
          <a:xfrm>
            <a:off x="4640397" y="1824045"/>
            <a:ext cx="174102" cy="174102"/>
          </a:xfrm>
          <a:prstGeom prst="rect">
            <a:avLst/>
          </a:prstGeom>
        </p:spPr>
      </p:pic>
      <p:sp>
        <p:nvSpPr>
          <p:cNvPr id="50" name="Text 47"/>
          <p:cNvSpPr txBox="1"/>
          <p:nvPr/>
        </p:nvSpPr>
        <p:spPr>
          <a:xfrm>
            <a:off x="4956048" y="1664208"/>
            <a:ext cx="1417320" cy="493776"/>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Where to play</a:t>
            </a:r>
            <a:endParaRPr lang="en-US" sz="900" dirty="0"/>
          </a:p>
        </p:txBody>
      </p:sp>
      <p:sp>
        <p:nvSpPr>
          <p:cNvPr id="51" name="Text 48"/>
          <p:cNvSpPr txBox="1"/>
          <p:nvPr/>
        </p:nvSpPr>
        <p:spPr>
          <a:xfrm>
            <a:off x="6400800" y="1664208"/>
            <a:ext cx="4983480" cy="493776"/>
          </a:xfrm>
          <a:prstGeom prst="rect">
            <a:avLst/>
          </a:prstGeom>
          <a:noFill/>
          <a:ln/>
        </p:spPr>
        <p:txBody>
          <a:bodyPr wrap="square" lIns="0" tIns="0" rIns="0" bIns="0" rtlCol="0" anchor="ctr"/>
          <a:lstStyle/>
          <a:p>
            <a:pPr indent="0" marL="0">
              <a:buNone/>
            </a:pPr>
            <a:r>
              <a:rPr lang="en-US" sz="790" dirty="0">
                <a:solidFill>
                  <a:srgbClr val="000000"/>
                </a:solidFill>
                <a:latin typeface="Arial" pitchFamily="34" charset="0"/>
                <a:ea typeface="Arial" pitchFamily="34" charset="-122"/>
                <a:cs typeface="Arial" pitchFamily="34" charset="-120"/>
              </a:rPr>
              <a:t>Four of eight categories pass the Board's constraints. Launch premixes and spices; hold RTC (FGD pick) and pickles as a gated FY23 option; refuse namkeen, staples, dairy and RTD.</a:t>
            </a:r>
            <a:endParaRPr lang="en-US" sz="790" dirty="0"/>
          </a:p>
        </p:txBody>
      </p:sp>
      <p:sp>
        <p:nvSpPr>
          <p:cNvPr id="52" name="Text 49"/>
          <p:cNvSpPr txBox="1"/>
          <p:nvPr/>
        </p:nvSpPr>
        <p:spPr>
          <a:xfrm>
            <a:off x="11430000" y="1664208"/>
            <a:ext cx="640080" cy="493776"/>
          </a:xfrm>
          <a:prstGeom prst="rect">
            <a:avLst/>
          </a:prstGeom>
          <a:noFill/>
          <a:ln/>
        </p:spPr>
        <p:txBody>
          <a:bodyPr wrap="square" lIns="0" tIns="0" rIns="0" bIns="0" rtlCol="0" anchor="ctr"/>
          <a:lstStyle/>
          <a:p>
            <a:pPr algn="ctr" indent="0" marL="0">
              <a:buNone/>
            </a:pPr>
            <a:r>
              <a:rPr lang="en-US" sz="650" dirty="0">
                <a:solidFill>
                  <a:srgbClr val="53565A"/>
                </a:solidFill>
                <a:latin typeface="Arial" pitchFamily="34" charset="0"/>
                <a:ea typeface="Arial" pitchFamily="34" charset="-122"/>
                <a:cs typeface="Arial" pitchFamily="34" charset="-120"/>
              </a:rPr>
              <a:t>Slide</a:t>
            </a:r>
            <a:endParaRPr lang="en-US" sz="650" dirty="0"/>
          </a:p>
          <a:p>
            <a:pPr algn="ctr" indent="0" marL="0">
              <a:buNone/>
            </a:pPr>
            <a:r>
              <a:rPr lang="en-US" sz="900" b="1" dirty="0">
                <a:solidFill>
                  <a:srgbClr val="046A38"/>
                </a:solidFill>
                <a:latin typeface="Arial" pitchFamily="34" charset="0"/>
                <a:ea typeface="Arial" pitchFamily="34" charset="-122"/>
                <a:cs typeface="Arial" pitchFamily="34" charset="-120"/>
              </a:rPr>
              <a:t>3, 4</a:t>
            </a:r>
            <a:endParaRPr lang="en-US" sz="650" dirty="0"/>
          </a:p>
        </p:txBody>
      </p:sp>
      <p:sp>
        <p:nvSpPr>
          <p:cNvPr id="53" name="Shape 50"/>
          <p:cNvSpPr/>
          <p:nvPr/>
        </p:nvSpPr>
        <p:spPr>
          <a:xfrm>
            <a:off x="4114800" y="2212848"/>
            <a:ext cx="7982712" cy="493776"/>
          </a:xfrm>
          <a:prstGeom prst="rect">
            <a:avLst/>
          </a:prstGeom>
          <a:solidFill>
            <a:srgbClr val="FFFFFF"/>
          </a:solidFill>
          <a:ln w="12700">
            <a:solidFill>
              <a:srgbClr val="D0D0CE"/>
            </a:solidFill>
            <a:prstDash val="solid"/>
          </a:ln>
        </p:spPr>
      </p:sp>
      <p:sp>
        <p:nvSpPr>
          <p:cNvPr id="54" name="Shape 51"/>
          <p:cNvSpPr/>
          <p:nvPr/>
        </p:nvSpPr>
        <p:spPr>
          <a:xfrm>
            <a:off x="4178808" y="2304288"/>
            <a:ext cx="310896" cy="310896"/>
          </a:xfrm>
          <a:prstGeom prst="ellipse">
            <a:avLst/>
          </a:prstGeom>
          <a:solidFill>
            <a:srgbClr val="046A38"/>
          </a:solidFill>
          <a:ln w="12700">
            <a:solidFill>
              <a:srgbClr val="046A38"/>
            </a:solidFill>
            <a:prstDash val="solid"/>
          </a:ln>
        </p:spPr>
      </p:sp>
      <p:sp>
        <p:nvSpPr>
          <p:cNvPr id="55" name="Text 52"/>
          <p:cNvSpPr txBox="1"/>
          <p:nvPr/>
        </p:nvSpPr>
        <p:spPr>
          <a:xfrm>
            <a:off x="4178808" y="230428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2</a:t>
            </a:r>
            <a:endParaRPr lang="en-US" sz="884" dirty="0"/>
          </a:p>
        </p:txBody>
      </p:sp>
      <p:sp>
        <p:nvSpPr>
          <p:cNvPr id="56" name="Shape 53"/>
          <p:cNvSpPr/>
          <p:nvPr/>
        </p:nvSpPr>
        <p:spPr>
          <a:xfrm>
            <a:off x="4572000" y="2304288"/>
            <a:ext cx="310896" cy="310896"/>
          </a:xfrm>
          <a:prstGeom prst="ellipse">
            <a:avLst/>
          </a:prstGeom>
          <a:solidFill>
            <a:srgbClr val="0097A9"/>
          </a:solidFill>
          <a:ln w="12700">
            <a:solidFill>
              <a:srgbClr val="0097A9"/>
            </a:solidFill>
            <a:prstDash val="solid"/>
          </a:ln>
        </p:spPr>
      </p:sp>
      <p:pic>
        <p:nvPicPr>
          <p:cNvPr id="57" name="Image 1" descr="preencoded.png">    </p:cNvPr>
          <p:cNvPicPr>
            <a:picLocks noChangeAspect="1"/>
          </p:cNvPicPr>
          <p:nvPr/>
        </p:nvPicPr>
        <p:blipFill>
          <a:blip r:embed="rId2"/>
          <a:stretch>
            <a:fillRect/>
          </a:stretch>
        </p:blipFill>
        <p:spPr>
          <a:xfrm>
            <a:off x="4640397" y="2372685"/>
            <a:ext cx="174102" cy="174102"/>
          </a:xfrm>
          <a:prstGeom prst="rect">
            <a:avLst/>
          </a:prstGeom>
        </p:spPr>
      </p:pic>
      <p:sp>
        <p:nvSpPr>
          <p:cNvPr id="58" name="Text 54"/>
          <p:cNvSpPr txBox="1"/>
          <p:nvPr/>
        </p:nvSpPr>
        <p:spPr>
          <a:xfrm>
            <a:off x="4956048" y="2212848"/>
            <a:ext cx="1417320" cy="493776"/>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What to launch</a:t>
            </a:r>
            <a:endParaRPr lang="en-US" sz="900" dirty="0"/>
          </a:p>
        </p:txBody>
      </p:sp>
      <p:sp>
        <p:nvSpPr>
          <p:cNvPr id="59" name="Text 55"/>
          <p:cNvSpPr txBox="1"/>
          <p:nvPr/>
        </p:nvSpPr>
        <p:spPr>
          <a:xfrm>
            <a:off x="6400800" y="2212848"/>
            <a:ext cx="4983480" cy="493776"/>
          </a:xfrm>
          <a:prstGeom prst="rect">
            <a:avLst/>
          </a:prstGeom>
          <a:noFill/>
          <a:ln/>
        </p:spPr>
        <p:txBody>
          <a:bodyPr wrap="square" lIns="0" tIns="0" rIns="0" bIns="0" rtlCol="0" anchor="ctr"/>
          <a:lstStyle/>
          <a:p>
            <a:pPr indent="0" marL="0">
              <a:buNone/>
            </a:pPr>
            <a:r>
              <a:rPr lang="en-US" sz="790" dirty="0">
                <a:solidFill>
                  <a:srgbClr val="000000"/>
                </a:solidFill>
                <a:latin typeface="Arial" pitchFamily="34" charset="0"/>
                <a:ea typeface="Arial" pitchFamily="34" charset="-122"/>
                <a:cs typeface="Arial" pitchFamily="34" charset="-120"/>
              </a:rPr>
              <a:t>8 packs plus a low-sugar variant on a Rs 10 / 49 / 99 ladder. Mother brand on the winter drinks, endorsed 'Swaad' on spices. Make premixes on idle Q3 lines; buy the spice grind.</a:t>
            </a:r>
            <a:endParaRPr lang="en-US" sz="790" dirty="0"/>
          </a:p>
        </p:txBody>
      </p:sp>
      <p:sp>
        <p:nvSpPr>
          <p:cNvPr id="60" name="Text 56"/>
          <p:cNvSpPr txBox="1"/>
          <p:nvPr/>
        </p:nvSpPr>
        <p:spPr>
          <a:xfrm>
            <a:off x="11430000" y="2212848"/>
            <a:ext cx="640080" cy="493776"/>
          </a:xfrm>
          <a:prstGeom prst="rect">
            <a:avLst/>
          </a:prstGeom>
          <a:noFill/>
          <a:ln/>
        </p:spPr>
        <p:txBody>
          <a:bodyPr wrap="square" lIns="0" tIns="0" rIns="0" bIns="0" rtlCol="0" anchor="ctr"/>
          <a:lstStyle/>
          <a:p>
            <a:pPr algn="ctr" indent="0" marL="0">
              <a:buNone/>
            </a:pPr>
            <a:r>
              <a:rPr lang="en-US" sz="650" dirty="0">
                <a:solidFill>
                  <a:srgbClr val="53565A"/>
                </a:solidFill>
                <a:latin typeface="Arial" pitchFamily="34" charset="0"/>
                <a:ea typeface="Arial" pitchFamily="34" charset="-122"/>
                <a:cs typeface="Arial" pitchFamily="34" charset="-120"/>
              </a:rPr>
              <a:t>Slide</a:t>
            </a:r>
            <a:endParaRPr lang="en-US" sz="650" dirty="0"/>
          </a:p>
          <a:p>
            <a:pPr algn="ctr" indent="0" marL="0">
              <a:buNone/>
            </a:pPr>
            <a:r>
              <a:rPr lang="en-US" sz="900" b="1" dirty="0">
                <a:solidFill>
                  <a:srgbClr val="046A38"/>
                </a:solidFill>
                <a:latin typeface="Arial" pitchFamily="34" charset="0"/>
                <a:ea typeface="Arial" pitchFamily="34" charset="-122"/>
                <a:cs typeface="Arial" pitchFamily="34" charset="-120"/>
              </a:rPr>
              <a:t>5, 6</a:t>
            </a:r>
            <a:endParaRPr lang="en-US" sz="650" dirty="0"/>
          </a:p>
        </p:txBody>
      </p:sp>
      <p:sp>
        <p:nvSpPr>
          <p:cNvPr id="61" name="Shape 57"/>
          <p:cNvSpPr/>
          <p:nvPr/>
        </p:nvSpPr>
        <p:spPr>
          <a:xfrm>
            <a:off x="4114800" y="2761488"/>
            <a:ext cx="7982712" cy="493776"/>
          </a:xfrm>
          <a:prstGeom prst="rect">
            <a:avLst/>
          </a:prstGeom>
          <a:solidFill>
            <a:srgbClr val="F2F2F2"/>
          </a:solidFill>
          <a:ln w="12700">
            <a:solidFill>
              <a:srgbClr val="D0D0CE"/>
            </a:solidFill>
            <a:prstDash val="solid"/>
          </a:ln>
        </p:spPr>
      </p:sp>
      <p:sp>
        <p:nvSpPr>
          <p:cNvPr id="62" name="Shape 58"/>
          <p:cNvSpPr/>
          <p:nvPr/>
        </p:nvSpPr>
        <p:spPr>
          <a:xfrm>
            <a:off x="4178808" y="2852928"/>
            <a:ext cx="310896" cy="310896"/>
          </a:xfrm>
          <a:prstGeom prst="ellipse">
            <a:avLst/>
          </a:prstGeom>
          <a:solidFill>
            <a:srgbClr val="26890D"/>
          </a:solidFill>
          <a:ln w="12700">
            <a:solidFill>
              <a:srgbClr val="26890D"/>
            </a:solidFill>
            <a:prstDash val="solid"/>
          </a:ln>
        </p:spPr>
      </p:sp>
      <p:sp>
        <p:nvSpPr>
          <p:cNvPr id="63" name="Text 59"/>
          <p:cNvSpPr txBox="1"/>
          <p:nvPr/>
        </p:nvSpPr>
        <p:spPr>
          <a:xfrm>
            <a:off x="4178808" y="285292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3</a:t>
            </a:r>
            <a:endParaRPr lang="en-US" sz="884" dirty="0"/>
          </a:p>
        </p:txBody>
      </p:sp>
      <p:sp>
        <p:nvSpPr>
          <p:cNvPr id="64" name="Shape 60"/>
          <p:cNvSpPr/>
          <p:nvPr/>
        </p:nvSpPr>
        <p:spPr>
          <a:xfrm>
            <a:off x="4572000" y="2852928"/>
            <a:ext cx="310896" cy="310896"/>
          </a:xfrm>
          <a:prstGeom prst="ellipse">
            <a:avLst/>
          </a:prstGeom>
          <a:solidFill>
            <a:srgbClr val="0097A9"/>
          </a:solidFill>
          <a:ln w="12700">
            <a:solidFill>
              <a:srgbClr val="0097A9"/>
            </a:solidFill>
            <a:prstDash val="solid"/>
          </a:ln>
        </p:spPr>
      </p:sp>
      <p:pic>
        <p:nvPicPr>
          <p:cNvPr id="65" name="Image 2" descr="preencoded.png">    </p:cNvPr>
          <p:cNvPicPr>
            <a:picLocks noChangeAspect="1"/>
          </p:cNvPicPr>
          <p:nvPr/>
        </p:nvPicPr>
        <p:blipFill>
          <a:blip r:embed="rId3"/>
          <a:stretch>
            <a:fillRect/>
          </a:stretch>
        </p:blipFill>
        <p:spPr>
          <a:xfrm>
            <a:off x="4640397" y="2921325"/>
            <a:ext cx="174102" cy="174102"/>
          </a:xfrm>
          <a:prstGeom prst="rect">
            <a:avLst/>
          </a:prstGeom>
        </p:spPr>
      </p:pic>
      <p:sp>
        <p:nvSpPr>
          <p:cNvPr id="66" name="Text 61"/>
          <p:cNvSpPr txBox="1"/>
          <p:nvPr/>
        </p:nvSpPr>
        <p:spPr>
          <a:xfrm>
            <a:off x="4956048" y="2761488"/>
            <a:ext cx="1417320" cy="493776"/>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How to take it to market</a:t>
            </a:r>
            <a:endParaRPr lang="en-US" sz="900" dirty="0"/>
          </a:p>
        </p:txBody>
      </p:sp>
      <p:sp>
        <p:nvSpPr>
          <p:cNvPr id="67" name="Text 62"/>
          <p:cNvSpPr txBox="1"/>
          <p:nvPr/>
        </p:nvSpPr>
        <p:spPr>
          <a:xfrm>
            <a:off x="6400800" y="2761488"/>
            <a:ext cx="4983480" cy="493776"/>
          </a:xfrm>
          <a:prstGeom prst="rect">
            <a:avLst/>
          </a:prstGeom>
          <a:noFill/>
          <a:ln/>
        </p:spPr>
        <p:txBody>
          <a:bodyPr wrap="square" lIns="0" tIns="0" rIns="0" bIns="0" rtlCol="0" anchor="ctr"/>
          <a:lstStyle/>
          <a:p>
            <a:pPr indent="0" marL="0">
              <a:buNone/>
            </a:pPr>
            <a:r>
              <a:rPr lang="en-US" sz="790" dirty="0">
                <a:solidFill>
                  <a:srgbClr val="000000"/>
                </a:solidFill>
                <a:latin typeface="Arial" pitchFamily="34" charset="0"/>
                <a:ea typeface="Arial" pitchFamily="34" charset="-122"/>
                <a:cs typeface="Arial" pitchFamily="34" charset="-120"/>
              </a:rPr>
              <a:t>GT-first with Rs 10 trial packs; the same 390 distributors service dark stores; quick-commerce gets regular packs only at per-gram parity. Rs 35 Cr launch A&amp;P, BTL-led.</a:t>
            </a:r>
            <a:endParaRPr lang="en-US" sz="790" dirty="0"/>
          </a:p>
        </p:txBody>
      </p:sp>
      <p:sp>
        <p:nvSpPr>
          <p:cNvPr id="68" name="Text 63"/>
          <p:cNvSpPr txBox="1"/>
          <p:nvPr/>
        </p:nvSpPr>
        <p:spPr>
          <a:xfrm>
            <a:off x="11430000" y="2761488"/>
            <a:ext cx="640080" cy="493776"/>
          </a:xfrm>
          <a:prstGeom prst="rect">
            <a:avLst/>
          </a:prstGeom>
          <a:noFill/>
          <a:ln/>
        </p:spPr>
        <p:txBody>
          <a:bodyPr wrap="square" lIns="0" tIns="0" rIns="0" bIns="0" rtlCol="0" anchor="ctr"/>
          <a:lstStyle/>
          <a:p>
            <a:pPr algn="ctr" indent="0" marL="0">
              <a:buNone/>
            </a:pPr>
            <a:r>
              <a:rPr lang="en-US" sz="650" dirty="0">
                <a:solidFill>
                  <a:srgbClr val="53565A"/>
                </a:solidFill>
                <a:latin typeface="Arial" pitchFamily="34" charset="0"/>
                <a:ea typeface="Arial" pitchFamily="34" charset="-122"/>
                <a:cs typeface="Arial" pitchFamily="34" charset="-120"/>
              </a:rPr>
              <a:t>Slide</a:t>
            </a:r>
            <a:endParaRPr lang="en-US" sz="650" dirty="0"/>
          </a:p>
          <a:p>
            <a:pPr algn="ctr" indent="0" marL="0">
              <a:buNone/>
            </a:pPr>
            <a:r>
              <a:rPr lang="en-US" sz="900" b="1" dirty="0">
                <a:solidFill>
                  <a:srgbClr val="046A38"/>
                </a:solidFill>
                <a:latin typeface="Arial" pitchFamily="34" charset="0"/>
                <a:ea typeface="Arial" pitchFamily="34" charset="-122"/>
                <a:cs typeface="Arial" pitchFamily="34" charset="-120"/>
              </a:rPr>
              <a:t>7, 8</a:t>
            </a:r>
            <a:endParaRPr lang="en-US" sz="650" dirty="0"/>
          </a:p>
        </p:txBody>
      </p:sp>
      <p:sp>
        <p:nvSpPr>
          <p:cNvPr id="69" name="Shape 64"/>
          <p:cNvSpPr/>
          <p:nvPr/>
        </p:nvSpPr>
        <p:spPr>
          <a:xfrm>
            <a:off x="4114800" y="3310128"/>
            <a:ext cx="7982712" cy="493776"/>
          </a:xfrm>
          <a:prstGeom prst="rect">
            <a:avLst/>
          </a:prstGeom>
          <a:solidFill>
            <a:srgbClr val="FFFFFF"/>
          </a:solidFill>
          <a:ln w="12700">
            <a:solidFill>
              <a:srgbClr val="D0D0CE"/>
            </a:solidFill>
            <a:prstDash val="solid"/>
          </a:ln>
        </p:spPr>
      </p:sp>
      <p:sp>
        <p:nvSpPr>
          <p:cNvPr id="70" name="Shape 65"/>
          <p:cNvSpPr/>
          <p:nvPr/>
        </p:nvSpPr>
        <p:spPr>
          <a:xfrm>
            <a:off x="4178808" y="3401568"/>
            <a:ext cx="310896" cy="310896"/>
          </a:xfrm>
          <a:prstGeom prst="ellipse">
            <a:avLst/>
          </a:prstGeom>
          <a:solidFill>
            <a:srgbClr val="26890D"/>
          </a:solidFill>
          <a:ln w="12700">
            <a:solidFill>
              <a:srgbClr val="26890D"/>
            </a:solidFill>
            <a:prstDash val="solid"/>
          </a:ln>
        </p:spPr>
      </p:sp>
      <p:sp>
        <p:nvSpPr>
          <p:cNvPr id="71" name="Text 66"/>
          <p:cNvSpPr txBox="1"/>
          <p:nvPr/>
        </p:nvSpPr>
        <p:spPr>
          <a:xfrm>
            <a:off x="4178808" y="340156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4</a:t>
            </a:r>
            <a:endParaRPr lang="en-US" sz="884" dirty="0"/>
          </a:p>
        </p:txBody>
      </p:sp>
      <p:sp>
        <p:nvSpPr>
          <p:cNvPr id="72" name="Shape 67"/>
          <p:cNvSpPr/>
          <p:nvPr/>
        </p:nvSpPr>
        <p:spPr>
          <a:xfrm>
            <a:off x="4572000" y="3401568"/>
            <a:ext cx="310896" cy="310896"/>
          </a:xfrm>
          <a:prstGeom prst="ellipse">
            <a:avLst/>
          </a:prstGeom>
          <a:solidFill>
            <a:srgbClr val="0097A9"/>
          </a:solidFill>
          <a:ln w="12700">
            <a:solidFill>
              <a:srgbClr val="0097A9"/>
            </a:solidFill>
            <a:prstDash val="solid"/>
          </a:ln>
        </p:spPr>
      </p:sp>
      <p:pic>
        <p:nvPicPr>
          <p:cNvPr id="73" name="Image 3" descr="preencoded.png">    </p:cNvPr>
          <p:cNvPicPr>
            <a:picLocks noChangeAspect="1"/>
          </p:cNvPicPr>
          <p:nvPr/>
        </p:nvPicPr>
        <p:blipFill>
          <a:blip r:embed="rId4"/>
          <a:stretch>
            <a:fillRect/>
          </a:stretch>
        </p:blipFill>
        <p:spPr>
          <a:xfrm>
            <a:off x="4640397" y="3469965"/>
            <a:ext cx="174102" cy="174102"/>
          </a:xfrm>
          <a:prstGeom prst="rect">
            <a:avLst/>
          </a:prstGeom>
        </p:spPr>
      </p:pic>
      <p:sp>
        <p:nvSpPr>
          <p:cNvPr id="74" name="Text 68"/>
          <p:cNvSpPr txBox="1"/>
          <p:nvPr/>
        </p:nvSpPr>
        <p:spPr>
          <a:xfrm>
            <a:off x="4956048" y="3310128"/>
            <a:ext cx="1417320" cy="493776"/>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How to get there on time</a:t>
            </a:r>
            <a:endParaRPr lang="en-US" sz="900" dirty="0"/>
          </a:p>
        </p:txBody>
      </p:sp>
      <p:sp>
        <p:nvSpPr>
          <p:cNvPr id="75" name="Text 69"/>
          <p:cNvSpPr txBox="1"/>
          <p:nvPr/>
        </p:nvSpPr>
        <p:spPr>
          <a:xfrm>
            <a:off x="6400800" y="3310128"/>
            <a:ext cx="4983480" cy="493776"/>
          </a:xfrm>
          <a:prstGeom prst="rect">
            <a:avLst/>
          </a:prstGeom>
          <a:noFill/>
          <a:ln/>
        </p:spPr>
        <p:txBody>
          <a:bodyPr wrap="square" lIns="0" tIns="0" rIns="0" bIns="0" rtlCol="0" anchor="ctr"/>
          <a:lstStyle/>
          <a:p>
            <a:pPr indent="0" marL="0">
              <a:buNone/>
            </a:pPr>
            <a:r>
              <a:rPr lang="en-US" sz="790" dirty="0">
                <a:solidFill>
                  <a:srgbClr val="000000"/>
                </a:solidFill>
                <a:latin typeface="Arial" pitchFamily="34" charset="0"/>
                <a:ea typeface="Arial" pitchFamily="34" charset="-122"/>
                <a:cs typeface="Arial" pitchFamily="34" charset="-120"/>
              </a:rPr>
              <a:t>A 6-month stage-gate (from ~11) with a kill rule, owner and budget tranche at every gate; a monthly Launch Council chaired by the MD.</a:t>
            </a:r>
            <a:endParaRPr lang="en-US" sz="790" dirty="0"/>
          </a:p>
        </p:txBody>
      </p:sp>
      <p:sp>
        <p:nvSpPr>
          <p:cNvPr id="76" name="Text 70"/>
          <p:cNvSpPr txBox="1"/>
          <p:nvPr/>
        </p:nvSpPr>
        <p:spPr>
          <a:xfrm>
            <a:off x="11430000" y="3310128"/>
            <a:ext cx="640080" cy="493776"/>
          </a:xfrm>
          <a:prstGeom prst="rect">
            <a:avLst/>
          </a:prstGeom>
          <a:noFill/>
          <a:ln/>
        </p:spPr>
        <p:txBody>
          <a:bodyPr wrap="square" lIns="0" tIns="0" rIns="0" bIns="0" rtlCol="0" anchor="ctr"/>
          <a:lstStyle/>
          <a:p>
            <a:pPr algn="ctr" indent="0" marL="0">
              <a:buNone/>
            </a:pPr>
            <a:r>
              <a:rPr lang="en-US" sz="650" dirty="0">
                <a:solidFill>
                  <a:srgbClr val="53565A"/>
                </a:solidFill>
                <a:latin typeface="Arial" pitchFamily="34" charset="0"/>
                <a:ea typeface="Arial" pitchFamily="34" charset="-122"/>
                <a:cs typeface="Arial" pitchFamily="34" charset="-120"/>
              </a:rPr>
              <a:t>Slide</a:t>
            </a:r>
            <a:endParaRPr lang="en-US" sz="650" dirty="0"/>
          </a:p>
          <a:p>
            <a:pPr algn="ctr" indent="0" marL="0">
              <a:buNone/>
            </a:pPr>
            <a:r>
              <a:rPr lang="en-US" sz="900" b="1" dirty="0">
                <a:solidFill>
                  <a:srgbClr val="046A38"/>
                </a:solidFill>
                <a:latin typeface="Arial" pitchFamily="34" charset="0"/>
                <a:ea typeface="Arial" pitchFamily="34" charset="-122"/>
                <a:cs typeface="Arial" pitchFamily="34" charset="-120"/>
              </a:rPr>
              <a:t>9</a:t>
            </a:r>
            <a:endParaRPr lang="en-US" sz="650" dirty="0"/>
          </a:p>
        </p:txBody>
      </p:sp>
      <p:sp>
        <p:nvSpPr>
          <p:cNvPr id="77" name="Shape 71"/>
          <p:cNvSpPr/>
          <p:nvPr/>
        </p:nvSpPr>
        <p:spPr>
          <a:xfrm>
            <a:off x="4114800" y="3858768"/>
            <a:ext cx="7982712" cy="493776"/>
          </a:xfrm>
          <a:prstGeom prst="rect">
            <a:avLst/>
          </a:prstGeom>
          <a:solidFill>
            <a:srgbClr val="F2F2F2"/>
          </a:solidFill>
          <a:ln w="12700">
            <a:solidFill>
              <a:srgbClr val="D0D0CE"/>
            </a:solidFill>
            <a:prstDash val="solid"/>
          </a:ln>
        </p:spPr>
      </p:sp>
      <p:sp>
        <p:nvSpPr>
          <p:cNvPr id="78" name="Shape 72"/>
          <p:cNvSpPr/>
          <p:nvPr/>
        </p:nvSpPr>
        <p:spPr>
          <a:xfrm>
            <a:off x="4178808" y="3950208"/>
            <a:ext cx="310896" cy="310896"/>
          </a:xfrm>
          <a:prstGeom prst="ellipse">
            <a:avLst/>
          </a:prstGeom>
          <a:solidFill>
            <a:srgbClr val="86BC25"/>
          </a:solidFill>
          <a:ln w="12700">
            <a:solidFill>
              <a:srgbClr val="86BC25"/>
            </a:solidFill>
            <a:prstDash val="solid"/>
          </a:ln>
        </p:spPr>
      </p:sp>
      <p:sp>
        <p:nvSpPr>
          <p:cNvPr id="79" name="Text 73"/>
          <p:cNvSpPr txBox="1"/>
          <p:nvPr/>
        </p:nvSpPr>
        <p:spPr>
          <a:xfrm>
            <a:off x="4178808" y="3950208"/>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5</a:t>
            </a:r>
            <a:endParaRPr lang="en-US" sz="884" dirty="0"/>
          </a:p>
        </p:txBody>
      </p:sp>
      <p:sp>
        <p:nvSpPr>
          <p:cNvPr id="80" name="Shape 74"/>
          <p:cNvSpPr/>
          <p:nvPr/>
        </p:nvSpPr>
        <p:spPr>
          <a:xfrm>
            <a:off x="4572000" y="3950208"/>
            <a:ext cx="310896" cy="310896"/>
          </a:xfrm>
          <a:prstGeom prst="ellipse">
            <a:avLst/>
          </a:prstGeom>
          <a:solidFill>
            <a:srgbClr val="0097A9"/>
          </a:solidFill>
          <a:ln w="12700">
            <a:solidFill>
              <a:srgbClr val="0097A9"/>
            </a:solidFill>
            <a:prstDash val="solid"/>
          </a:ln>
        </p:spPr>
      </p:sp>
      <p:pic>
        <p:nvPicPr>
          <p:cNvPr id="81" name="Image 4" descr="preencoded.png">    </p:cNvPr>
          <p:cNvPicPr>
            <a:picLocks noChangeAspect="1"/>
          </p:cNvPicPr>
          <p:nvPr/>
        </p:nvPicPr>
        <p:blipFill>
          <a:blip r:embed="rId5"/>
          <a:stretch>
            <a:fillRect/>
          </a:stretch>
        </p:blipFill>
        <p:spPr>
          <a:xfrm>
            <a:off x="4640397" y="4018605"/>
            <a:ext cx="174102" cy="174102"/>
          </a:xfrm>
          <a:prstGeom prst="rect">
            <a:avLst/>
          </a:prstGeom>
        </p:spPr>
      </p:pic>
      <p:sp>
        <p:nvSpPr>
          <p:cNvPr id="82" name="Text 75"/>
          <p:cNvSpPr txBox="1"/>
          <p:nvPr/>
        </p:nvSpPr>
        <p:spPr>
          <a:xfrm>
            <a:off x="4956048" y="3858768"/>
            <a:ext cx="1417320" cy="493776"/>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What it is worth</a:t>
            </a:r>
            <a:endParaRPr lang="en-US" sz="900" dirty="0"/>
          </a:p>
        </p:txBody>
      </p:sp>
      <p:sp>
        <p:nvSpPr>
          <p:cNvPr id="83" name="Text 76"/>
          <p:cNvSpPr txBox="1"/>
          <p:nvPr/>
        </p:nvSpPr>
        <p:spPr>
          <a:xfrm>
            <a:off x="6400800" y="3858768"/>
            <a:ext cx="4983480" cy="493776"/>
          </a:xfrm>
          <a:prstGeom prst="rect">
            <a:avLst/>
          </a:prstGeom>
          <a:noFill/>
          <a:ln/>
        </p:spPr>
        <p:txBody>
          <a:bodyPr wrap="square" lIns="0" tIns="0" rIns="0" bIns="0" rtlCol="0" anchor="ctr"/>
          <a:lstStyle/>
          <a:p>
            <a:pPr indent="0" marL="0">
              <a:buNone/>
            </a:pPr>
            <a:r>
              <a:rPr lang="en-US" sz="790" dirty="0">
                <a:solidFill>
                  <a:srgbClr val="000000"/>
                </a:solidFill>
                <a:latin typeface="Arial" pitchFamily="34" charset="0"/>
                <a:ea typeface="Arial" pitchFamily="34" charset="-122"/>
                <a:cs typeface="Arial" pitchFamily="34" charset="-120"/>
              </a:rPr>
              <a:t>Rs 108.5 Cr new-category sales in FY24; company Rs 757 Cr; base pays back in FY26E; only Rs 52 Cr of the Rs 75 Cr is spent, Rs 5 Cr of it capex.</a:t>
            </a:r>
            <a:endParaRPr lang="en-US" sz="790" dirty="0"/>
          </a:p>
        </p:txBody>
      </p:sp>
      <p:sp>
        <p:nvSpPr>
          <p:cNvPr id="84" name="Text 77"/>
          <p:cNvSpPr txBox="1"/>
          <p:nvPr/>
        </p:nvSpPr>
        <p:spPr>
          <a:xfrm>
            <a:off x="11430000" y="3858768"/>
            <a:ext cx="640080" cy="493776"/>
          </a:xfrm>
          <a:prstGeom prst="rect">
            <a:avLst/>
          </a:prstGeom>
          <a:noFill/>
          <a:ln/>
        </p:spPr>
        <p:txBody>
          <a:bodyPr wrap="square" lIns="0" tIns="0" rIns="0" bIns="0" rtlCol="0" anchor="ctr"/>
          <a:lstStyle/>
          <a:p>
            <a:pPr algn="ctr" indent="0" marL="0">
              <a:buNone/>
            </a:pPr>
            <a:r>
              <a:rPr lang="en-US" sz="650" dirty="0">
                <a:solidFill>
                  <a:srgbClr val="53565A"/>
                </a:solidFill>
                <a:latin typeface="Arial" pitchFamily="34" charset="0"/>
                <a:ea typeface="Arial" pitchFamily="34" charset="-122"/>
                <a:cs typeface="Arial" pitchFamily="34" charset="-120"/>
              </a:rPr>
              <a:t>Slide</a:t>
            </a:r>
            <a:endParaRPr lang="en-US" sz="650" dirty="0"/>
          </a:p>
          <a:p>
            <a:pPr algn="ctr" indent="0" marL="0">
              <a:buNone/>
            </a:pPr>
            <a:r>
              <a:rPr lang="en-US" sz="900" b="1" dirty="0">
                <a:solidFill>
                  <a:srgbClr val="046A38"/>
                </a:solidFill>
                <a:latin typeface="Arial" pitchFamily="34" charset="0"/>
                <a:ea typeface="Arial" pitchFamily="34" charset="-122"/>
                <a:cs typeface="Arial" pitchFamily="34" charset="-120"/>
              </a:rPr>
              <a:t>10-12</a:t>
            </a:r>
            <a:endParaRPr lang="en-US" sz="650" dirty="0"/>
          </a:p>
        </p:txBody>
      </p:sp>
      <p:sp>
        <p:nvSpPr>
          <p:cNvPr id="85" name="Text 78"/>
          <p:cNvSpPr txBox="1"/>
          <p:nvPr/>
        </p:nvSpPr>
        <p:spPr>
          <a:xfrm>
            <a:off x="4114800" y="4443984"/>
            <a:ext cx="8001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What it adds up to, FY24</a:t>
            </a:r>
            <a:endParaRPr lang="en-US" sz="1100" dirty="0"/>
          </a:p>
        </p:txBody>
      </p:sp>
      <p:sp>
        <p:nvSpPr>
          <p:cNvPr id="86" name="Shape 79"/>
          <p:cNvSpPr/>
          <p:nvPr/>
        </p:nvSpPr>
        <p:spPr>
          <a:xfrm>
            <a:off x="4114800" y="4700016"/>
            <a:ext cx="1545336" cy="566928"/>
          </a:xfrm>
          <a:prstGeom prst="rect">
            <a:avLst/>
          </a:prstGeom>
          <a:solidFill>
            <a:srgbClr val="F2F2F2"/>
          </a:solidFill>
          <a:ln w="12700">
            <a:solidFill>
              <a:srgbClr val="D0D0CE"/>
            </a:solidFill>
            <a:prstDash val="solid"/>
          </a:ln>
        </p:spPr>
      </p:sp>
      <p:sp>
        <p:nvSpPr>
          <p:cNvPr id="87" name="Shape 80"/>
          <p:cNvSpPr/>
          <p:nvPr/>
        </p:nvSpPr>
        <p:spPr>
          <a:xfrm>
            <a:off x="4114800" y="4700016"/>
            <a:ext cx="45720" cy="566928"/>
          </a:xfrm>
          <a:prstGeom prst="rect">
            <a:avLst/>
          </a:prstGeom>
          <a:solidFill>
            <a:srgbClr val="046A38"/>
          </a:solidFill>
          <a:ln w="12700">
            <a:solidFill>
              <a:srgbClr val="046A38"/>
            </a:solidFill>
            <a:prstDash val="solid"/>
          </a:ln>
        </p:spPr>
      </p:sp>
      <p:sp>
        <p:nvSpPr>
          <p:cNvPr id="88" name="Text 81"/>
          <p:cNvSpPr txBox="1"/>
          <p:nvPr/>
        </p:nvSpPr>
        <p:spPr>
          <a:xfrm>
            <a:off x="4224528" y="4700016"/>
            <a:ext cx="1399032" cy="566928"/>
          </a:xfrm>
          <a:prstGeom prst="rect">
            <a:avLst/>
          </a:prstGeom>
          <a:noFill/>
          <a:ln/>
        </p:spPr>
        <p:txBody>
          <a:bodyPr wrap="square" lIns="0" tIns="0" rIns="0" bIns="0" rtlCol="0" anchor="ctr"/>
          <a:lstStyle/>
          <a:p>
            <a:pPr indent="0" marL="0">
              <a:buNone/>
            </a:pPr>
            <a:r>
              <a:rPr lang="en-US" sz="1500" b="1" dirty="0">
                <a:solidFill>
                  <a:srgbClr val="046A38"/>
                </a:solidFill>
                <a:latin typeface="Arial" pitchFamily="34" charset="0"/>
                <a:ea typeface="Arial" pitchFamily="34" charset="-122"/>
                <a:cs typeface="Arial" pitchFamily="34" charset="-120"/>
              </a:rPr>
              <a:t>18.5%</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New-product share, base case (from 4.2%)</a:t>
            </a:r>
            <a:endParaRPr lang="en-US" sz="1500" dirty="0"/>
          </a:p>
        </p:txBody>
      </p:sp>
      <p:sp>
        <p:nvSpPr>
          <p:cNvPr id="89" name="Shape 82"/>
          <p:cNvSpPr/>
          <p:nvPr/>
        </p:nvSpPr>
        <p:spPr>
          <a:xfrm>
            <a:off x="5719572" y="4700016"/>
            <a:ext cx="1545336" cy="566928"/>
          </a:xfrm>
          <a:prstGeom prst="rect">
            <a:avLst/>
          </a:prstGeom>
          <a:solidFill>
            <a:srgbClr val="F2F2F2"/>
          </a:solidFill>
          <a:ln w="12700">
            <a:solidFill>
              <a:srgbClr val="D0D0CE"/>
            </a:solidFill>
            <a:prstDash val="solid"/>
          </a:ln>
        </p:spPr>
      </p:sp>
      <p:sp>
        <p:nvSpPr>
          <p:cNvPr id="90" name="Shape 83"/>
          <p:cNvSpPr/>
          <p:nvPr/>
        </p:nvSpPr>
        <p:spPr>
          <a:xfrm>
            <a:off x="5719572" y="4700016"/>
            <a:ext cx="45720" cy="566928"/>
          </a:xfrm>
          <a:prstGeom prst="rect">
            <a:avLst/>
          </a:prstGeom>
          <a:solidFill>
            <a:srgbClr val="046A38"/>
          </a:solidFill>
          <a:ln w="12700">
            <a:solidFill>
              <a:srgbClr val="046A38"/>
            </a:solidFill>
            <a:prstDash val="solid"/>
          </a:ln>
        </p:spPr>
      </p:sp>
      <p:sp>
        <p:nvSpPr>
          <p:cNvPr id="91" name="Text 84"/>
          <p:cNvSpPr txBox="1"/>
          <p:nvPr/>
        </p:nvSpPr>
        <p:spPr>
          <a:xfrm>
            <a:off x="5829300" y="4700016"/>
            <a:ext cx="1399032" cy="566928"/>
          </a:xfrm>
          <a:prstGeom prst="rect">
            <a:avLst/>
          </a:prstGeom>
          <a:noFill/>
          <a:ln/>
        </p:spPr>
        <p:txBody>
          <a:bodyPr wrap="square" lIns="0" tIns="0" rIns="0" bIns="0" rtlCol="0" anchor="ctr"/>
          <a:lstStyle/>
          <a:p>
            <a:pPr indent="0" marL="0">
              <a:buNone/>
            </a:pPr>
            <a:r>
              <a:rPr lang="en-US" sz="1500" b="1" dirty="0">
                <a:solidFill>
                  <a:srgbClr val="046A38"/>
                </a:solidFill>
                <a:latin typeface="Arial" pitchFamily="34" charset="0"/>
                <a:ea typeface="Arial" pitchFamily="34" charset="-122"/>
                <a:cs typeface="Arial" pitchFamily="34" charset="-120"/>
              </a:rPr>
              <a:t>Rs 757 Cr</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Company revenue, base; Rs 852 Cr stretch</a:t>
            </a:r>
            <a:endParaRPr lang="en-US" sz="1500" dirty="0"/>
          </a:p>
        </p:txBody>
      </p:sp>
      <p:sp>
        <p:nvSpPr>
          <p:cNvPr id="92" name="Shape 85"/>
          <p:cNvSpPr/>
          <p:nvPr/>
        </p:nvSpPr>
        <p:spPr>
          <a:xfrm>
            <a:off x="7324344" y="4700016"/>
            <a:ext cx="1545336" cy="566928"/>
          </a:xfrm>
          <a:prstGeom prst="rect">
            <a:avLst/>
          </a:prstGeom>
          <a:solidFill>
            <a:srgbClr val="F2F2F2"/>
          </a:solidFill>
          <a:ln w="12700">
            <a:solidFill>
              <a:srgbClr val="D0D0CE"/>
            </a:solidFill>
            <a:prstDash val="solid"/>
          </a:ln>
        </p:spPr>
      </p:sp>
      <p:sp>
        <p:nvSpPr>
          <p:cNvPr id="93" name="Shape 86"/>
          <p:cNvSpPr/>
          <p:nvPr/>
        </p:nvSpPr>
        <p:spPr>
          <a:xfrm>
            <a:off x="7324344" y="4700016"/>
            <a:ext cx="45720" cy="566928"/>
          </a:xfrm>
          <a:prstGeom prst="rect">
            <a:avLst/>
          </a:prstGeom>
          <a:solidFill>
            <a:srgbClr val="26890D"/>
          </a:solidFill>
          <a:ln w="12700">
            <a:solidFill>
              <a:srgbClr val="26890D"/>
            </a:solidFill>
            <a:prstDash val="solid"/>
          </a:ln>
        </p:spPr>
      </p:sp>
      <p:sp>
        <p:nvSpPr>
          <p:cNvPr id="94" name="Text 87"/>
          <p:cNvSpPr txBox="1"/>
          <p:nvPr/>
        </p:nvSpPr>
        <p:spPr>
          <a:xfrm>
            <a:off x="7434072" y="4700016"/>
            <a:ext cx="1399032" cy="566928"/>
          </a:xfrm>
          <a:prstGeom prst="rect">
            <a:avLst/>
          </a:prstGeom>
          <a:noFill/>
          <a:ln/>
        </p:spPr>
        <p:txBody>
          <a:bodyPr wrap="square" lIns="0" tIns="0" rIns="0" bIns="0" rtlCol="0" anchor="ctr"/>
          <a:lstStyle/>
          <a:p>
            <a:pPr indent="0" marL="0">
              <a:buNone/>
            </a:pPr>
            <a:r>
              <a:rPr lang="en-US" sz="1500" b="1" dirty="0">
                <a:solidFill>
                  <a:srgbClr val="26890D"/>
                </a:solidFill>
                <a:latin typeface="Arial" pitchFamily="34" charset="0"/>
                <a:ea typeface="Arial" pitchFamily="34" charset="-122"/>
                <a:cs typeface="Arial" pitchFamily="34" charset="-120"/>
              </a:rPr>
              <a:t>27.5% | 30.2%</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Stretch | stretch + RTC from FY23</a:t>
            </a:r>
            <a:endParaRPr lang="en-US" sz="1500" dirty="0"/>
          </a:p>
        </p:txBody>
      </p:sp>
      <p:sp>
        <p:nvSpPr>
          <p:cNvPr id="95" name="Shape 88"/>
          <p:cNvSpPr/>
          <p:nvPr/>
        </p:nvSpPr>
        <p:spPr>
          <a:xfrm>
            <a:off x="8929116" y="4700016"/>
            <a:ext cx="1545336" cy="566928"/>
          </a:xfrm>
          <a:prstGeom prst="rect">
            <a:avLst/>
          </a:prstGeom>
          <a:solidFill>
            <a:srgbClr val="F2F2F2"/>
          </a:solidFill>
          <a:ln w="12700">
            <a:solidFill>
              <a:srgbClr val="D0D0CE"/>
            </a:solidFill>
            <a:prstDash val="solid"/>
          </a:ln>
        </p:spPr>
      </p:sp>
      <p:sp>
        <p:nvSpPr>
          <p:cNvPr id="96" name="Shape 89"/>
          <p:cNvSpPr/>
          <p:nvPr/>
        </p:nvSpPr>
        <p:spPr>
          <a:xfrm>
            <a:off x="8929116" y="4700016"/>
            <a:ext cx="45720" cy="566928"/>
          </a:xfrm>
          <a:prstGeom prst="rect">
            <a:avLst/>
          </a:prstGeom>
          <a:solidFill>
            <a:srgbClr val="0097A9"/>
          </a:solidFill>
          <a:ln w="12700">
            <a:solidFill>
              <a:srgbClr val="0097A9"/>
            </a:solidFill>
            <a:prstDash val="solid"/>
          </a:ln>
        </p:spPr>
      </p:sp>
      <p:sp>
        <p:nvSpPr>
          <p:cNvPr id="97" name="Text 90"/>
          <p:cNvSpPr txBox="1"/>
          <p:nvPr/>
        </p:nvSpPr>
        <p:spPr>
          <a:xfrm>
            <a:off x="9038844" y="4700016"/>
            <a:ext cx="1399032" cy="566928"/>
          </a:xfrm>
          <a:prstGeom prst="rect">
            <a:avLst/>
          </a:prstGeom>
          <a:noFill/>
          <a:ln/>
        </p:spPr>
        <p:txBody>
          <a:bodyPr wrap="square" lIns="0" tIns="0" rIns="0" bIns="0" rtlCol="0" anchor="ctr"/>
          <a:lstStyle/>
          <a:p>
            <a:pPr indent="0" marL="0">
              <a:buNone/>
            </a:pPr>
            <a:r>
              <a:rPr lang="en-US" sz="1500" b="1" dirty="0">
                <a:solidFill>
                  <a:srgbClr val="0097A9"/>
                </a:solidFill>
                <a:latin typeface="Arial" pitchFamily="34" charset="0"/>
                <a:ea typeface="Arial" pitchFamily="34" charset="-122"/>
                <a:cs typeface="Arial" pitchFamily="34" charset="-120"/>
              </a:rPr>
              <a:t>~54%</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Mar-Jul share of sales, from 58%</a:t>
            </a:r>
            <a:endParaRPr lang="en-US" sz="1500" dirty="0"/>
          </a:p>
        </p:txBody>
      </p:sp>
      <p:sp>
        <p:nvSpPr>
          <p:cNvPr id="98" name="Shape 91"/>
          <p:cNvSpPr/>
          <p:nvPr/>
        </p:nvSpPr>
        <p:spPr>
          <a:xfrm>
            <a:off x="10533888" y="4700016"/>
            <a:ext cx="1545336" cy="566928"/>
          </a:xfrm>
          <a:prstGeom prst="rect">
            <a:avLst/>
          </a:prstGeom>
          <a:solidFill>
            <a:srgbClr val="F2F2F2"/>
          </a:solidFill>
          <a:ln w="12700">
            <a:solidFill>
              <a:srgbClr val="D0D0CE"/>
            </a:solidFill>
            <a:prstDash val="solid"/>
          </a:ln>
        </p:spPr>
      </p:sp>
      <p:sp>
        <p:nvSpPr>
          <p:cNvPr id="99" name="Shape 92"/>
          <p:cNvSpPr/>
          <p:nvPr/>
        </p:nvSpPr>
        <p:spPr>
          <a:xfrm>
            <a:off x="10533888" y="4700016"/>
            <a:ext cx="45720" cy="566928"/>
          </a:xfrm>
          <a:prstGeom prst="rect">
            <a:avLst/>
          </a:prstGeom>
          <a:solidFill>
            <a:srgbClr val="53565A"/>
          </a:solidFill>
          <a:ln w="12700">
            <a:solidFill>
              <a:srgbClr val="53565A"/>
            </a:solidFill>
            <a:prstDash val="solid"/>
          </a:ln>
        </p:spPr>
      </p:sp>
      <p:sp>
        <p:nvSpPr>
          <p:cNvPr id="100" name="Text 93"/>
          <p:cNvSpPr txBox="1"/>
          <p:nvPr/>
        </p:nvSpPr>
        <p:spPr>
          <a:xfrm>
            <a:off x="10643616" y="4700016"/>
            <a:ext cx="1399032" cy="566928"/>
          </a:xfrm>
          <a:prstGeom prst="rect">
            <a:avLst/>
          </a:prstGeom>
          <a:noFill/>
          <a:ln/>
        </p:spPr>
        <p:txBody>
          <a:bodyPr wrap="square" lIns="0" tIns="0" rIns="0" bIns="0" rtlCol="0" anchor="ctr"/>
          <a:lstStyle/>
          <a:p>
            <a:pPr indent="0" marL="0">
              <a:buNone/>
            </a:pPr>
            <a:r>
              <a:rPr lang="en-US" sz="1500" b="1" dirty="0">
                <a:solidFill>
                  <a:srgbClr val="53565A"/>
                </a:solidFill>
                <a:latin typeface="Arial" pitchFamily="34" charset="0"/>
                <a:ea typeface="Arial" pitchFamily="34" charset="-122"/>
                <a:cs typeface="Arial" pitchFamily="34" charset="-120"/>
              </a:rPr>
              <a:t>FY26E</a:t>
            </a:r>
            <a:endParaRPr lang="en-US" sz="1500" dirty="0"/>
          </a:p>
          <a:p>
            <a:pPr indent="0" marL="0">
              <a:buNone/>
            </a:pPr>
            <a:r>
              <a:rPr lang="en-US" sz="700" dirty="0">
                <a:solidFill>
                  <a:srgbClr val="53565A"/>
                </a:solidFill>
                <a:latin typeface="Arial" pitchFamily="34" charset="0"/>
                <a:ea typeface="Arial" pitchFamily="34" charset="-122"/>
                <a:cs typeface="Arial" pitchFamily="34" charset="-120"/>
              </a:rPr>
              <a:t>Base payback; stretch inside FY24</a:t>
            </a:r>
            <a:endParaRPr lang="en-US" sz="1500" dirty="0"/>
          </a:p>
        </p:txBody>
      </p:sp>
      <p:sp>
        <p:nvSpPr>
          <p:cNvPr id="101" name="Text 94"/>
          <p:cNvSpPr txBox="1"/>
          <p:nvPr/>
        </p:nvSpPr>
        <p:spPr>
          <a:xfrm>
            <a:off x="4114800" y="5340096"/>
            <a:ext cx="7982712" cy="548640"/>
          </a:xfrm>
          <a:prstGeom prst="rect">
            <a:avLst/>
          </a:prstGeom>
          <a:noFill/>
          <a:ln/>
        </p:spPr>
        <p:txBody>
          <a:bodyPr wrap="square" lIns="0" tIns="0" rIns="0" bIns="0" rtlCol="0" anchor="ctr"/>
          <a:lstStyle/>
          <a:p>
            <a:pPr indent="0" marL="0">
              <a:buNone/>
            </a:pPr>
            <a:r>
              <a:rPr lang="en-US" sz="800" b="1" dirty="0">
                <a:solidFill>
                  <a:srgbClr val="53565A"/>
                </a:solidFill>
                <a:latin typeface="Arial" pitchFamily="34" charset="0"/>
                <a:ea typeface="Arial" pitchFamily="34" charset="-122"/>
                <a:cs typeface="Arial" pitchFamily="34" charset="-120"/>
              </a:rPr>
              <a:t>Tensions resolved: </a:t>
            </a:r>
            <a:pPr indent="0" marL="0">
              <a:buNone/>
            </a:pPr>
            <a:r>
              <a:rPr lang="en-US" sz="800" dirty="0">
                <a:solidFill>
                  <a:srgbClr val="53565A"/>
                </a:solidFill>
                <a:latin typeface="Arial" pitchFamily="34" charset="0"/>
                <a:ea typeface="Arial" pitchFamily="34" charset="-122"/>
                <a:cs typeface="Arial" pitchFamily="34" charset="-120"/>
              </a:rPr>
              <a:t>01 the core keeps funding the plan; 02 speed comes from gates, not from skipping tests; 03 the sharbat brand never vouches for masala; 04 distributors service every channel and no kirana is undercut on price per gram.</a:t>
            </a:r>
            <a:endParaRPr lang="en-US" sz="800" dirty="0"/>
          </a:p>
        </p:txBody>
      </p:sp>
      <p:sp>
        <p:nvSpPr>
          <p:cNvPr id="102" name="Shape 95"/>
          <p:cNvSpPr/>
          <p:nvPr/>
        </p:nvSpPr>
        <p:spPr>
          <a:xfrm>
            <a:off x="0" y="5961888"/>
            <a:ext cx="12191695" cy="530352"/>
          </a:xfrm>
          <a:prstGeom prst="rect">
            <a:avLst/>
          </a:prstGeom>
          <a:solidFill>
            <a:srgbClr val="86BC25"/>
          </a:solidFill>
          <a:ln w="12700">
            <a:solidFill>
              <a:srgbClr val="86BC25"/>
            </a:solidFill>
            <a:prstDash val="solid"/>
          </a:ln>
        </p:spPr>
      </p:sp>
      <p:sp>
        <p:nvSpPr>
          <p:cNvPr id="103" name="Text 96"/>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We commit to 18.5% and show the gated path to 30%: </a:t>
            </a:r>
            <a:pPr algn="ctr" indent="0" marL="0">
              <a:buNone/>
            </a:pPr>
            <a:r>
              <a:rPr lang="en-US" sz="1250" dirty="0">
                <a:solidFill>
                  <a:srgbClr val="000000"/>
                </a:solidFill>
                <a:latin typeface="Arial" pitchFamily="34" charset="0"/>
                <a:ea typeface="Arial" pitchFamily="34" charset="-122"/>
                <a:cs typeface="Arial" pitchFamily="34" charset="-120"/>
              </a:rPr>
              <a:t>winter first, spices second, a third category only if both pass.</a:t>
            </a:r>
            <a:endParaRPr lang="en-US" sz="1250" dirty="0"/>
          </a:p>
        </p:txBody>
      </p:sp>
      <p:sp>
        <p:nvSpPr>
          <p:cNvPr id="104" name="Text 97"/>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1, 4, 5, 6 and Board mandate (Section 1a); team category model (FY24 base, stretch, payback); team Excel model (budget). Assumptions on A1.</a:t>
            </a:r>
            <a:endParaRPr lang="en-US" sz="730" dirty="0"/>
          </a:p>
        </p:txBody>
      </p:sp>
      <p:sp>
        <p:nvSpPr>
          <p:cNvPr id="105" name="Text 98"/>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2. Diagnosis: Three Gaps Hold Rasmitra Back</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Growth is capped by a winter gap in the plant, a reach gap outside two regions and GT, and a process gap that lets weak launches reach the shelf</a:t>
            </a:r>
            <a:endParaRPr lang="en-US" sz="1250" dirty="0"/>
          </a:p>
        </p:txBody>
      </p:sp>
      <p:sp>
        <p:nvSpPr>
          <p:cNvPr id="6" name="Text 4"/>
          <p:cNvSpPr txBox="1"/>
          <p:nvPr/>
        </p:nvSpPr>
        <p:spPr>
          <a:xfrm>
            <a:off x="109728" y="7498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Winter gap: plant idles Oct-Dec (Exh. 4.1)</a:t>
            </a:r>
            <a:endParaRPr lang="en-US" sz="1100" dirty="0"/>
          </a:p>
        </p:txBody>
      </p:sp>
      <p:graphicFrame>
        <p:nvGraphicFramePr>
          <p:cNvPr id="7" name="Chart 0" descr=""/>
          <p:cNvGraphicFramePr/>
          <p:nvPr/>
        </p:nvGraphicFramePr>
        <p:xfrm>
          <a:off x="109728" y="969264"/>
          <a:ext cx="3840480" cy="1874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109728" y="2862072"/>
            <a:ext cx="3840480" cy="347472"/>
          </a:xfrm>
          <a:prstGeom prst="rect">
            <a:avLst/>
          </a:prstGeom>
          <a:solidFill>
            <a:srgbClr val="E3F1D0"/>
          </a:solidFill>
          <a:ln w="12700">
            <a:solidFill>
              <a:srgbClr val="E3F1D0"/>
            </a:solidFill>
            <a:prstDash val="solid"/>
          </a:ln>
        </p:spPr>
      </p:sp>
      <p:sp>
        <p:nvSpPr>
          <p:cNvPr id="9" name="Text 6"/>
          <p:cNvSpPr txBox="1"/>
          <p:nvPr/>
        </p:nvSpPr>
        <p:spPr>
          <a:xfrm>
            <a:off x="182880" y="2862072"/>
            <a:ext cx="3703320" cy="347472"/>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a product that peaks Oct-Feb uses capacity we already pay for (Q3 at 34%).</a:t>
            </a:r>
            <a:endParaRPr lang="en-US" sz="760" dirty="0"/>
          </a:p>
        </p:txBody>
      </p:sp>
      <p:sp>
        <p:nvSpPr>
          <p:cNvPr id="10" name="Text 7"/>
          <p:cNvSpPr txBox="1"/>
          <p:nvPr/>
        </p:nvSpPr>
        <p:spPr>
          <a:xfrm>
            <a:off x="4114800" y="7498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Reach gap: two regions, thin distribution (Exh. 4.2)</a:t>
            </a:r>
            <a:endParaRPr lang="en-US" sz="1100" dirty="0"/>
          </a:p>
        </p:txBody>
      </p:sp>
      <p:graphicFrame>
        <p:nvGraphicFramePr>
          <p:cNvPr id="11" name="Chart 1" descr=""/>
          <p:cNvGraphicFramePr/>
          <p:nvPr/>
        </p:nvGraphicFramePr>
        <p:xfrm>
          <a:off x="4114800" y="969264"/>
          <a:ext cx="3840480" cy="187452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4114800" y="2862072"/>
            <a:ext cx="3840480" cy="347472"/>
          </a:xfrm>
          <a:prstGeom prst="rect">
            <a:avLst/>
          </a:prstGeom>
          <a:solidFill>
            <a:srgbClr val="E3F1D0"/>
          </a:solidFill>
          <a:ln w="12700">
            <a:solidFill>
              <a:srgbClr val="E3F1D0"/>
            </a:solidFill>
            <a:prstDash val="solid"/>
          </a:ln>
        </p:spPr>
      </p:sp>
      <p:sp>
        <p:nvSpPr>
          <p:cNvPr id="13" name="Text 9"/>
          <p:cNvSpPr txBox="1"/>
          <p:nvPr/>
        </p:nvSpPr>
        <p:spPr>
          <a:xfrm>
            <a:off x="4187952" y="2862072"/>
            <a:ext cx="3703320" cy="347472"/>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Regions 3-4 at 22% / 13% distribution are the reach lever for the stretch case.</a:t>
            </a:r>
            <a:endParaRPr lang="en-US" sz="760" dirty="0"/>
          </a:p>
        </p:txBody>
      </p:sp>
      <p:sp>
        <p:nvSpPr>
          <p:cNvPr id="14" name="Text 10"/>
          <p:cNvSpPr txBox="1"/>
          <p:nvPr/>
        </p:nvSpPr>
        <p:spPr>
          <a:xfrm>
            <a:off x="8119872" y="749808"/>
            <a:ext cx="39776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Channel gap: growth is where we are smallest (Exh. 3)</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19872" y="1005840"/>
          <a:ext cx="3977640" cy="914400"/>
        </p:xfrm>
        <a:graphic>
          <a:graphicData uri="http://schemas.openxmlformats.org/drawingml/2006/table">
            <a:tbl>
              <a:tblPr/>
              <a:tblGrid>
                <a:gridCol w="1051560"/>
                <a:gridCol w="502920"/>
                <a:gridCol w="548640"/>
                <a:gridCol w="548640"/>
                <a:gridCol w="685800"/>
                <a:gridCol w="640080"/>
              </a:tblGrid>
              <a:tr h="228600">
                <a:tc>
                  <a:txBody>
                    <a:bodyPr/>
                    <a:lstStyle/>
                    <a:p>
                      <a:pPr indent="0" marL="0">
                        <a:buNone/>
                      </a:pPr>
                      <a:r>
                        <a:rPr lang="en-US" sz="800" b="1" dirty="0">
                          <a:solidFill>
                            <a:srgbClr val="FFFFFF"/>
                          </a:solidFill>
                          <a:latin typeface="Arial" pitchFamily="34" charset="0"/>
                          <a:ea typeface="Arial" pitchFamily="34" charset="-122"/>
                          <a:cs typeface="Arial" pitchFamily="34" charset="-120"/>
                        </a:rPr>
                        <a:t>Channel</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Rs Cr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Share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YoY</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Partner margin</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Trade spend</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GT, distributor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381.0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68.0%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3.6%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GT, wholesale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95.0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17.0%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1.8%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Modern trade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42.0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9.5%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86BC25"/>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E-commerce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12.3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22.0%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18.0%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Quick-commerce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46.0%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Institutional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22.4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6.0%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FFFFF"/>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80" b="1" dirty="0">
                          <a:solidFill>
                            <a:srgbClr val="000000"/>
                          </a:solidFill>
                          <a:latin typeface="Arial" pitchFamily="34" charset="0"/>
                          <a:ea typeface="Arial" pitchFamily="34" charset="-122"/>
                          <a:cs typeface="Arial" pitchFamily="34" charset="-120"/>
                        </a:rPr>
                        <a:t>Total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560.0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100%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4.8%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24%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7.0%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6" name="Shape 11"/>
          <p:cNvSpPr/>
          <p:nvPr/>
        </p:nvSpPr>
        <p:spPr>
          <a:xfrm>
            <a:off x="8119872" y="2862072"/>
            <a:ext cx="3977640" cy="347472"/>
          </a:xfrm>
          <a:prstGeom prst="rect">
            <a:avLst/>
          </a:prstGeom>
          <a:solidFill>
            <a:srgbClr val="E3F1D0"/>
          </a:solidFill>
          <a:ln w="12700">
            <a:solidFill>
              <a:srgbClr val="E3F1D0"/>
            </a:solidFill>
            <a:prstDash val="solid"/>
          </a:ln>
        </p:spPr>
      </p:sp>
      <p:sp>
        <p:nvSpPr>
          <p:cNvPr id="17" name="Text 12"/>
          <p:cNvSpPr txBox="1"/>
          <p:nvPr/>
        </p:nvSpPr>
        <p:spPr>
          <a:xfrm>
            <a:off x="8193024" y="2862072"/>
            <a:ext cx="3840480" cy="347472"/>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Q-com grows 46% but costs 38% margin + 24% trade spend: a brand channel, not a profit one.</a:t>
            </a:r>
            <a:endParaRPr lang="en-US" sz="760" dirty="0"/>
          </a:p>
        </p:txBody>
      </p:sp>
      <p:sp>
        <p:nvSpPr>
          <p:cNvPr id="18" name="Text 13"/>
          <p:cNvSpPr txBox="1"/>
          <p:nvPr/>
        </p:nvSpPr>
        <p:spPr>
          <a:xfrm>
            <a:off x="109728" y="331012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Only the flagship makes money (Exh. 2)</a:t>
            </a:r>
            <a:endParaRPr lang="en-US" sz="1100" dirty="0"/>
          </a:p>
        </p:txBody>
      </p:sp>
      <p:graphicFrame>
        <p:nvGraphicFramePr>
          <p:cNvPr id="19" name="Chart 2" descr=""/>
          <p:cNvGraphicFramePr/>
          <p:nvPr/>
        </p:nvGraphicFramePr>
        <p:xfrm>
          <a:off x="109728" y="3529584"/>
          <a:ext cx="3840480" cy="1920240"/>
        </p:xfrm>
        <a:graphic xmlns:a="http://schemas.openxmlformats.org/drawingml/2006/main">
          <a:graphicData uri="http://schemas.openxmlformats.org/drawingml/2006/chart">
            <c:chart xmlns:c="http://schemas.openxmlformats.org/drawingml/2006/chart" r:id="rId3"/>
          </a:graphicData>
        </a:graphic>
      </p:graphicFrame>
      <p:sp>
        <p:nvSpPr>
          <p:cNvPr id="20" name="Shape 14"/>
          <p:cNvSpPr/>
          <p:nvPr/>
        </p:nvSpPr>
        <p:spPr>
          <a:xfrm>
            <a:off x="109728" y="5468112"/>
            <a:ext cx="3840480" cy="420624"/>
          </a:xfrm>
          <a:prstGeom prst="rect">
            <a:avLst/>
          </a:prstGeom>
          <a:solidFill>
            <a:srgbClr val="E3F1D0"/>
          </a:solidFill>
          <a:ln w="12700">
            <a:solidFill>
              <a:srgbClr val="E3F1D0"/>
            </a:solidFill>
            <a:prstDash val="solid"/>
          </a:ln>
        </p:spPr>
      </p:sp>
      <p:sp>
        <p:nvSpPr>
          <p:cNvPr id="21" name="Text 15"/>
          <p:cNvSpPr txBox="1"/>
          <p:nvPr/>
        </p:nvSpPr>
        <p:spPr>
          <a:xfrm>
            <a:off x="182880" y="5468112"/>
            <a:ext cx="3703320" cy="420624"/>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Rs 67.5 Cr of RTD loses 10.5%; a new line must clear 20% contribution at GT terms.</a:t>
            </a:r>
            <a:endParaRPr lang="en-US" sz="760" dirty="0"/>
          </a:p>
        </p:txBody>
      </p:sp>
      <p:sp>
        <p:nvSpPr>
          <p:cNvPr id="22" name="Text 16"/>
          <p:cNvSpPr txBox="1"/>
          <p:nvPr/>
        </p:nvSpPr>
        <p:spPr>
          <a:xfrm>
            <a:off x="4114800" y="331012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Process gap: six launches, four failures (Exh. 6)</a:t>
            </a:r>
            <a:endParaRPr lang="en-US" sz="1100" dirty="0"/>
          </a:p>
        </p:txBody>
      </p:sp>
      <p:sp>
        <p:nvSpPr>
          <p:cNvPr id="23" name="Shape 17"/>
          <p:cNvSpPr/>
          <p:nvPr/>
        </p:nvSpPr>
        <p:spPr>
          <a:xfrm>
            <a:off x="4224528" y="4343400"/>
            <a:ext cx="3611880" cy="0"/>
          </a:xfrm>
          <a:prstGeom prst="line">
            <a:avLst/>
          </a:prstGeom>
          <a:noFill/>
          <a:ln w="19050">
            <a:solidFill>
              <a:srgbClr val="53565A"/>
            </a:solidFill>
            <a:prstDash val="solid"/>
          </a:ln>
        </p:spPr>
      </p:sp>
      <p:sp>
        <p:nvSpPr>
          <p:cNvPr id="24" name="Shape 18"/>
          <p:cNvSpPr/>
          <p:nvPr/>
        </p:nvSpPr>
        <p:spPr>
          <a:xfrm>
            <a:off x="4306824" y="4187952"/>
            <a:ext cx="310896" cy="310896"/>
          </a:xfrm>
          <a:prstGeom prst="ellipse">
            <a:avLst/>
          </a:prstGeom>
          <a:solidFill>
            <a:srgbClr val="C0392B"/>
          </a:solidFill>
          <a:ln w="12700">
            <a:solidFill>
              <a:srgbClr val="C0392B"/>
            </a:solidFill>
            <a:prstDash val="solid"/>
          </a:ln>
        </p:spPr>
      </p:sp>
      <p:pic>
        <p:nvPicPr>
          <p:cNvPr id="25" name="Image 0" descr="preencoded.png">    </p:cNvPr>
          <p:cNvPicPr>
            <a:picLocks noChangeAspect="1"/>
          </p:cNvPicPr>
          <p:nvPr/>
        </p:nvPicPr>
        <p:blipFill>
          <a:blip r:embed="rId4"/>
          <a:stretch>
            <a:fillRect/>
          </a:stretch>
        </p:blipFill>
        <p:spPr>
          <a:xfrm>
            <a:off x="4375221" y="4256349"/>
            <a:ext cx="174102" cy="174102"/>
          </a:xfrm>
          <a:prstGeom prst="rect">
            <a:avLst/>
          </a:prstGeom>
        </p:spPr>
      </p:pic>
      <p:sp>
        <p:nvSpPr>
          <p:cNvPr id="26" name="Text 19"/>
          <p:cNvSpPr txBox="1"/>
          <p:nvPr/>
        </p:nvSpPr>
        <p:spPr>
          <a:xfrm>
            <a:off x="4142232" y="3584448"/>
            <a:ext cx="640080" cy="566928"/>
          </a:xfrm>
          <a:prstGeom prst="rect">
            <a:avLst/>
          </a:prstGeom>
          <a:noFill/>
          <a:ln/>
        </p:spPr>
        <p:txBody>
          <a:bodyPr wrap="square" lIns="0" tIns="0" rIns="0" bIns="0" rtlCol="0" anchor="b"/>
          <a:lstStyle/>
          <a:p>
            <a:pPr algn="ctr" indent="0" marL="0">
              <a:buNone/>
            </a:pPr>
            <a:r>
              <a:rPr lang="en-US" sz="660" b="1" dirty="0">
                <a:solidFill>
                  <a:srgbClr val="000000"/>
                </a:solidFill>
                <a:latin typeface="Arial" pitchFamily="34" charset="0"/>
                <a:ea typeface="Arial" pitchFamily="34" charset="-122"/>
                <a:cs typeface="Arial" pitchFamily="34" charset="-120"/>
              </a:rPr>
              <a:t>Aloe vera RTD</a:t>
            </a:r>
            <a:endParaRPr lang="en-US" sz="660" dirty="0"/>
          </a:p>
          <a:p>
            <a:pPr algn="ctr" indent="0" marL="0">
              <a:buNone/>
            </a:pPr>
            <a:r>
              <a:rPr lang="en-US" sz="660" b="1" dirty="0">
                <a:solidFill>
                  <a:srgbClr val="C0392B"/>
                </a:solidFill>
                <a:latin typeface="Arial" pitchFamily="34" charset="0"/>
                <a:ea typeface="Arial" pitchFamily="34" charset="-122"/>
                <a:cs typeface="Arial" pitchFamily="34" charset="-120"/>
              </a:rPr>
              <a:t>FY18 | Delisted m14</a:t>
            </a:r>
            <a:endParaRPr lang="en-US" sz="660" dirty="0"/>
          </a:p>
        </p:txBody>
      </p:sp>
      <p:sp>
        <p:nvSpPr>
          <p:cNvPr id="27" name="Text 20"/>
          <p:cNvSpPr txBox="1"/>
          <p:nvPr/>
        </p:nvSpPr>
        <p:spPr>
          <a:xfrm>
            <a:off x="4142232" y="4544568"/>
            <a:ext cx="640080" cy="566928"/>
          </a:xfrm>
          <a:prstGeom prst="rect">
            <a:avLst/>
          </a:prstGeom>
          <a:noFill/>
          <a:ln/>
        </p:spPr>
        <p:txBody>
          <a:bodyPr wrap="square" lIns="0" tIns="0" rIns="0" bIns="0" rtlCol="0" anchor="t"/>
          <a:lstStyle/>
          <a:p>
            <a:pPr algn="ctr" indent="0" marL="0">
              <a:buNone/>
            </a:pPr>
            <a:r>
              <a:rPr lang="en-US" sz="620" i="1" dirty="0">
                <a:solidFill>
                  <a:srgbClr val="53565A"/>
                </a:solidFill>
                <a:latin typeface="Arial" pitchFamily="34" charset="0"/>
                <a:ea typeface="Arial" pitchFamily="34" charset="-122"/>
                <a:cs typeface="Arial" pitchFamily="34" charset="-120"/>
              </a:rPr>
              <a:t>Imported pack, no retailer margin</a:t>
            </a:r>
            <a:endParaRPr lang="en-US" sz="620" dirty="0"/>
          </a:p>
        </p:txBody>
      </p:sp>
      <p:sp>
        <p:nvSpPr>
          <p:cNvPr id="28" name="Shape 21"/>
          <p:cNvSpPr/>
          <p:nvPr/>
        </p:nvSpPr>
        <p:spPr>
          <a:xfrm>
            <a:off x="4937760" y="4187952"/>
            <a:ext cx="310896" cy="310896"/>
          </a:xfrm>
          <a:prstGeom prst="ellipse">
            <a:avLst/>
          </a:prstGeom>
          <a:solidFill>
            <a:srgbClr val="C0392B"/>
          </a:solidFill>
          <a:ln w="12700">
            <a:solidFill>
              <a:srgbClr val="C0392B"/>
            </a:solidFill>
            <a:prstDash val="solid"/>
          </a:ln>
        </p:spPr>
      </p:sp>
      <p:pic>
        <p:nvPicPr>
          <p:cNvPr id="29" name="Image 1" descr="preencoded.png">    </p:cNvPr>
          <p:cNvPicPr>
            <a:picLocks noChangeAspect="1"/>
          </p:cNvPicPr>
          <p:nvPr/>
        </p:nvPicPr>
        <p:blipFill>
          <a:blip r:embed="rId5"/>
          <a:stretch>
            <a:fillRect/>
          </a:stretch>
        </p:blipFill>
        <p:spPr>
          <a:xfrm>
            <a:off x="5006157" y="4256349"/>
            <a:ext cx="174102" cy="174102"/>
          </a:xfrm>
          <a:prstGeom prst="rect">
            <a:avLst/>
          </a:prstGeom>
        </p:spPr>
      </p:pic>
      <p:sp>
        <p:nvSpPr>
          <p:cNvPr id="30" name="Text 22"/>
          <p:cNvSpPr txBox="1"/>
          <p:nvPr/>
        </p:nvSpPr>
        <p:spPr>
          <a:xfrm>
            <a:off x="4773168" y="4544568"/>
            <a:ext cx="640080" cy="566928"/>
          </a:xfrm>
          <a:prstGeom prst="rect">
            <a:avLst/>
          </a:prstGeom>
          <a:noFill/>
          <a:ln/>
        </p:spPr>
        <p:txBody>
          <a:bodyPr wrap="square" lIns="0" tIns="0" rIns="0" bIns="0" rtlCol="0" anchor="t"/>
          <a:lstStyle/>
          <a:p>
            <a:pPr algn="ctr" indent="0" marL="0">
              <a:buNone/>
            </a:pPr>
            <a:r>
              <a:rPr lang="en-US" sz="660" b="1" dirty="0">
                <a:solidFill>
                  <a:srgbClr val="000000"/>
                </a:solidFill>
                <a:latin typeface="Arial" pitchFamily="34" charset="0"/>
                <a:ea typeface="Arial" pitchFamily="34" charset="-122"/>
                <a:cs typeface="Arial" pitchFamily="34" charset="-120"/>
              </a:rPr>
              <a:t>Fruit jam</a:t>
            </a:r>
            <a:endParaRPr lang="en-US" sz="660" dirty="0"/>
          </a:p>
          <a:p>
            <a:pPr algn="ctr" indent="0" marL="0">
              <a:buNone/>
            </a:pPr>
            <a:r>
              <a:rPr lang="en-US" sz="660" b="1" dirty="0">
                <a:solidFill>
                  <a:srgbClr val="C0392B"/>
                </a:solidFill>
                <a:latin typeface="Arial" pitchFamily="34" charset="0"/>
                <a:ea typeface="Arial" pitchFamily="34" charset="-122"/>
                <a:cs typeface="Arial" pitchFamily="34" charset="-120"/>
              </a:rPr>
              <a:t>FY19 | Delisted m11</a:t>
            </a:r>
            <a:endParaRPr lang="en-US" sz="660" dirty="0"/>
          </a:p>
        </p:txBody>
      </p:sp>
      <p:sp>
        <p:nvSpPr>
          <p:cNvPr id="31" name="Text 23"/>
          <p:cNvSpPr txBox="1"/>
          <p:nvPr/>
        </p:nvSpPr>
        <p:spPr>
          <a:xfrm>
            <a:off x="4773168" y="3584448"/>
            <a:ext cx="640080" cy="566928"/>
          </a:xfrm>
          <a:prstGeom prst="rect">
            <a:avLst/>
          </a:prstGeom>
          <a:noFill/>
          <a:ln/>
        </p:spPr>
        <p:txBody>
          <a:bodyPr wrap="square" lIns="0" tIns="0" rIns="0" bIns="0" rtlCol="0" anchor="b"/>
          <a:lstStyle/>
          <a:p>
            <a:pPr algn="ctr" indent="0" marL="0">
              <a:buNone/>
            </a:pPr>
            <a:r>
              <a:rPr lang="en-US" sz="620" i="1" dirty="0">
                <a:solidFill>
                  <a:srgbClr val="53565A"/>
                </a:solidFill>
                <a:latin typeface="Arial" pitchFamily="34" charset="0"/>
                <a:ea typeface="Arial" pitchFamily="34" charset="-122"/>
                <a:cs typeface="Arial" pitchFamily="34" charset="-120"/>
              </a:rPr>
              <a:t>MT only, no GT pull</a:t>
            </a:r>
            <a:endParaRPr lang="en-US" sz="620" dirty="0"/>
          </a:p>
        </p:txBody>
      </p:sp>
      <p:sp>
        <p:nvSpPr>
          <p:cNvPr id="32" name="Shape 24"/>
          <p:cNvSpPr/>
          <p:nvPr/>
        </p:nvSpPr>
        <p:spPr>
          <a:xfrm>
            <a:off x="5568696" y="4187952"/>
            <a:ext cx="310896" cy="310896"/>
          </a:xfrm>
          <a:prstGeom prst="ellipse">
            <a:avLst/>
          </a:prstGeom>
          <a:solidFill>
            <a:srgbClr val="ED8B00"/>
          </a:solidFill>
          <a:ln w="12700">
            <a:solidFill>
              <a:srgbClr val="ED8B00"/>
            </a:solidFill>
            <a:prstDash val="solid"/>
          </a:ln>
        </p:spPr>
      </p:sp>
      <p:pic>
        <p:nvPicPr>
          <p:cNvPr id="33" name="Image 2" descr="preencoded.png">    </p:cNvPr>
          <p:cNvPicPr>
            <a:picLocks noChangeAspect="1"/>
          </p:cNvPicPr>
          <p:nvPr/>
        </p:nvPicPr>
        <p:blipFill>
          <a:blip r:embed="rId6"/>
          <a:stretch>
            <a:fillRect/>
          </a:stretch>
        </p:blipFill>
        <p:spPr>
          <a:xfrm>
            <a:off x="5637093" y="4256349"/>
            <a:ext cx="174102" cy="174102"/>
          </a:xfrm>
          <a:prstGeom prst="rect">
            <a:avLst/>
          </a:prstGeom>
        </p:spPr>
      </p:pic>
      <p:sp>
        <p:nvSpPr>
          <p:cNvPr id="34" name="Text 25"/>
          <p:cNvSpPr txBox="1"/>
          <p:nvPr/>
        </p:nvSpPr>
        <p:spPr>
          <a:xfrm>
            <a:off x="5404104" y="3584448"/>
            <a:ext cx="640080" cy="566928"/>
          </a:xfrm>
          <a:prstGeom prst="rect">
            <a:avLst/>
          </a:prstGeom>
          <a:noFill/>
          <a:ln/>
        </p:spPr>
        <p:txBody>
          <a:bodyPr wrap="square" lIns="0" tIns="0" rIns="0" bIns="0" rtlCol="0" anchor="b"/>
          <a:lstStyle/>
          <a:p>
            <a:pPr algn="ctr" indent="0" marL="0">
              <a:buNone/>
            </a:pPr>
            <a:r>
              <a:rPr lang="en-US" sz="660" b="1" dirty="0">
                <a:solidFill>
                  <a:srgbClr val="000000"/>
                </a:solidFill>
                <a:latin typeface="Arial" pitchFamily="34" charset="0"/>
                <a:ea typeface="Arial" pitchFamily="34" charset="-122"/>
                <a:cs typeface="Arial" pitchFamily="34" charset="-120"/>
              </a:rPr>
              <a:t>Herbal digestive</a:t>
            </a:r>
            <a:endParaRPr lang="en-US" sz="660" dirty="0"/>
          </a:p>
          <a:p>
            <a:pPr algn="ctr" indent="0" marL="0">
              <a:buNone/>
            </a:pPr>
            <a:r>
              <a:rPr lang="en-US" sz="660" b="1" dirty="0">
                <a:solidFill>
                  <a:srgbClr val="ED8B00"/>
                </a:solidFill>
                <a:latin typeface="Arial" pitchFamily="34" charset="0"/>
                <a:ea typeface="Arial" pitchFamily="34" charset="-122"/>
                <a:cs typeface="Arial" pitchFamily="34" charset="-120"/>
              </a:rPr>
              <a:t>FY19 | Live, 1.1%</a:t>
            </a:r>
            <a:endParaRPr lang="en-US" sz="660" dirty="0"/>
          </a:p>
        </p:txBody>
      </p:sp>
      <p:sp>
        <p:nvSpPr>
          <p:cNvPr id="35" name="Text 26"/>
          <p:cNvSpPr txBox="1"/>
          <p:nvPr/>
        </p:nvSpPr>
        <p:spPr>
          <a:xfrm>
            <a:off x="5404104" y="4544568"/>
            <a:ext cx="640080" cy="566928"/>
          </a:xfrm>
          <a:prstGeom prst="rect">
            <a:avLst/>
          </a:prstGeom>
          <a:noFill/>
          <a:ln/>
        </p:spPr>
        <p:txBody>
          <a:bodyPr wrap="square" lIns="0" tIns="0" rIns="0" bIns="0" rtlCol="0" anchor="t"/>
          <a:lstStyle/>
          <a:p>
            <a:pPr algn="ctr" indent="0" marL="0">
              <a:buNone/>
            </a:pPr>
            <a:r>
              <a:rPr lang="en-US" sz="620" i="1" dirty="0">
                <a:solidFill>
                  <a:srgbClr val="53565A"/>
                </a:solidFill>
                <a:latin typeface="Arial" pitchFamily="34" charset="0"/>
                <a:ea typeface="Arial" pitchFamily="34" charset="-122"/>
                <a:cs typeface="Arial" pitchFamily="34" charset="-120"/>
              </a:rPr>
              <a:t>Never resourced to scale</a:t>
            </a:r>
            <a:endParaRPr lang="en-US" sz="620" dirty="0"/>
          </a:p>
        </p:txBody>
      </p:sp>
      <p:sp>
        <p:nvSpPr>
          <p:cNvPr id="36" name="Shape 27"/>
          <p:cNvSpPr/>
          <p:nvPr/>
        </p:nvSpPr>
        <p:spPr>
          <a:xfrm>
            <a:off x="6199632" y="4187952"/>
            <a:ext cx="310896" cy="310896"/>
          </a:xfrm>
          <a:prstGeom prst="ellipse">
            <a:avLst/>
          </a:prstGeom>
          <a:solidFill>
            <a:srgbClr val="26890D"/>
          </a:solidFill>
          <a:ln w="12700">
            <a:solidFill>
              <a:srgbClr val="26890D"/>
            </a:solidFill>
            <a:prstDash val="solid"/>
          </a:ln>
        </p:spPr>
      </p:sp>
      <p:pic>
        <p:nvPicPr>
          <p:cNvPr id="37" name="Image 3" descr="preencoded.png">    </p:cNvPr>
          <p:cNvPicPr>
            <a:picLocks noChangeAspect="1"/>
          </p:cNvPicPr>
          <p:nvPr/>
        </p:nvPicPr>
        <p:blipFill>
          <a:blip r:embed="rId7"/>
          <a:stretch>
            <a:fillRect/>
          </a:stretch>
        </p:blipFill>
        <p:spPr>
          <a:xfrm>
            <a:off x="6268029" y="4256349"/>
            <a:ext cx="174102" cy="174102"/>
          </a:xfrm>
          <a:prstGeom prst="rect">
            <a:avLst/>
          </a:prstGeom>
        </p:spPr>
      </p:pic>
      <p:sp>
        <p:nvSpPr>
          <p:cNvPr id="38" name="Text 28"/>
          <p:cNvSpPr txBox="1"/>
          <p:nvPr/>
        </p:nvSpPr>
        <p:spPr>
          <a:xfrm>
            <a:off x="6035040" y="4544568"/>
            <a:ext cx="640080" cy="566928"/>
          </a:xfrm>
          <a:prstGeom prst="rect">
            <a:avLst/>
          </a:prstGeom>
          <a:noFill/>
          <a:ln/>
        </p:spPr>
        <p:txBody>
          <a:bodyPr wrap="square" lIns="0" tIns="0" rIns="0" bIns="0" rtlCol="0" anchor="t"/>
          <a:lstStyle/>
          <a:p>
            <a:pPr algn="ctr" indent="0" marL="0">
              <a:buNone/>
            </a:pPr>
            <a:r>
              <a:rPr lang="en-US" sz="660" b="1" dirty="0">
                <a:solidFill>
                  <a:srgbClr val="000000"/>
                </a:solidFill>
                <a:latin typeface="Arial" pitchFamily="34" charset="0"/>
                <a:ea typeface="Arial" pitchFamily="34" charset="-122"/>
                <a:cs typeface="Arial" pitchFamily="34" charset="-120"/>
              </a:rPr>
              <a:t>Premium variant</a:t>
            </a:r>
            <a:endParaRPr lang="en-US" sz="660" dirty="0"/>
          </a:p>
          <a:p>
            <a:pPr algn="ctr" indent="0" marL="0">
              <a:buNone/>
            </a:pPr>
            <a:r>
              <a:rPr lang="en-US" sz="660" b="1" dirty="0">
                <a:solidFill>
                  <a:srgbClr val="26890D"/>
                </a:solidFill>
                <a:latin typeface="Arial" pitchFamily="34" charset="0"/>
                <a:ea typeface="Arial" pitchFamily="34" charset="-122"/>
                <a:cs typeface="Arial" pitchFamily="34" charset="-120"/>
              </a:rPr>
              <a:t>FY20 | Live, 2.2%</a:t>
            </a:r>
            <a:endParaRPr lang="en-US" sz="660" dirty="0"/>
          </a:p>
        </p:txBody>
      </p:sp>
      <p:sp>
        <p:nvSpPr>
          <p:cNvPr id="39" name="Text 29"/>
          <p:cNvSpPr txBox="1"/>
          <p:nvPr/>
        </p:nvSpPr>
        <p:spPr>
          <a:xfrm>
            <a:off x="6035040" y="3584448"/>
            <a:ext cx="640080" cy="566928"/>
          </a:xfrm>
          <a:prstGeom prst="rect">
            <a:avLst/>
          </a:prstGeom>
          <a:noFill/>
          <a:ln/>
        </p:spPr>
        <p:txBody>
          <a:bodyPr wrap="square" lIns="0" tIns="0" rIns="0" bIns="0" rtlCol="0" anchor="b"/>
          <a:lstStyle/>
          <a:p>
            <a:pPr algn="ctr" indent="0" marL="0">
              <a:buNone/>
            </a:pPr>
            <a:r>
              <a:rPr lang="en-US" sz="620" i="1" dirty="0">
                <a:solidFill>
                  <a:srgbClr val="53565A"/>
                </a:solidFill>
                <a:latin typeface="Arial" pitchFamily="34" charset="0"/>
                <a:ea typeface="Arial" pitchFamily="34" charset="-122"/>
                <a:cs typeface="Arial" pitchFamily="34" charset="-120"/>
              </a:rPr>
              <a:t>Same plant, pack, route</a:t>
            </a:r>
            <a:endParaRPr lang="en-US" sz="620" dirty="0"/>
          </a:p>
        </p:txBody>
      </p:sp>
      <p:sp>
        <p:nvSpPr>
          <p:cNvPr id="40" name="Shape 30"/>
          <p:cNvSpPr/>
          <p:nvPr/>
        </p:nvSpPr>
        <p:spPr>
          <a:xfrm>
            <a:off x="6830568" y="4187952"/>
            <a:ext cx="310896" cy="310896"/>
          </a:xfrm>
          <a:prstGeom prst="ellipse">
            <a:avLst/>
          </a:prstGeom>
          <a:solidFill>
            <a:srgbClr val="C0392B"/>
          </a:solidFill>
          <a:ln w="12700">
            <a:solidFill>
              <a:srgbClr val="C0392B"/>
            </a:solidFill>
            <a:prstDash val="solid"/>
          </a:ln>
        </p:spPr>
      </p:sp>
      <p:pic>
        <p:nvPicPr>
          <p:cNvPr id="41" name="Image 4" descr="preencoded.png">    </p:cNvPr>
          <p:cNvPicPr>
            <a:picLocks noChangeAspect="1"/>
          </p:cNvPicPr>
          <p:nvPr/>
        </p:nvPicPr>
        <p:blipFill>
          <a:blip r:embed="rId8"/>
          <a:stretch>
            <a:fillRect/>
          </a:stretch>
        </p:blipFill>
        <p:spPr>
          <a:xfrm>
            <a:off x="6898965" y="4256349"/>
            <a:ext cx="174102" cy="174102"/>
          </a:xfrm>
          <a:prstGeom prst="rect">
            <a:avLst/>
          </a:prstGeom>
        </p:spPr>
      </p:pic>
      <p:sp>
        <p:nvSpPr>
          <p:cNvPr id="42" name="Text 31"/>
          <p:cNvSpPr txBox="1"/>
          <p:nvPr/>
        </p:nvSpPr>
        <p:spPr>
          <a:xfrm>
            <a:off x="6665976" y="3584448"/>
            <a:ext cx="640080" cy="566928"/>
          </a:xfrm>
          <a:prstGeom prst="rect">
            <a:avLst/>
          </a:prstGeom>
          <a:noFill/>
          <a:ln/>
        </p:spPr>
        <p:txBody>
          <a:bodyPr wrap="square" lIns="0" tIns="0" rIns="0" bIns="0" rtlCol="0" anchor="b"/>
          <a:lstStyle/>
          <a:p>
            <a:pPr algn="ctr" indent="0" marL="0">
              <a:buNone/>
            </a:pPr>
            <a:r>
              <a:rPr lang="en-US" sz="660" b="1" dirty="0">
                <a:solidFill>
                  <a:srgbClr val="000000"/>
                </a:solidFill>
                <a:latin typeface="Arial" pitchFamily="34" charset="0"/>
                <a:ea typeface="Arial" pitchFamily="34" charset="-122"/>
                <a:cs typeface="Arial" pitchFamily="34" charset="-120"/>
              </a:rPr>
              <a:t>Iced tea premix</a:t>
            </a:r>
            <a:endParaRPr lang="en-US" sz="660" dirty="0"/>
          </a:p>
          <a:p>
            <a:pPr algn="ctr" indent="0" marL="0">
              <a:buNone/>
            </a:pPr>
            <a:r>
              <a:rPr lang="en-US" sz="660" b="1" dirty="0">
                <a:solidFill>
                  <a:srgbClr val="C0392B"/>
                </a:solidFill>
                <a:latin typeface="Arial" pitchFamily="34" charset="0"/>
                <a:ea typeface="Arial" pitchFamily="34" charset="-122"/>
                <a:cs typeface="Arial" pitchFamily="34" charset="-120"/>
              </a:rPr>
              <a:t>FY21 | Delisted m9</a:t>
            </a:r>
            <a:endParaRPr lang="en-US" sz="660" dirty="0"/>
          </a:p>
        </p:txBody>
      </p:sp>
      <p:sp>
        <p:nvSpPr>
          <p:cNvPr id="43" name="Text 32"/>
          <p:cNvSpPr txBox="1"/>
          <p:nvPr/>
        </p:nvSpPr>
        <p:spPr>
          <a:xfrm>
            <a:off x="6665976" y="4544568"/>
            <a:ext cx="640080" cy="566928"/>
          </a:xfrm>
          <a:prstGeom prst="rect">
            <a:avLst/>
          </a:prstGeom>
          <a:noFill/>
          <a:ln/>
        </p:spPr>
        <p:txBody>
          <a:bodyPr wrap="square" lIns="0" tIns="0" rIns="0" bIns="0" rtlCol="0" anchor="t"/>
          <a:lstStyle/>
          <a:p>
            <a:pPr algn="ctr" indent="0" marL="0">
              <a:buNone/>
            </a:pPr>
            <a:r>
              <a:rPr lang="en-US" sz="620" i="1" dirty="0">
                <a:solidFill>
                  <a:srgbClr val="53565A"/>
                </a:solidFill>
                <a:latin typeface="Arial" pitchFamily="34" charset="0"/>
                <a:ea typeface="Arial" pitchFamily="34" charset="-122"/>
                <a:cs typeface="Arial" pitchFamily="34" charset="-120"/>
              </a:rPr>
              <a:t>18% over leader, no sampling</a:t>
            </a:r>
            <a:endParaRPr lang="en-US" sz="620" dirty="0"/>
          </a:p>
        </p:txBody>
      </p:sp>
      <p:sp>
        <p:nvSpPr>
          <p:cNvPr id="44" name="Shape 33"/>
          <p:cNvSpPr/>
          <p:nvPr/>
        </p:nvSpPr>
        <p:spPr>
          <a:xfrm>
            <a:off x="7461504" y="4187952"/>
            <a:ext cx="310896" cy="310896"/>
          </a:xfrm>
          <a:prstGeom prst="ellipse">
            <a:avLst/>
          </a:prstGeom>
          <a:solidFill>
            <a:srgbClr val="C0392B"/>
          </a:solidFill>
          <a:ln w="12700">
            <a:solidFill>
              <a:srgbClr val="C0392B"/>
            </a:solidFill>
            <a:prstDash val="solid"/>
          </a:ln>
        </p:spPr>
      </p:sp>
      <p:pic>
        <p:nvPicPr>
          <p:cNvPr id="45" name="Image 5" descr="preencoded.png">    </p:cNvPr>
          <p:cNvPicPr>
            <a:picLocks noChangeAspect="1"/>
          </p:cNvPicPr>
          <p:nvPr/>
        </p:nvPicPr>
        <p:blipFill>
          <a:blip r:embed="rId9"/>
          <a:stretch>
            <a:fillRect/>
          </a:stretch>
        </p:blipFill>
        <p:spPr>
          <a:xfrm>
            <a:off x="7529901" y="4256349"/>
            <a:ext cx="174102" cy="174102"/>
          </a:xfrm>
          <a:prstGeom prst="rect">
            <a:avLst/>
          </a:prstGeom>
        </p:spPr>
      </p:pic>
      <p:sp>
        <p:nvSpPr>
          <p:cNvPr id="46" name="Text 34"/>
          <p:cNvSpPr txBox="1"/>
          <p:nvPr/>
        </p:nvSpPr>
        <p:spPr>
          <a:xfrm>
            <a:off x="7296912" y="4544568"/>
            <a:ext cx="640080" cy="566928"/>
          </a:xfrm>
          <a:prstGeom prst="rect">
            <a:avLst/>
          </a:prstGeom>
          <a:noFill/>
          <a:ln/>
        </p:spPr>
        <p:txBody>
          <a:bodyPr wrap="square" lIns="0" tIns="0" rIns="0" bIns="0" rtlCol="0" anchor="t"/>
          <a:lstStyle/>
          <a:p>
            <a:pPr algn="ctr" indent="0" marL="0">
              <a:buNone/>
            </a:pPr>
            <a:r>
              <a:rPr lang="en-US" sz="660" b="1" dirty="0">
                <a:solidFill>
                  <a:srgbClr val="000000"/>
                </a:solidFill>
                <a:latin typeface="Arial" pitchFamily="34" charset="0"/>
                <a:ea typeface="Arial" pitchFamily="34" charset="-122"/>
                <a:cs typeface="Arial" pitchFamily="34" charset="-120"/>
              </a:rPr>
              <a:t>Energy drink</a:t>
            </a:r>
            <a:endParaRPr lang="en-US" sz="660" dirty="0"/>
          </a:p>
          <a:p>
            <a:pPr algn="ctr" indent="0" marL="0">
              <a:buNone/>
            </a:pPr>
            <a:r>
              <a:rPr lang="en-US" sz="660" b="1" dirty="0">
                <a:solidFill>
                  <a:srgbClr val="C0392B"/>
                </a:solidFill>
                <a:latin typeface="Arial" pitchFamily="34" charset="0"/>
                <a:ea typeface="Arial" pitchFamily="34" charset="-122"/>
                <a:cs typeface="Arial" pitchFamily="34" charset="-120"/>
              </a:rPr>
              <a:t>FY21 | Stalled</a:t>
            </a:r>
            <a:endParaRPr lang="en-US" sz="660" dirty="0"/>
          </a:p>
        </p:txBody>
      </p:sp>
      <p:sp>
        <p:nvSpPr>
          <p:cNvPr id="47" name="Text 35"/>
          <p:cNvSpPr txBox="1"/>
          <p:nvPr/>
        </p:nvSpPr>
        <p:spPr>
          <a:xfrm>
            <a:off x="7296912" y="3584448"/>
            <a:ext cx="640080" cy="566928"/>
          </a:xfrm>
          <a:prstGeom prst="rect">
            <a:avLst/>
          </a:prstGeom>
          <a:noFill/>
          <a:ln/>
        </p:spPr>
        <p:txBody>
          <a:bodyPr wrap="square" lIns="0" tIns="0" rIns="0" bIns="0" rtlCol="0" anchor="b"/>
          <a:lstStyle/>
          <a:p>
            <a:pPr algn="ctr" indent="0" marL="0">
              <a:buNone/>
            </a:pPr>
            <a:r>
              <a:rPr lang="en-US" sz="620" i="1" dirty="0">
                <a:solidFill>
                  <a:srgbClr val="53565A"/>
                </a:solidFill>
                <a:latin typeface="Arial" pitchFamily="34" charset="0"/>
                <a:ea typeface="Arial" pitchFamily="34" charset="-122"/>
                <a:cs typeface="Arial" pitchFamily="34" charset="-120"/>
              </a:rPr>
              <a:t>Vendor missed spec; Rs 2.2 Cr lost</a:t>
            </a:r>
            <a:endParaRPr lang="en-US" sz="620" dirty="0"/>
          </a:p>
        </p:txBody>
      </p:sp>
      <p:sp>
        <p:nvSpPr>
          <p:cNvPr id="48" name="Shape 36"/>
          <p:cNvSpPr/>
          <p:nvPr/>
        </p:nvSpPr>
        <p:spPr>
          <a:xfrm>
            <a:off x="4114800" y="5468112"/>
            <a:ext cx="3840480" cy="420624"/>
          </a:xfrm>
          <a:prstGeom prst="rect">
            <a:avLst/>
          </a:prstGeom>
          <a:solidFill>
            <a:srgbClr val="E3F1D0"/>
          </a:solidFill>
          <a:ln w="12700">
            <a:solidFill>
              <a:srgbClr val="E3F1D0"/>
            </a:solidFill>
            <a:prstDash val="solid"/>
          </a:ln>
        </p:spPr>
      </p:sp>
      <p:sp>
        <p:nvSpPr>
          <p:cNvPr id="49" name="Text 37"/>
          <p:cNvSpPr txBox="1"/>
          <p:nvPr/>
        </p:nvSpPr>
        <p:spPr>
          <a:xfrm>
            <a:off x="4187952" y="5468112"/>
            <a:ext cx="3703320" cy="420624"/>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the one success reused plant, pack and route; 3 of 6 skipped concept, pack or price tests.</a:t>
            </a:r>
            <a:endParaRPr lang="en-US" sz="760" dirty="0"/>
          </a:p>
        </p:txBody>
      </p:sp>
      <p:sp>
        <p:nvSpPr>
          <p:cNvPr id="50" name="Text 38"/>
          <p:cNvSpPr txBox="1"/>
          <p:nvPr/>
        </p:nvSpPr>
        <p:spPr>
          <a:xfrm>
            <a:off x="8119872" y="3310128"/>
            <a:ext cx="39776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Against peers of similar size (Exh. 1, 6)</a:t>
            </a:r>
            <a:endParaRPr lang="en-US" sz="1100" dirty="0"/>
          </a:p>
        </p:txBody>
      </p:sp>
      <p:sp>
        <p:nvSpPr>
          <p:cNvPr id="51" name="Text 39"/>
          <p:cNvSpPr txBox="1"/>
          <p:nvPr/>
        </p:nvSpPr>
        <p:spPr>
          <a:xfrm>
            <a:off x="8119872" y="3602736"/>
            <a:ext cx="1325880" cy="402336"/>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Launches a year</a:t>
            </a:r>
            <a:endParaRPr lang="en-US" sz="760" dirty="0"/>
          </a:p>
        </p:txBody>
      </p:sp>
      <p:sp>
        <p:nvSpPr>
          <p:cNvPr id="52" name="Shape 40"/>
          <p:cNvSpPr/>
          <p:nvPr/>
        </p:nvSpPr>
        <p:spPr>
          <a:xfrm>
            <a:off x="9509760" y="3648456"/>
            <a:ext cx="199505" cy="137160"/>
          </a:xfrm>
          <a:prstGeom prst="rect">
            <a:avLst/>
          </a:prstGeom>
          <a:solidFill>
            <a:srgbClr val="53565A"/>
          </a:solidFill>
          <a:ln w="12700">
            <a:solidFill>
              <a:srgbClr val="53565A"/>
            </a:solidFill>
            <a:prstDash val="solid"/>
          </a:ln>
        </p:spPr>
      </p:sp>
      <p:sp>
        <p:nvSpPr>
          <p:cNvPr id="53" name="Text 41"/>
          <p:cNvSpPr txBox="1"/>
          <p:nvPr/>
        </p:nvSpPr>
        <p:spPr>
          <a:xfrm>
            <a:off x="9754985" y="3611880"/>
            <a:ext cx="1005840" cy="201168"/>
          </a:xfrm>
          <a:prstGeom prst="rect">
            <a:avLst/>
          </a:prstGeom>
          <a:noFill/>
          <a:ln/>
        </p:spPr>
        <p:txBody>
          <a:bodyPr wrap="square" lIns="0" tIns="0" rIns="0" bIns="0" rtlCol="0" anchor="ctr"/>
          <a:lstStyle/>
          <a:p>
            <a:pPr indent="0" marL="0">
              <a:buNone/>
            </a:pPr>
            <a:r>
              <a:rPr lang="en-US" sz="680" dirty="0">
                <a:solidFill>
                  <a:srgbClr val="000000"/>
                </a:solidFill>
                <a:latin typeface="Arial" pitchFamily="34" charset="0"/>
                <a:ea typeface="Arial" pitchFamily="34" charset="-122"/>
                <a:cs typeface="Arial" pitchFamily="34" charset="-120"/>
              </a:rPr>
              <a:t>Rasmitra 1.2</a:t>
            </a:r>
            <a:endParaRPr lang="en-US" sz="680" dirty="0"/>
          </a:p>
        </p:txBody>
      </p:sp>
      <p:sp>
        <p:nvSpPr>
          <p:cNvPr id="54" name="Shape 42"/>
          <p:cNvSpPr/>
          <p:nvPr/>
        </p:nvSpPr>
        <p:spPr>
          <a:xfrm>
            <a:off x="9509760" y="3822192"/>
            <a:ext cx="1828800" cy="137160"/>
          </a:xfrm>
          <a:prstGeom prst="rect">
            <a:avLst/>
          </a:prstGeom>
          <a:solidFill>
            <a:srgbClr val="86BC25"/>
          </a:solidFill>
          <a:ln w="12700">
            <a:solidFill>
              <a:srgbClr val="86BC25"/>
            </a:solidFill>
            <a:prstDash val="solid"/>
          </a:ln>
        </p:spPr>
      </p:sp>
      <p:sp>
        <p:nvSpPr>
          <p:cNvPr id="55" name="Text 43"/>
          <p:cNvSpPr txBox="1"/>
          <p:nvPr/>
        </p:nvSpPr>
        <p:spPr>
          <a:xfrm>
            <a:off x="11384280" y="3785616"/>
            <a:ext cx="914400" cy="201168"/>
          </a:xfrm>
          <a:prstGeom prst="rect">
            <a:avLst/>
          </a:prstGeom>
          <a:noFill/>
          <a:ln/>
        </p:spPr>
        <p:txBody>
          <a:bodyPr wrap="square" lIns="0" tIns="0" rIns="0" bIns="0" rtlCol="0" anchor="ctr"/>
          <a:lstStyle/>
          <a:p>
            <a:pPr indent="0" marL="0">
              <a:buNone/>
            </a:pPr>
            <a:r>
              <a:rPr lang="en-US" sz="680" b="1" dirty="0">
                <a:solidFill>
                  <a:srgbClr val="26890D"/>
                </a:solidFill>
                <a:latin typeface="Arial" pitchFamily="34" charset="0"/>
                <a:ea typeface="Arial" pitchFamily="34" charset="-122"/>
                <a:cs typeface="Arial" pitchFamily="34" charset="-120"/>
              </a:rPr>
              <a:t>Peers 8-14</a:t>
            </a:r>
            <a:endParaRPr lang="en-US" sz="680" dirty="0"/>
          </a:p>
        </p:txBody>
      </p:sp>
      <p:sp>
        <p:nvSpPr>
          <p:cNvPr id="56" name="Text 44"/>
          <p:cNvSpPr txBox="1"/>
          <p:nvPr/>
        </p:nvSpPr>
        <p:spPr>
          <a:xfrm>
            <a:off x="8119872" y="4059936"/>
            <a:ext cx="1325880" cy="402336"/>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Idea-to-shelf, months</a:t>
            </a:r>
            <a:endParaRPr lang="en-US" sz="760" dirty="0"/>
          </a:p>
        </p:txBody>
      </p:sp>
      <p:sp>
        <p:nvSpPr>
          <p:cNvPr id="57" name="Shape 45"/>
          <p:cNvSpPr/>
          <p:nvPr/>
        </p:nvSpPr>
        <p:spPr>
          <a:xfrm>
            <a:off x="9509760" y="4105656"/>
            <a:ext cx="1828800" cy="137160"/>
          </a:xfrm>
          <a:prstGeom prst="rect">
            <a:avLst/>
          </a:prstGeom>
          <a:solidFill>
            <a:srgbClr val="53565A"/>
          </a:solidFill>
          <a:ln w="12700">
            <a:solidFill>
              <a:srgbClr val="53565A"/>
            </a:solidFill>
            <a:prstDash val="solid"/>
          </a:ln>
        </p:spPr>
      </p:sp>
      <p:sp>
        <p:nvSpPr>
          <p:cNvPr id="58" name="Text 46"/>
          <p:cNvSpPr txBox="1"/>
          <p:nvPr/>
        </p:nvSpPr>
        <p:spPr>
          <a:xfrm>
            <a:off x="11384280" y="4069080"/>
            <a:ext cx="1005840" cy="201168"/>
          </a:xfrm>
          <a:prstGeom prst="rect">
            <a:avLst/>
          </a:prstGeom>
          <a:noFill/>
          <a:ln/>
        </p:spPr>
        <p:txBody>
          <a:bodyPr wrap="square" lIns="0" tIns="0" rIns="0" bIns="0" rtlCol="0" anchor="ctr"/>
          <a:lstStyle/>
          <a:p>
            <a:pPr indent="0" marL="0">
              <a:buNone/>
            </a:pPr>
            <a:r>
              <a:rPr lang="en-US" sz="680" dirty="0">
                <a:solidFill>
                  <a:srgbClr val="000000"/>
                </a:solidFill>
                <a:latin typeface="Arial" pitchFamily="34" charset="0"/>
                <a:ea typeface="Arial" pitchFamily="34" charset="-122"/>
                <a:cs typeface="Arial" pitchFamily="34" charset="-120"/>
              </a:rPr>
              <a:t>Rasmitra ~11</a:t>
            </a:r>
            <a:endParaRPr lang="en-US" sz="680" dirty="0"/>
          </a:p>
        </p:txBody>
      </p:sp>
      <p:sp>
        <p:nvSpPr>
          <p:cNvPr id="59" name="Shape 47"/>
          <p:cNvSpPr/>
          <p:nvPr/>
        </p:nvSpPr>
        <p:spPr>
          <a:xfrm>
            <a:off x="9509760" y="4279392"/>
            <a:ext cx="1163782" cy="137160"/>
          </a:xfrm>
          <a:prstGeom prst="rect">
            <a:avLst/>
          </a:prstGeom>
          <a:solidFill>
            <a:srgbClr val="86BC25"/>
          </a:solidFill>
          <a:ln w="12700">
            <a:solidFill>
              <a:srgbClr val="86BC25"/>
            </a:solidFill>
            <a:prstDash val="solid"/>
          </a:ln>
        </p:spPr>
      </p:sp>
      <p:sp>
        <p:nvSpPr>
          <p:cNvPr id="60" name="Text 48"/>
          <p:cNvSpPr txBox="1"/>
          <p:nvPr/>
        </p:nvSpPr>
        <p:spPr>
          <a:xfrm>
            <a:off x="10719262" y="4242816"/>
            <a:ext cx="914400" cy="201168"/>
          </a:xfrm>
          <a:prstGeom prst="rect">
            <a:avLst/>
          </a:prstGeom>
          <a:noFill/>
          <a:ln/>
        </p:spPr>
        <p:txBody>
          <a:bodyPr wrap="square" lIns="0" tIns="0" rIns="0" bIns="0" rtlCol="0" anchor="ctr"/>
          <a:lstStyle/>
          <a:p>
            <a:pPr indent="0" marL="0">
              <a:buNone/>
            </a:pPr>
            <a:r>
              <a:rPr lang="en-US" sz="680" b="1" dirty="0">
                <a:solidFill>
                  <a:srgbClr val="26890D"/>
                </a:solidFill>
                <a:latin typeface="Arial" pitchFamily="34" charset="0"/>
                <a:ea typeface="Arial" pitchFamily="34" charset="-122"/>
                <a:cs typeface="Arial" pitchFamily="34" charset="-120"/>
              </a:rPr>
              <a:t>Peers 6-8</a:t>
            </a:r>
            <a:endParaRPr lang="en-US" sz="680" dirty="0"/>
          </a:p>
        </p:txBody>
      </p:sp>
      <p:sp>
        <p:nvSpPr>
          <p:cNvPr id="61" name="Text 49"/>
          <p:cNvSpPr txBox="1"/>
          <p:nvPr/>
        </p:nvSpPr>
        <p:spPr>
          <a:xfrm>
            <a:off x="8119872" y="4517136"/>
            <a:ext cx="1325880" cy="402336"/>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A&amp;P, % of revenue</a:t>
            </a:r>
            <a:endParaRPr lang="en-US" sz="760" dirty="0"/>
          </a:p>
        </p:txBody>
      </p:sp>
      <p:sp>
        <p:nvSpPr>
          <p:cNvPr id="62" name="Shape 50"/>
          <p:cNvSpPr/>
          <p:nvPr/>
        </p:nvSpPr>
        <p:spPr>
          <a:xfrm>
            <a:off x="9509760" y="4562856"/>
            <a:ext cx="798022" cy="137160"/>
          </a:xfrm>
          <a:prstGeom prst="rect">
            <a:avLst/>
          </a:prstGeom>
          <a:solidFill>
            <a:srgbClr val="53565A"/>
          </a:solidFill>
          <a:ln w="12700">
            <a:solidFill>
              <a:srgbClr val="53565A"/>
            </a:solidFill>
            <a:prstDash val="solid"/>
          </a:ln>
        </p:spPr>
      </p:sp>
      <p:sp>
        <p:nvSpPr>
          <p:cNvPr id="63" name="Text 51"/>
          <p:cNvSpPr txBox="1"/>
          <p:nvPr/>
        </p:nvSpPr>
        <p:spPr>
          <a:xfrm>
            <a:off x="10353502" y="4526280"/>
            <a:ext cx="1005840" cy="201168"/>
          </a:xfrm>
          <a:prstGeom prst="rect">
            <a:avLst/>
          </a:prstGeom>
          <a:noFill/>
          <a:ln/>
        </p:spPr>
        <p:txBody>
          <a:bodyPr wrap="square" lIns="0" tIns="0" rIns="0" bIns="0" rtlCol="0" anchor="ctr"/>
          <a:lstStyle/>
          <a:p>
            <a:pPr indent="0" marL="0">
              <a:buNone/>
            </a:pPr>
            <a:r>
              <a:rPr lang="en-US" sz="680" dirty="0">
                <a:solidFill>
                  <a:srgbClr val="000000"/>
                </a:solidFill>
                <a:latin typeface="Arial" pitchFamily="34" charset="0"/>
                <a:ea typeface="Arial" pitchFamily="34" charset="-122"/>
                <a:cs typeface="Arial" pitchFamily="34" charset="-120"/>
              </a:rPr>
              <a:t>Rasmitra 2.4%</a:t>
            </a:r>
            <a:endParaRPr lang="en-US" sz="680" dirty="0"/>
          </a:p>
        </p:txBody>
      </p:sp>
      <p:sp>
        <p:nvSpPr>
          <p:cNvPr id="64" name="Shape 52"/>
          <p:cNvSpPr/>
          <p:nvPr/>
        </p:nvSpPr>
        <p:spPr>
          <a:xfrm>
            <a:off x="9509760" y="4736592"/>
            <a:ext cx="1828800" cy="137160"/>
          </a:xfrm>
          <a:prstGeom prst="rect">
            <a:avLst/>
          </a:prstGeom>
          <a:solidFill>
            <a:srgbClr val="86BC25"/>
          </a:solidFill>
          <a:ln w="12700">
            <a:solidFill>
              <a:srgbClr val="86BC25"/>
            </a:solidFill>
            <a:prstDash val="solid"/>
          </a:ln>
        </p:spPr>
      </p:sp>
      <p:sp>
        <p:nvSpPr>
          <p:cNvPr id="65" name="Text 53"/>
          <p:cNvSpPr txBox="1"/>
          <p:nvPr/>
        </p:nvSpPr>
        <p:spPr>
          <a:xfrm>
            <a:off x="11384280" y="4700016"/>
            <a:ext cx="914400" cy="201168"/>
          </a:xfrm>
          <a:prstGeom prst="rect">
            <a:avLst/>
          </a:prstGeom>
          <a:noFill/>
          <a:ln/>
        </p:spPr>
        <p:txBody>
          <a:bodyPr wrap="square" lIns="0" tIns="0" rIns="0" bIns="0" rtlCol="0" anchor="ctr"/>
          <a:lstStyle/>
          <a:p>
            <a:pPr indent="0" marL="0">
              <a:buNone/>
            </a:pPr>
            <a:r>
              <a:rPr lang="en-US" sz="680" b="1" dirty="0">
                <a:solidFill>
                  <a:srgbClr val="26890D"/>
                </a:solidFill>
                <a:latin typeface="Arial" pitchFamily="34" charset="0"/>
                <a:ea typeface="Arial" pitchFamily="34" charset="-122"/>
                <a:cs typeface="Arial" pitchFamily="34" charset="-120"/>
              </a:rPr>
              <a:t>Peers 4-7%</a:t>
            </a:r>
            <a:endParaRPr lang="en-US" sz="680" dirty="0"/>
          </a:p>
        </p:txBody>
      </p:sp>
      <p:sp>
        <p:nvSpPr>
          <p:cNvPr id="66" name="Text 54"/>
          <p:cNvSpPr txBox="1"/>
          <p:nvPr/>
        </p:nvSpPr>
        <p:spPr>
          <a:xfrm>
            <a:off x="8119872" y="4974336"/>
            <a:ext cx="1325880" cy="402336"/>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Online share of revenue</a:t>
            </a:r>
            <a:endParaRPr lang="en-US" sz="760" dirty="0"/>
          </a:p>
        </p:txBody>
      </p:sp>
      <p:sp>
        <p:nvSpPr>
          <p:cNvPr id="67" name="Shape 55"/>
          <p:cNvSpPr/>
          <p:nvPr/>
        </p:nvSpPr>
        <p:spPr>
          <a:xfrm>
            <a:off x="9509760" y="5020056"/>
            <a:ext cx="556591" cy="137160"/>
          </a:xfrm>
          <a:prstGeom prst="rect">
            <a:avLst/>
          </a:prstGeom>
          <a:solidFill>
            <a:srgbClr val="53565A"/>
          </a:solidFill>
          <a:ln w="12700">
            <a:solidFill>
              <a:srgbClr val="53565A"/>
            </a:solidFill>
            <a:prstDash val="solid"/>
          </a:ln>
        </p:spPr>
      </p:sp>
      <p:sp>
        <p:nvSpPr>
          <p:cNvPr id="68" name="Text 56"/>
          <p:cNvSpPr txBox="1"/>
          <p:nvPr/>
        </p:nvSpPr>
        <p:spPr>
          <a:xfrm>
            <a:off x="10112071" y="4983480"/>
            <a:ext cx="1005840" cy="201168"/>
          </a:xfrm>
          <a:prstGeom prst="rect">
            <a:avLst/>
          </a:prstGeom>
          <a:noFill/>
          <a:ln/>
        </p:spPr>
        <p:txBody>
          <a:bodyPr wrap="square" lIns="0" tIns="0" rIns="0" bIns="0" rtlCol="0" anchor="ctr"/>
          <a:lstStyle/>
          <a:p>
            <a:pPr indent="0" marL="0">
              <a:buNone/>
            </a:pPr>
            <a:r>
              <a:rPr lang="en-US" sz="680" dirty="0">
                <a:solidFill>
                  <a:srgbClr val="000000"/>
                </a:solidFill>
                <a:latin typeface="Arial" pitchFamily="34" charset="0"/>
                <a:ea typeface="Arial" pitchFamily="34" charset="-122"/>
                <a:cs typeface="Arial" pitchFamily="34" charset="-120"/>
              </a:rPr>
              <a:t>Rasmitra 3.5%</a:t>
            </a:r>
            <a:endParaRPr lang="en-US" sz="680" dirty="0"/>
          </a:p>
        </p:txBody>
      </p:sp>
      <p:sp>
        <p:nvSpPr>
          <p:cNvPr id="69" name="Shape 57"/>
          <p:cNvSpPr/>
          <p:nvPr/>
        </p:nvSpPr>
        <p:spPr>
          <a:xfrm>
            <a:off x="9509760" y="5193792"/>
            <a:ext cx="1828800" cy="137160"/>
          </a:xfrm>
          <a:prstGeom prst="rect">
            <a:avLst/>
          </a:prstGeom>
          <a:solidFill>
            <a:srgbClr val="86BC25"/>
          </a:solidFill>
          <a:ln w="12700">
            <a:solidFill>
              <a:srgbClr val="86BC25"/>
            </a:solidFill>
            <a:prstDash val="solid"/>
          </a:ln>
        </p:spPr>
      </p:sp>
      <p:sp>
        <p:nvSpPr>
          <p:cNvPr id="70" name="Text 58"/>
          <p:cNvSpPr txBox="1"/>
          <p:nvPr/>
        </p:nvSpPr>
        <p:spPr>
          <a:xfrm>
            <a:off x="11384280" y="5157216"/>
            <a:ext cx="914400" cy="201168"/>
          </a:xfrm>
          <a:prstGeom prst="rect">
            <a:avLst/>
          </a:prstGeom>
          <a:noFill/>
          <a:ln/>
        </p:spPr>
        <p:txBody>
          <a:bodyPr wrap="square" lIns="0" tIns="0" rIns="0" bIns="0" rtlCol="0" anchor="ctr"/>
          <a:lstStyle/>
          <a:p>
            <a:pPr indent="0" marL="0">
              <a:buNone/>
            </a:pPr>
            <a:r>
              <a:rPr lang="en-US" sz="680" b="1" dirty="0">
                <a:solidFill>
                  <a:srgbClr val="26890D"/>
                </a:solidFill>
                <a:latin typeface="Arial" pitchFamily="34" charset="0"/>
                <a:ea typeface="Arial" pitchFamily="34" charset="-122"/>
                <a:cs typeface="Arial" pitchFamily="34" charset="-120"/>
              </a:rPr>
              <a:t>Peers 9-14%</a:t>
            </a:r>
            <a:endParaRPr lang="en-US" sz="680" dirty="0"/>
          </a:p>
        </p:txBody>
      </p:sp>
      <p:sp>
        <p:nvSpPr>
          <p:cNvPr id="71" name="Shape 59"/>
          <p:cNvSpPr/>
          <p:nvPr/>
        </p:nvSpPr>
        <p:spPr>
          <a:xfrm>
            <a:off x="8119872" y="5468112"/>
            <a:ext cx="3977640" cy="420624"/>
          </a:xfrm>
          <a:prstGeom prst="rect">
            <a:avLst/>
          </a:prstGeom>
          <a:solidFill>
            <a:srgbClr val="E3F1D0"/>
          </a:solidFill>
          <a:ln w="12700">
            <a:solidFill>
              <a:srgbClr val="E3F1D0"/>
            </a:solidFill>
            <a:prstDash val="solid"/>
          </a:ln>
        </p:spPr>
      </p:sp>
      <p:sp>
        <p:nvSpPr>
          <p:cNvPr id="72" name="Text 60"/>
          <p:cNvSpPr txBox="1"/>
          <p:nvPr/>
        </p:nvSpPr>
        <p:spPr>
          <a:xfrm>
            <a:off x="8193024" y="5468112"/>
            <a:ext cx="3840480" cy="420624"/>
          </a:xfrm>
          <a:prstGeom prst="rect">
            <a:avLst/>
          </a:prstGeom>
          <a:noFill/>
          <a:ln/>
        </p:spPr>
        <p:txBody>
          <a:bodyPr wrap="square" lIns="0" tIns="0" rIns="0" bIns="0" rtlCol="0" anchor="ctr"/>
          <a:lstStyle/>
          <a:p>
            <a:pPr indent="0" marL="0">
              <a:buNone/>
            </a:pPr>
            <a:r>
              <a:rPr lang="en-US" sz="760" b="1" dirty="0">
                <a:solidFill>
                  <a:srgbClr val="000000"/>
                </a:solidFill>
                <a:latin typeface="Arial" pitchFamily="34" charset="0"/>
                <a:ea typeface="Arial" pitchFamily="34" charset="-122"/>
                <a:cs typeface="Arial" pitchFamily="34" charset="-120"/>
              </a:rPr>
              <a:t>So what: </a:t>
            </a:r>
            <a:pPr indent="0" marL="0">
              <a:buNone/>
            </a:pPr>
            <a:r>
              <a:rPr lang="en-US" sz="760" dirty="0">
                <a:solidFill>
                  <a:srgbClr val="000000"/>
                </a:solidFill>
                <a:latin typeface="Arial" pitchFamily="34" charset="0"/>
                <a:ea typeface="Arial" pitchFamily="34" charset="-122"/>
                <a:cs typeface="Arial" pitchFamily="34" charset="-120"/>
              </a:rPr>
              <a:t>more launches need a faster, gated process and A&amp;P closer to peers (Rs 35 Cr planned).</a:t>
            </a:r>
            <a:endParaRPr lang="en-US" sz="760" dirty="0"/>
          </a:p>
        </p:txBody>
      </p:sp>
      <p:sp>
        <p:nvSpPr>
          <p:cNvPr id="73" name="Shape 61"/>
          <p:cNvSpPr/>
          <p:nvPr/>
        </p:nvSpPr>
        <p:spPr>
          <a:xfrm>
            <a:off x="0" y="5961888"/>
            <a:ext cx="12191695" cy="530352"/>
          </a:xfrm>
          <a:prstGeom prst="rect">
            <a:avLst/>
          </a:prstGeom>
          <a:solidFill>
            <a:srgbClr val="86BC25"/>
          </a:solidFill>
          <a:ln w="12700">
            <a:solidFill>
              <a:srgbClr val="86BC25"/>
            </a:solidFill>
            <a:prstDash val="solid"/>
          </a:ln>
        </p:spPr>
      </p:sp>
      <p:sp>
        <p:nvSpPr>
          <p:cNvPr id="74" name="Text 62"/>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Fix the winter gap with product, the reach gap with distribution, the process gap with gates: </a:t>
            </a:r>
            <a:pPr algn="ctr" indent="0" marL="0">
              <a:buNone/>
            </a:pPr>
            <a:r>
              <a:rPr lang="en-US" sz="1250" dirty="0">
                <a:solidFill>
                  <a:srgbClr val="000000"/>
                </a:solidFill>
                <a:latin typeface="Arial" pitchFamily="34" charset="0"/>
                <a:ea typeface="Arial" pitchFamily="34" charset="-122"/>
                <a:cs typeface="Arial" pitchFamily="34" charset="-120"/>
              </a:rPr>
              <a:t>every later slide maps to one of the three.</a:t>
            </a:r>
            <a:endParaRPr lang="en-US" sz="1250" dirty="0"/>
          </a:p>
        </p:txBody>
      </p:sp>
      <p:sp>
        <p:nvSpPr>
          <p:cNvPr id="75" name="Text 63"/>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1, 2, 3, 4.1, 4.2 and 6 (FY21). Launches a year: 6 launches in FY17-FY21 (Exh. 6). Peer ranges as stated in the case.</a:t>
            </a:r>
            <a:endParaRPr lang="en-US" sz="730" dirty="0"/>
          </a:p>
        </p:txBody>
      </p:sp>
      <p:sp>
        <p:nvSpPr>
          <p:cNvPr id="76" name="Text 64"/>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3. Where to Play: Eight Categories Screened to Four</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We applied the Board's constraints before attractiveness; four categories pass, and size and growth decide the order</a:t>
            </a:r>
            <a:endParaRPr lang="en-US" sz="1250" dirty="0"/>
          </a:p>
        </p:txBody>
      </p:sp>
      <p:sp>
        <p:nvSpPr>
          <p:cNvPr id="6" name="Text 4"/>
          <p:cNvSpPr txBox="1"/>
          <p:nvPr/>
        </p:nvSpPr>
        <p:spPr>
          <a:xfrm>
            <a:off x="109728" y="749808"/>
            <a:ext cx="36576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From longlist to launch</a:t>
            </a:r>
            <a:endParaRPr lang="en-US" sz="1100" dirty="0"/>
          </a:p>
        </p:txBody>
      </p:sp>
      <p:sp>
        <p:nvSpPr>
          <p:cNvPr id="7" name="Shape 5"/>
          <p:cNvSpPr/>
          <p:nvPr/>
        </p:nvSpPr>
        <p:spPr>
          <a:xfrm flipV="1">
            <a:off x="109728" y="1005840"/>
            <a:ext cx="3611880" cy="512064"/>
          </a:xfrm>
          <a:prstGeom prst="trapezoid">
            <a:avLst/>
          </a:prstGeom>
          <a:solidFill>
            <a:srgbClr val="046A38"/>
          </a:solidFill>
          <a:ln w="12700">
            <a:solidFill>
              <a:srgbClr val="FFFFFF"/>
            </a:solidFill>
            <a:prstDash val="solid"/>
          </a:ln>
        </p:spPr>
      </p:sp>
      <p:sp>
        <p:nvSpPr>
          <p:cNvPr id="8" name="Text 6"/>
          <p:cNvSpPr txBox="1"/>
          <p:nvPr/>
        </p:nvSpPr>
        <p:spPr>
          <a:xfrm>
            <a:off x="384048" y="1005840"/>
            <a:ext cx="306324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  </a:t>
            </a:r>
            <a:pPr algn="ctr" indent="0" marL="0">
              <a:buNone/>
            </a:pPr>
            <a:r>
              <a:rPr lang="en-US" sz="780" dirty="0">
                <a:solidFill>
                  <a:srgbClr val="FFFFFF"/>
                </a:solidFill>
                <a:latin typeface="Arial" pitchFamily="34" charset="0"/>
                <a:ea typeface="Arial" pitchFamily="34" charset="-122"/>
                <a:cs typeface="Arial" pitchFamily="34" charset="-120"/>
              </a:rPr>
              <a:t>categories in the Exhibit 5 longlist</a:t>
            </a:r>
            <a:endParaRPr lang="en-US" sz="1600" dirty="0"/>
          </a:p>
        </p:txBody>
      </p:sp>
      <p:sp>
        <p:nvSpPr>
          <p:cNvPr id="9" name="Shape 7"/>
          <p:cNvSpPr/>
          <p:nvPr/>
        </p:nvSpPr>
        <p:spPr>
          <a:xfrm flipV="1">
            <a:off x="338328" y="1572768"/>
            <a:ext cx="3154680" cy="512064"/>
          </a:xfrm>
          <a:prstGeom prst="trapezoid">
            <a:avLst/>
          </a:prstGeom>
          <a:solidFill>
            <a:srgbClr val="26890D"/>
          </a:solidFill>
          <a:ln w="12700">
            <a:solidFill>
              <a:srgbClr val="FFFFFF"/>
            </a:solidFill>
            <a:prstDash val="solid"/>
          </a:ln>
        </p:spPr>
      </p:sp>
      <p:sp>
        <p:nvSpPr>
          <p:cNvPr id="10" name="Text 8"/>
          <p:cNvSpPr txBox="1"/>
          <p:nvPr/>
        </p:nvSpPr>
        <p:spPr>
          <a:xfrm>
            <a:off x="612648" y="1572768"/>
            <a:ext cx="260604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  </a:t>
            </a:r>
            <a:pPr algn="ctr" indent="0" marL="0">
              <a:buNone/>
            </a:pPr>
            <a:r>
              <a:rPr lang="en-US" sz="780" dirty="0">
                <a:solidFill>
                  <a:srgbClr val="FFFFFF"/>
                </a:solidFill>
                <a:latin typeface="Arial" pitchFamily="34" charset="0"/>
                <a:ea typeface="Arial" pitchFamily="34" charset="-122"/>
                <a:cs typeface="Arial" pitchFamily="34" charset="-120"/>
              </a:rPr>
              <a:t>pass distributor fit and budget fit (both &gt;= 4)</a:t>
            </a:r>
            <a:endParaRPr lang="en-US" sz="1600" dirty="0"/>
          </a:p>
        </p:txBody>
      </p:sp>
      <p:sp>
        <p:nvSpPr>
          <p:cNvPr id="11" name="Shape 9"/>
          <p:cNvSpPr/>
          <p:nvPr/>
        </p:nvSpPr>
        <p:spPr>
          <a:xfrm flipV="1">
            <a:off x="566928" y="2139696"/>
            <a:ext cx="2697480" cy="512064"/>
          </a:xfrm>
          <a:prstGeom prst="trapezoid">
            <a:avLst/>
          </a:prstGeom>
          <a:solidFill>
            <a:srgbClr val="86BC25"/>
          </a:solidFill>
          <a:ln w="12700">
            <a:solidFill>
              <a:srgbClr val="FFFFFF"/>
            </a:solidFill>
            <a:prstDash val="solid"/>
          </a:ln>
        </p:spPr>
      </p:sp>
      <p:sp>
        <p:nvSpPr>
          <p:cNvPr id="12" name="Text 10"/>
          <p:cNvSpPr txBox="1"/>
          <p:nvPr/>
        </p:nvSpPr>
        <p:spPr>
          <a:xfrm>
            <a:off x="841248" y="2139696"/>
            <a:ext cx="2148840" cy="512064"/>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  </a:t>
            </a:r>
            <a:pPr algn="ctr" indent="0" marL="0">
              <a:buNone/>
            </a:pPr>
            <a:r>
              <a:rPr lang="en-US" sz="780" dirty="0">
                <a:solidFill>
                  <a:srgbClr val="000000"/>
                </a:solidFill>
                <a:latin typeface="Arial" pitchFamily="34" charset="0"/>
                <a:ea typeface="Arial" pitchFamily="34" charset="-122"/>
                <a:cs typeface="Arial" pitchFamily="34" charset="-120"/>
              </a:rPr>
              <a:t>launch in FY22: premixes (Q3), spices (Q4)</a:t>
            </a:r>
            <a:endParaRPr lang="en-US" sz="1600" dirty="0"/>
          </a:p>
        </p:txBody>
      </p:sp>
      <p:sp>
        <p:nvSpPr>
          <p:cNvPr id="13" name="Shape 11"/>
          <p:cNvSpPr/>
          <p:nvPr/>
        </p:nvSpPr>
        <p:spPr>
          <a:xfrm flipV="1">
            <a:off x="795528" y="2706624"/>
            <a:ext cx="2240280" cy="512064"/>
          </a:xfrm>
          <a:prstGeom prst="trapezoid">
            <a:avLst/>
          </a:prstGeom>
          <a:solidFill>
            <a:srgbClr val="E3F1D0"/>
          </a:solidFill>
          <a:ln w="12700">
            <a:solidFill>
              <a:srgbClr val="FFFFFF"/>
            </a:solidFill>
            <a:prstDash val="solid"/>
          </a:ln>
        </p:spPr>
      </p:sp>
      <p:sp>
        <p:nvSpPr>
          <p:cNvPr id="14" name="Text 12"/>
          <p:cNvSpPr txBox="1"/>
          <p:nvPr/>
        </p:nvSpPr>
        <p:spPr>
          <a:xfrm>
            <a:off x="1069848" y="2706624"/>
            <a:ext cx="1691640" cy="512064"/>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  </a:t>
            </a:r>
            <a:pPr algn="ctr" indent="0" marL="0">
              <a:buNone/>
            </a:pPr>
            <a:r>
              <a:rPr lang="en-US" sz="780" dirty="0">
                <a:solidFill>
                  <a:srgbClr val="000000"/>
                </a:solidFill>
                <a:latin typeface="Arial" pitchFamily="34" charset="0"/>
                <a:ea typeface="Arial" pitchFamily="34" charset="-122"/>
                <a:cs typeface="Arial" pitchFamily="34" charset="-120"/>
              </a:rPr>
              <a:t>gated FY23 option: RTC first, then pickles</a:t>
            </a:r>
            <a:endParaRPr lang="en-US" sz="1600" dirty="0"/>
          </a:p>
        </p:txBody>
      </p:sp>
      <p:sp>
        <p:nvSpPr>
          <p:cNvPr id="15" name="Text 13"/>
          <p:cNvSpPr txBox="1"/>
          <p:nvPr/>
        </p:nvSpPr>
        <p:spPr>
          <a:xfrm>
            <a:off x="109728" y="3346704"/>
            <a:ext cx="36576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What we refuse, and why</a:t>
            </a:r>
            <a:endParaRPr lang="en-US" sz="1100" dirty="0"/>
          </a:p>
        </p:txBody>
      </p:sp>
      <p:sp>
        <p:nvSpPr>
          <p:cNvPr id="16" name="Shape 14"/>
          <p:cNvSpPr/>
          <p:nvPr/>
        </p:nvSpPr>
        <p:spPr>
          <a:xfrm>
            <a:off x="109728" y="3611880"/>
            <a:ext cx="3611880" cy="512064"/>
          </a:xfrm>
          <a:prstGeom prst="rect">
            <a:avLst/>
          </a:prstGeom>
          <a:solidFill>
            <a:srgbClr val="F2F2F2"/>
          </a:solidFill>
          <a:ln w="12700">
            <a:solidFill>
              <a:srgbClr val="D0D0CE"/>
            </a:solidFill>
            <a:prstDash val="solid"/>
          </a:ln>
        </p:spPr>
      </p:sp>
      <p:sp>
        <p:nvSpPr>
          <p:cNvPr id="17" name="Shape 15"/>
          <p:cNvSpPr/>
          <p:nvPr/>
        </p:nvSpPr>
        <p:spPr>
          <a:xfrm>
            <a:off x="164592" y="3712464"/>
            <a:ext cx="310896" cy="310896"/>
          </a:xfrm>
          <a:prstGeom prst="ellipse">
            <a:avLst/>
          </a:prstGeom>
          <a:solidFill>
            <a:srgbClr val="C0392B"/>
          </a:solidFill>
          <a:ln w="12700">
            <a:solidFill>
              <a:srgbClr val="C0392B"/>
            </a:solidFill>
            <a:prstDash val="solid"/>
          </a:ln>
        </p:spPr>
      </p:sp>
      <p:pic>
        <p:nvPicPr>
          <p:cNvPr id="18" name="Image 0" descr="preencoded.png">    </p:cNvPr>
          <p:cNvPicPr>
            <a:picLocks noChangeAspect="1"/>
          </p:cNvPicPr>
          <p:nvPr/>
        </p:nvPicPr>
        <p:blipFill>
          <a:blip r:embed="rId1"/>
          <a:stretch>
            <a:fillRect/>
          </a:stretch>
        </p:blipFill>
        <p:spPr>
          <a:xfrm>
            <a:off x="232989" y="3780861"/>
            <a:ext cx="174102" cy="174102"/>
          </a:xfrm>
          <a:prstGeom prst="rect">
            <a:avLst/>
          </a:prstGeom>
        </p:spPr>
      </p:pic>
      <p:sp>
        <p:nvSpPr>
          <p:cNvPr id="19" name="Text 16"/>
          <p:cNvSpPr txBox="1"/>
          <p:nvPr/>
        </p:nvSpPr>
        <p:spPr>
          <a:xfrm>
            <a:off x="548640" y="3611880"/>
            <a:ext cx="3127248" cy="512064"/>
          </a:xfrm>
          <a:prstGeom prst="rect">
            <a:avLst/>
          </a:prstGeom>
          <a:noFill/>
          <a:ln/>
        </p:spPr>
        <p:txBody>
          <a:bodyPr wrap="square" lIns="0" tIns="0" rIns="0" bIns="0" rtlCol="0" anchor="ctr"/>
          <a:lstStyle/>
          <a:p>
            <a:pPr indent="0" marL="0">
              <a:buNone/>
            </a:pPr>
            <a:r>
              <a:rPr lang="en-US" sz="740" b="1" dirty="0">
                <a:solidFill>
                  <a:srgbClr val="000000"/>
                </a:solidFill>
                <a:latin typeface="Arial" pitchFamily="34" charset="0"/>
                <a:ea typeface="Arial" pitchFamily="34" charset="-122"/>
                <a:cs typeface="Arial" pitchFamily="34" charset="-120"/>
              </a:rPr>
              <a:t>Namkeen</a:t>
            </a:r>
            <a:endParaRPr lang="en-US" sz="740" dirty="0"/>
          </a:p>
          <a:p>
            <a:pPr indent="0" marL="0">
              <a:buNone/>
            </a:pPr>
            <a:r>
              <a:rPr lang="en-US" sz="740" dirty="0">
                <a:solidFill>
                  <a:srgbClr val="53565A"/>
                </a:solidFill>
                <a:latin typeface="Arial" pitchFamily="34" charset="0"/>
                <a:ea typeface="Arial" pitchFamily="34" charset="-122"/>
                <a:cs typeface="Arial" pitchFamily="34" charset="-120"/>
              </a:rPr>
              <a:t>Out on budget: in-house capex high, contract mfg only medium, adjacency 2.9</a:t>
            </a:r>
            <a:endParaRPr lang="en-US" sz="740" dirty="0"/>
          </a:p>
        </p:txBody>
      </p:sp>
      <p:sp>
        <p:nvSpPr>
          <p:cNvPr id="20" name="Shape 17"/>
          <p:cNvSpPr/>
          <p:nvPr/>
        </p:nvSpPr>
        <p:spPr>
          <a:xfrm>
            <a:off x="109728" y="4178808"/>
            <a:ext cx="3611880" cy="512064"/>
          </a:xfrm>
          <a:prstGeom prst="rect">
            <a:avLst/>
          </a:prstGeom>
          <a:solidFill>
            <a:srgbClr val="F2F2F2"/>
          </a:solidFill>
          <a:ln w="12700">
            <a:solidFill>
              <a:srgbClr val="D0D0CE"/>
            </a:solidFill>
            <a:prstDash val="solid"/>
          </a:ln>
        </p:spPr>
      </p:sp>
      <p:sp>
        <p:nvSpPr>
          <p:cNvPr id="21" name="Shape 18"/>
          <p:cNvSpPr/>
          <p:nvPr/>
        </p:nvSpPr>
        <p:spPr>
          <a:xfrm>
            <a:off x="164592" y="4279392"/>
            <a:ext cx="310896" cy="310896"/>
          </a:xfrm>
          <a:prstGeom prst="ellipse">
            <a:avLst/>
          </a:prstGeom>
          <a:solidFill>
            <a:srgbClr val="C0392B"/>
          </a:solidFill>
          <a:ln w="12700">
            <a:solidFill>
              <a:srgbClr val="C0392B"/>
            </a:solidFill>
            <a:prstDash val="solid"/>
          </a:ln>
        </p:spPr>
      </p:sp>
      <p:pic>
        <p:nvPicPr>
          <p:cNvPr id="22" name="Image 1" descr="preencoded.png">    </p:cNvPr>
          <p:cNvPicPr>
            <a:picLocks noChangeAspect="1"/>
          </p:cNvPicPr>
          <p:nvPr/>
        </p:nvPicPr>
        <p:blipFill>
          <a:blip r:embed="rId2"/>
          <a:stretch>
            <a:fillRect/>
          </a:stretch>
        </p:blipFill>
        <p:spPr>
          <a:xfrm>
            <a:off x="232989" y="4347789"/>
            <a:ext cx="174102" cy="174102"/>
          </a:xfrm>
          <a:prstGeom prst="rect">
            <a:avLst/>
          </a:prstGeom>
        </p:spPr>
      </p:pic>
      <p:sp>
        <p:nvSpPr>
          <p:cNvPr id="23" name="Text 19"/>
          <p:cNvSpPr txBox="1"/>
          <p:nvPr/>
        </p:nvSpPr>
        <p:spPr>
          <a:xfrm>
            <a:off x="548640" y="4178808"/>
            <a:ext cx="3127248" cy="512064"/>
          </a:xfrm>
          <a:prstGeom prst="rect">
            <a:avLst/>
          </a:prstGeom>
          <a:noFill/>
          <a:ln/>
        </p:spPr>
        <p:txBody>
          <a:bodyPr wrap="square" lIns="0" tIns="0" rIns="0" bIns="0" rtlCol="0" anchor="ctr"/>
          <a:lstStyle/>
          <a:p>
            <a:pPr indent="0" marL="0">
              <a:buNone/>
            </a:pPr>
            <a:r>
              <a:rPr lang="en-US" sz="740" b="1" dirty="0">
                <a:solidFill>
                  <a:srgbClr val="000000"/>
                </a:solidFill>
                <a:latin typeface="Arial" pitchFamily="34" charset="0"/>
                <a:ea typeface="Arial" pitchFamily="34" charset="-122"/>
                <a:cs typeface="Arial" pitchFamily="34" charset="-120"/>
              </a:rPr>
              <a:t>Staples</a:t>
            </a:r>
            <a:endParaRPr lang="en-US" sz="740" dirty="0"/>
          </a:p>
          <a:p>
            <a:pPr indent="0" marL="0">
              <a:buNone/>
            </a:pPr>
            <a:r>
              <a:rPr lang="en-US" sz="740" dirty="0">
                <a:solidFill>
                  <a:srgbClr val="53565A"/>
                </a:solidFill>
                <a:latin typeface="Arial" pitchFamily="34" charset="0"/>
                <a:ea typeface="Arial" pitchFamily="34" charset="-122"/>
                <a:cs typeface="Arial" pitchFamily="34" charset="-120"/>
              </a:rPr>
              <a:t>Out on both: 4-8% gross margin cannot pay GT terms; needs a plant</a:t>
            </a:r>
            <a:endParaRPr lang="en-US" sz="740" dirty="0"/>
          </a:p>
        </p:txBody>
      </p:sp>
      <p:sp>
        <p:nvSpPr>
          <p:cNvPr id="24" name="Shape 20"/>
          <p:cNvSpPr/>
          <p:nvPr/>
        </p:nvSpPr>
        <p:spPr>
          <a:xfrm>
            <a:off x="109728" y="4745736"/>
            <a:ext cx="3611880" cy="512064"/>
          </a:xfrm>
          <a:prstGeom prst="rect">
            <a:avLst/>
          </a:prstGeom>
          <a:solidFill>
            <a:srgbClr val="F2F2F2"/>
          </a:solidFill>
          <a:ln w="12700">
            <a:solidFill>
              <a:srgbClr val="D0D0CE"/>
            </a:solidFill>
            <a:prstDash val="solid"/>
          </a:ln>
        </p:spPr>
      </p:sp>
      <p:sp>
        <p:nvSpPr>
          <p:cNvPr id="25" name="Shape 21"/>
          <p:cNvSpPr/>
          <p:nvPr/>
        </p:nvSpPr>
        <p:spPr>
          <a:xfrm>
            <a:off x="164592" y="4846320"/>
            <a:ext cx="310896" cy="310896"/>
          </a:xfrm>
          <a:prstGeom prst="ellipse">
            <a:avLst/>
          </a:prstGeom>
          <a:solidFill>
            <a:srgbClr val="C0392B"/>
          </a:solidFill>
          <a:ln w="12700">
            <a:solidFill>
              <a:srgbClr val="C0392B"/>
            </a:solidFill>
            <a:prstDash val="solid"/>
          </a:ln>
        </p:spPr>
      </p:sp>
      <p:pic>
        <p:nvPicPr>
          <p:cNvPr id="26" name="Image 2" descr="preencoded.png">    </p:cNvPr>
          <p:cNvPicPr>
            <a:picLocks noChangeAspect="1"/>
          </p:cNvPicPr>
          <p:nvPr/>
        </p:nvPicPr>
        <p:blipFill>
          <a:blip r:embed="rId3"/>
          <a:stretch>
            <a:fillRect/>
          </a:stretch>
        </p:blipFill>
        <p:spPr>
          <a:xfrm>
            <a:off x="232989" y="4914717"/>
            <a:ext cx="174102" cy="174102"/>
          </a:xfrm>
          <a:prstGeom prst="rect">
            <a:avLst/>
          </a:prstGeom>
        </p:spPr>
      </p:pic>
      <p:sp>
        <p:nvSpPr>
          <p:cNvPr id="27" name="Text 22"/>
          <p:cNvSpPr txBox="1"/>
          <p:nvPr/>
        </p:nvSpPr>
        <p:spPr>
          <a:xfrm>
            <a:off x="548640" y="4745736"/>
            <a:ext cx="3127248" cy="512064"/>
          </a:xfrm>
          <a:prstGeom prst="rect">
            <a:avLst/>
          </a:prstGeom>
          <a:noFill/>
          <a:ln/>
        </p:spPr>
        <p:txBody>
          <a:bodyPr wrap="square" lIns="0" tIns="0" rIns="0" bIns="0" rtlCol="0" anchor="ctr"/>
          <a:lstStyle/>
          <a:p>
            <a:pPr indent="0" marL="0">
              <a:buNone/>
            </a:pPr>
            <a:r>
              <a:rPr lang="en-US" sz="740" b="1" dirty="0">
                <a:solidFill>
                  <a:srgbClr val="000000"/>
                </a:solidFill>
                <a:latin typeface="Arial" pitchFamily="34" charset="0"/>
                <a:ea typeface="Arial" pitchFamily="34" charset="-122"/>
                <a:cs typeface="Arial" pitchFamily="34" charset="-120"/>
              </a:rPr>
              <a:t>Dairy desserts</a:t>
            </a:r>
            <a:endParaRPr lang="en-US" sz="740" dirty="0"/>
          </a:p>
          <a:p>
            <a:pPr indent="0" marL="0">
              <a:buNone/>
            </a:pPr>
            <a:r>
              <a:rPr lang="en-US" sz="740" dirty="0">
                <a:solidFill>
                  <a:srgbClr val="53565A"/>
                </a:solidFill>
                <a:latin typeface="Arial" pitchFamily="34" charset="0"/>
                <a:ea typeface="Arial" pitchFamily="34" charset="-122"/>
                <a:cs typeface="Arial" pitchFamily="34" charset="-120"/>
              </a:rPr>
              <a:t>Out on both: a chilled route our distributors do not run</a:t>
            </a:r>
            <a:endParaRPr lang="en-US" sz="740" dirty="0"/>
          </a:p>
        </p:txBody>
      </p:sp>
      <p:sp>
        <p:nvSpPr>
          <p:cNvPr id="28" name="Shape 23"/>
          <p:cNvSpPr/>
          <p:nvPr/>
        </p:nvSpPr>
        <p:spPr>
          <a:xfrm>
            <a:off x="109728" y="5312664"/>
            <a:ext cx="3611880" cy="512064"/>
          </a:xfrm>
          <a:prstGeom prst="rect">
            <a:avLst/>
          </a:prstGeom>
          <a:solidFill>
            <a:srgbClr val="F2F2F2"/>
          </a:solidFill>
          <a:ln w="12700">
            <a:solidFill>
              <a:srgbClr val="D0D0CE"/>
            </a:solidFill>
            <a:prstDash val="solid"/>
          </a:ln>
        </p:spPr>
      </p:sp>
      <p:sp>
        <p:nvSpPr>
          <p:cNvPr id="29" name="Shape 24"/>
          <p:cNvSpPr/>
          <p:nvPr/>
        </p:nvSpPr>
        <p:spPr>
          <a:xfrm>
            <a:off x="164592" y="5413248"/>
            <a:ext cx="310896" cy="310896"/>
          </a:xfrm>
          <a:prstGeom prst="ellipse">
            <a:avLst/>
          </a:prstGeom>
          <a:solidFill>
            <a:srgbClr val="C0392B"/>
          </a:solidFill>
          <a:ln w="12700">
            <a:solidFill>
              <a:srgbClr val="C0392B"/>
            </a:solidFill>
            <a:prstDash val="solid"/>
          </a:ln>
        </p:spPr>
      </p:sp>
      <p:pic>
        <p:nvPicPr>
          <p:cNvPr id="30" name="Image 3" descr="preencoded.png">    </p:cNvPr>
          <p:cNvPicPr>
            <a:picLocks noChangeAspect="1"/>
          </p:cNvPicPr>
          <p:nvPr/>
        </p:nvPicPr>
        <p:blipFill>
          <a:blip r:embed="rId4"/>
          <a:stretch>
            <a:fillRect/>
          </a:stretch>
        </p:blipFill>
        <p:spPr>
          <a:xfrm>
            <a:off x="232989" y="5481645"/>
            <a:ext cx="174102" cy="174102"/>
          </a:xfrm>
          <a:prstGeom prst="rect">
            <a:avLst/>
          </a:prstGeom>
        </p:spPr>
      </p:pic>
      <p:sp>
        <p:nvSpPr>
          <p:cNvPr id="31" name="Text 25"/>
          <p:cNvSpPr txBox="1"/>
          <p:nvPr/>
        </p:nvSpPr>
        <p:spPr>
          <a:xfrm>
            <a:off x="548640" y="5312664"/>
            <a:ext cx="3127248" cy="512064"/>
          </a:xfrm>
          <a:prstGeom prst="rect">
            <a:avLst/>
          </a:prstGeom>
          <a:noFill/>
          <a:ln/>
        </p:spPr>
        <p:txBody>
          <a:bodyPr wrap="square" lIns="0" tIns="0" rIns="0" bIns="0" rtlCol="0" anchor="ctr"/>
          <a:lstStyle/>
          <a:p>
            <a:pPr indent="0" marL="0">
              <a:buNone/>
            </a:pPr>
            <a:r>
              <a:rPr lang="en-US" sz="740" b="1" dirty="0">
                <a:solidFill>
                  <a:srgbClr val="000000"/>
                </a:solidFill>
                <a:latin typeface="Arial" pitchFamily="34" charset="0"/>
                <a:ea typeface="Arial" pitchFamily="34" charset="-122"/>
                <a:cs typeface="Arial" pitchFamily="34" charset="-120"/>
              </a:rPr>
              <a:t>Juices &amp; RTD</a:t>
            </a:r>
            <a:endParaRPr lang="en-US" sz="740" dirty="0"/>
          </a:p>
          <a:p>
            <a:pPr indent="0" marL="0">
              <a:buNone/>
            </a:pPr>
            <a:r>
              <a:rPr lang="en-US" sz="740" dirty="0">
                <a:solidFill>
                  <a:srgbClr val="53565A"/>
                </a:solidFill>
                <a:latin typeface="Arial" pitchFamily="34" charset="0"/>
                <a:ea typeface="Arial" pitchFamily="34" charset="-122"/>
                <a:cs typeface="Arial" pitchFamily="34" charset="-120"/>
              </a:rPr>
              <a:t>Out on both: same summer season; Product C already at -10.5% EBITDA</a:t>
            </a:r>
            <a:endParaRPr lang="en-US" sz="740" dirty="0"/>
          </a:p>
        </p:txBody>
      </p:sp>
      <p:sp>
        <p:nvSpPr>
          <p:cNvPr id="32" name="Text 26"/>
          <p:cNvSpPr txBox="1"/>
          <p:nvPr/>
        </p:nvSpPr>
        <p:spPr>
          <a:xfrm>
            <a:off x="3886200" y="749808"/>
            <a:ext cx="43434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Board-constraint check (pass = both fits &gt;= 4)</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886200" y="1005840"/>
          <a:ext cx="4343400" cy="914400"/>
        </p:xfrm>
        <a:graphic>
          <a:graphicData uri="http://schemas.openxmlformats.org/drawingml/2006/table">
            <a:tbl>
              <a:tblPr/>
              <a:tblGrid>
                <a:gridCol w="768096"/>
                <a:gridCol w="393192"/>
                <a:gridCol w="438912"/>
                <a:gridCol w="438912"/>
                <a:gridCol w="365760"/>
                <a:gridCol w="457200"/>
                <a:gridCol w="411480"/>
                <a:gridCol w="384048"/>
                <a:gridCol w="685800"/>
              </a:tblGrid>
              <a:tr h="242316">
                <a:tc>
                  <a:txBody>
                    <a:bodyPr/>
                    <a:lstStyle/>
                    <a:p>
                      <a:pPr indent="0" marL="0">
                        <a:buNone/>
                      </a:pPr>
                      <a:r>
                        <a:rPr lang="en-US" sz="690" b="1" dirty="0">
                          <a:solidFill>
                            <a:srgbClr val="FFFFFF"/>
                          </a:solidFill>
                          <a:latin typeface="Arial" pitchFamily="34" charset="0"/>
                          <a:ea typeface="Arial" pitchFamily="34" charset="-122"/>
                          <a:cs typeface="Arial" pitchFamily="34" charset="-120"/>
                        </a:rPr>
                        <a:t>Category</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Kirana route</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Off-season sales</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Pays GT terms</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Distr. fit</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Contract mfg</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Capex</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50" b="1" dirty="0">
                          <a:solidFill>
                            <a:srgbClr val="FFFFFF"/>
                          </a:solidFill>
                          <a:latin typeface="Arial" pitchFamily="34" charset="0"/>
                          <a:ea typeface="Arial" pitchFamily="34" charset="-122"/>
                          <a:cs typeface="Arial" pitchFamily="34" charset="-120"/>
                        </a:rPr>
                        <a:t>Budget fit</a:t>
                      </a:r>
                      <a:endParaRPr lang="en-US" sz="65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690" b="1" dirty="0">
                          <a:solidFill>
                            <a:srgbClr val="FFFFFF"/>
                          </a:solidFill>
                          <a:latin typeface="Arial" pitchFamily="34" charset="0"/>
                          <a:ea typeface="Arial" pitchFamily="34" charset="-122"/>
                          <a:cs typeface="Arial" pitchFamily="34" charset="-120"/>
                        </a:rPr>
                        <a:t>Result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Spices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Low</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Pass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RTC mixes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Medium</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4.0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Pass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Pickles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Low</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Pass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Premixes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Low</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Pass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Namkeen</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5.0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Medium</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2.0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Out: budget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7F7F7F"/>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Staples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ED8B00"/>
                          </a:solidFill>
                          <a:latin typeface="Arial" pitchFamily="34" charset="0"/>
                          <a:ea typeface="Arial" pitchFamily="34" charset="-122"/>
                          <a:cs typeface="Arial" pitchFamily="34" charset="-120"/>
                        </a:rPr>
                        <a:t>Partly</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No</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3.0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Medium</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2.0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Out: both</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7F7F7F"/>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Dairy desserts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No</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No</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ED8B00"/>
                          </a:solidFill>
                          <a:latin typeface="Arial" pitchFamily="34" charset="0"/>
                          <a:ea typeface="Arial" pitchFamily="34" charset="-122"/>
                          <a:cs typeface="Arial" pitchFamily="34" charset="-120"/>
                        </a:rPr>
                        <a:t>Partly</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1.7</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Low</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1.0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Out: both</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7F7F7F"/>
                    </a:solidFill>
                  </a:tcPr>
                </a:tc>
              </a:tr>
              <a:tr h="242316">
                <a:tc>
                  <a:txBody>
                    <a:bodyPr/>
                    <a:lstStyle/>
                    <a:p>
                      <a:pPr indent="0" marL="0">
                        <a:buNone/>
                      </a:pPr>
                      <a:r>
                        <a:rPr lang="en-US" sz="690" b="1" dirty="0">
                          <a:solidFill>
                            <a:srgbClr val="000000"/>
                          </a:solidFill>
                          <a:latin typeface="Arial" pitchFamily="34" charset="0"/>
                          <a:ea typeface="Arial" pitchFamily="34" charset="-122"/>
                          <a:cs typeface="Arial" pitchFamily="34" charset="-120"/>
                        </a:rPr>
                        <a:t>Juices &amp; RTD</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046A38"/>
                          </a:solidFill>
                          <a:latin typeface="Arial" pitchFamily="34" charset="0"/>
                          <a:ea typeface="Arial" pitchFamily="34" charset="-122"/>
                          <a:cs typeface="Arial" pitchFamily="34" charset="-120"/>
                        </a:rPr>
                        <a:t>Yes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No</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ED8B00"/>
                          </a:solidFill>
                          <a:latin typeface="Arial" pitchFamily="34" charset="0"/>
                          <a:ea typeface="Arial" pitchFamily="34" charset="-122"/>
                          <a:cs typeface="Arial" pitchFamily="34" charset="-120"/>
                        </a:rPr>
                        <a:t>Partly</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3.0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Medium</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dirty="0">
                          <a:solidFill>
                            <a:srgbClr val="000000"/>
                          </a:solidFill>
                          <a:latin typeface="Arial" pitchFamily="34" charset="0"/>
                          <a:ea typeface="Arial" pitchFamily="34" charset="-122"/>
                          <a:cs typeface="Arial" pitchFamily="34" charset="-120"/>
                        </a:rPr>
                        <a:t>High</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690" b="1" dirty="0">
                          <a:solidFill>
                            <a:srgbClr val="C0392B"/>
                          </a:solidFill>
                          <a:latin typeface="Arial" pitchFamily="34" charset="0"/>
                          <a:ea typeface="Arial" pitchFamily="34" charset="-122"/>
                          <a:cs typeface="Arial" pitchFamily="34" charset="-120"/>
                        </a:rPr>
                        <a:t>2.0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Out: both</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7F7F7F"/>
                    </a:solidFill>
                  </a:tcPr>
                </a:tc>
              </a:tr>
            </a:tbl>
          </a:graphicData>
        </a:graphic>
      </p:graphicFrame>
      <p:sp>
        <p:nvSpPr>
          <p:cNvPr id="34" name="Text 27"/>
          <p:cNvSpPr txBox="1"/>
          <p:nvPr/>
        </p:nvSpPr>
        <p:spPr>
          <a:xfrm>
            <a:off x="3886200" y="3346704"/>
            <a:ext cx="43434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Market map (Exh. 5): growth vs brand adjacency</a:t>
            </a:r>
            <a:endParaRPr lang="en-US" sz="1100" dirty="0"/>
          </a:p>
        </p:txBody>
      </p:sp>
      <p:sp>
        <p:nvSpPr>
          <p:cNvPr id="35" name="Shape 28"/>
          <p:cNvSpPr/>
          <p:nvPr/>
        </p:nvSpPr>
        <p:spPr>
          <a:xfrm>
            <a:off x="4297680" y="3639312"/>
            <a:ext cx="3840480" cy="1938528"/>
          </a:xfrm>
          <a:prstGeom prst="rect">
            <a:avLst/>
          </a:prstGeom>
          <a:solidFill>
            <a:srgbClr val="FFFFFF"/>
          </a:solidFill>
          <a:ln w="12700">
            <a:solidFill>
              <a:srgbClr val="D0D0CE"/>
            </a:solidFill>
            <a:prstDash val="solid"/>
          </a:ln>
        </p:spPr>
      </p:sp>
      <p:sp>
        <p:nvSpPr>
          <p:cNvPr id="36" name="Text 29"/>
          <p:cNvSpPr txBox="1"/>
          <p:nvPr/>
        </p:nvSpPr>
        <p:spPr>
          <a:xfrm>
            <a:off x="475488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8%</a:t>
            </a:r>
            <a:endParaRPr lang="en-US" sz="630" dirty="0"/>
          </a:p>
        </p:txBody>
      </p:sp>
      <p:sp>
        <p:nvSpPr>
          <p:cNvPr id="37" name="Text 30"/>
          <p:cNvSpPr txBox="1"/>
          <p:nvPr/>
        </p:nvSpPr>
        <p:spPr>
          <a:xfrm>
            <a:off x="539496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10%</a:t>
            </a:r>
            <a:endParaRPr lang="en-US" sz="630" dirty="0"/>
          </a:p>
        </p:txBody>
      </p:sp>
      <p:sp>
        <p:nvSpPr>
          <p:cNvPr id="38" name="Text 31"/>
          <p:cNvSpPr txBox="1"/>
          <p:nvPr/>
        </p:nvSpPr>
        <p:spPr>
          <a:xfrm>
            <a:off x="603504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12%</a:t>
            </a:r>
            <a:endParaRPr lang="en-US" sz="630" dirty="0"/>
          </a:p>
        </p:txBody>
      </p:sp>
      <p:sp>
        <p:nvSpPr>
          <p:cNvPr id="39" name="Text 32"/>
          <p:cNvSpPr txBox="1"/>
          <p:nvPr/>
        </p:nvSpPr>
        <p:spPr>
          <a:xfrm>
            <a:off x="667512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14%</a:t>
            </a:r>
            <a:endParaRPr lang="en-US" sz="630" dirty="0"/>
          </a:p>
        </p:txBody>
      </p:sp>
      <p:sp>
        <p:nvSpPr>
          <p:cNvPr id="40" name="Text 33"/>
          <p:cNvSpPr txBox="1"/>
          <p:nvPr/>
        </p:nvSpPr>
        <p:spPr>
          <a:xfrm>
            <a:off x="731520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16%</a:t>
            </a:r>
            <a:endParaRPr lang="en-US" sz="630" dirty="0"/>
          </a:p>
        </p:txBody>
      </p:sp>
      <p:sp>
        <p:nvSpPr>
          <p:cNvPr id="41" name="Text 34"/>
          <p:cNvSpPr txBox="1"/>
          <p:nvPr/>
        </p:nvSpPr>
        <p:spPr>
          <a:xfrm>
            <a:off x="7955280" y="5596128"/>
            <a:ext cx="365760" cy="146304"/>
          </a:xfrm>
          <a:prstGeom prst="rect">
            <a:avLst/>
          </a:prstGeom>
          <a:noFill/>
          <a:ln/>
        </p:spPr>
        <p:txBody>
          <a:bodyPr wrap="square" lIns="0" tIns="0" rIns="0" bIns="0" rtlCol="0" anchor="ctr"/>
          <a:lstStyle/>
          <a:p>
            <a:pPr algn="ctr" indent="0" marL="0">
              <a:buNone/>
            </a:pPr>
            <a:r>
              <a:rPr lang="en-US" sz="630" dirty="0">
                <a:solidFill>
                  <a:srgbClr val="53565A"/>
                </a:solidFill>
                <a:latin typeface="Arial" pitchFamily="34" charset="0"/>
                <a:ea typeface="Arial" pitchFamily="34" charset="-122"/>
                <a:cs typeface="Arial" pitchFamily="34" charset="-120"/>
              </a:rPr>
              <a:t>18%</a:t>
            </a:r>
            <a:endParaRPr lang="en-US" sz="630" dirty="0"/>
          </a:p>
        </p:txBody>
      </p:sp>
      <p:sp>
        <p:nvSpPr>
          <p:cNvPr id="42" name="Shape 35"/>
          <p:cNvSpPr/>
          <p:nvPr/>
        </p:nvSpPr>
        <p:spPr>
          <a:xfrm>
            <a:off x="4297680" y="5463809"/>
            <a:ext cx="3840480" cy="0"/>
          </a:xfrm>
          <a:prstGeom prst="line">
            <a:avLst/>
          </a:prstGeom>
          <a:noFill/>
          <a:ln w="6350">
            <a:solidFill>
              <a:srgbClr val="E6E6E6"/>
            </a:solidFill>
            <a:prstDash val="solid"/>
          </a:ln>
        </p:spPr>
      </p:sp>
      <p:sp>
        <p:nvSpPr>
          <p:cNvPr id="43" name="Text 36"/>
          <p:cNvSpPr txBox="1"/>
          <p:nvPr/>
        </p:nvSpPr>
        <p:spPr>
          <a:xfrm>
            <a:off x="4114800" y="5390657"/>
            <a:ext cx="146304" cy="146304"/>
          </a:xfrm>
          <a:prstGeom prst="rect">
            <a:avLst/>
          </a:prstGeom>
          <a:noFill/>
          <a:ln/>
        </p:spPr>
        <p:txBody>
          <a:bodyPr wrap="square" lIns="0" tIns="0" rIns="0" bIns="0" rtlCol="0" anchor="ctr"/>
          <a:lstStyle/>
          <a:p>
            <a:pPr algn="r" indent="0" marL="0">
              <a:buNone/>
            </a:pPr>
            <a:r>
              <a:rPr lang="en-US" sz="630" dirty="0">
                <a:solidFill>
                  <a:srgbClr val="53565A"/>
                </a:solidFill>
                <a:latin typeface="Arial" pitchFamily="34" charset="0"/>
                <a:ea typeface="Arial" pitchFamily="34" charset="-122"/>
                <a:cs typeface="Arial" pitchFamily="34" charset="-120"/>
              </a:rPr>
              <a:t>2</a:t>
            </a:r>
            <a:endParaRPr lang="en-US" sz="630" dirty="0"/>
          </a:p>
        </p:txBody>
      </p:sp>
      <p:sp>
        <p:nvSpPr>
          <p:cNvPr id="44" name="Shape 37"/>
          <p:cNvSpPr/>
          <p:nvPr/>
        </p:nvSpPr>
        <p:spPr>
          <a:xfrm>
            <a:off x="4297680" y="4893654"/>
            <a:ext cx="3840480" cy="0"/>
          </a:xfrm>
          <a:prstGeom prst="line">
            <a:avLst/>
          </a:prstGeom>
          <a:noFill/>
          <a:ln w="6350">
            <a:solidFill>
              <a:srgbClr val="E6E6E6"/>
            </a:solidFill>
            <a:prstDash val="solid"/>
          </a:ln>
        </p:spPr>
      </p:sp>
      <p:sp>
        <p:nvSpPr>
          <p:cNvPr id="45" name="Text 38"/>
          <p:cNvSpPr txBox="1"/>
          <p:nvPr/>
        </p:nvSpPr>
        <p:spPr>
          <a:xfrm>
            <a:off x="4114800" y="4820502"/>
            <a:ext cx="146304" cy="146304"/>
          </a:xfrm>
          <a:prstGeom prst="rect">
            <a:avLst/>
          </a:prstGeom>
          <a:noFill/>
          <a:ln/>
        </p:spPr>
        <p:txBody>
          <a:bodyPr wrap="square" lIns="0" tIns="0" rIns="0" bIns="0" rtlCol="0" anchor="ctr"/>
          <a:lstStyle/>
          <a:p>
            <a:pPr algn="r" indent="0" marL="0">
              <a:buNone/>
            </a:pPr>
            <a:r>
              <a:rPr lang="en-US" sz="630" dirty="0">
                <a:solidFill>
                  <a:srgbClr val="53565A"/>
                </a:solidFill>
                <a:latin typeface="Arial" pitchFamily="34" charset="0"/>
                <a:ea typeface="Arial" pitchFamily="34" charset="-122"/>
                <a:cs typeface="Arial" pitchFamily="34" charset="-120"/>
              </a:rPr>
              <a:t>3</a:t>
            </a:r>
            <a:endParaRPr lang="en-US" sz="630" dirty="0"/>
          </a:p>
        </p:txBody>
      </p:sp>
      <p:sp>
        <p:nvSpPr>
          <p:cNvPr id="46" name="Shape 39"/>
          <p:cNvSpPr/>
          <p:nvPr/>
        </p:nvSpPr>
        <p:spPr>
          <a:xfrm>
            <a:off x="4297680" y="4323498"/>
            <a:ext cx="3840480" cy="0"/>
          </a:xfrm>
          <a:prstGeom prst="line">
            <a:avLst/>
          </a:prstGeom>
          <a:noFill/>
          <a:ln w="6350">
            <a:solidFill>
              <a:srgbClr val="E6E6E6"/>
            </a:solidFill>
            <a:prstDash val="solid"/>
          </a:ln>
        </p:spPr>
      </p:sp>
      <p:sp>
        <p:nvSpPr>
          <p:cNvPr id="47" name="Text 40"/>
          <p:cNvSpPr txBox="1"/>
          <p:nvPr/>
        </p:nvSpPr>
        <p:spPr>
          <a:xfrm>
            <a:off x="4114800" y="4250346"/>
            <a:ext cx="146304" cy="146304"/>
          </a:xfrm>
          <a:prstGeom prst="rect">
            <a:avLst/>
          </a:prstGeom>
          <a:noFill/>
          <a:ln/>
        </p:spPr>
        <p:txBody>
          <a:bodyPr wrap="square" lIns="0" tIns="0" rIns="0" bIns="0" rtlCol="0" anchor="ctr"/>
          <a:lstStyle/>
          <a:p>
            <a:pPr algn="r" indent="0" marL="0">
              <a:buNone/>
            </a:pPr>
            <a:r>
              <a:rPr lang="en-US" sz="630" dirty="0">
                <a:solidFill>
                  <a:srgbClr val="53565A"/>
                </a:solidFill>
                <a:latin typeface="Arial" pitchFamily="34" charset="0"/>
                <a:ea typeface="Arial" pitchFamily="34" charset="-122"/>
                <a:cs typeface="Arial" pitchFamily="34" charset="-120"/>
              </a:rPr>
              <a:t>4</a:t>
            </a:r>
            <a:endParaRPr lang="en-US" sz="630" dirty="0"/>
          </a:p>
        </p:txBody>
      </p:sp>
      <p:sp>
        <p:nvSpPr>
          <p:cNvPr id="48" name="Shape 41"/>
          <p:cNvSpPr/>
          <p:nvPr/>
        </p:nvSpPr>
        <p:spPr>
          <a:xfrm>
            <a:off x="4297680" y="3753343"/>
            <a:ext cx="3840480" cy="0"/>
          </a:xfrm>
          <a:prstGeom prst="line">
            <a:avLst/>
          </a:prstGeom>
          <a:noFill/>
          <a:ln w="6350">
            <a:solidFill>
              <a:srgbClr val="E6E6E6"/>
            </a:solidFill>
            <a:prstDash val="solid"/>
          </a:ln>
        </p:spPr>
      </p:sp>
      <p:sp>
        <p:nvSpPr>
          <p:cNvPr id="49" name="Text 42"/>
          <p:cNvSpPr txBox="1"/>
          <p:nvPr/>
        </p:nvSpPr>
        <p:spPr>
          <a:xfrm>
            <a:off x="4114800" y="3680191"/>
            <a:ext cx="146304" cy="146304"/>
          </a:xfrm>
          <a:prstGeom prst="rect">
            <a:avLst/>
          </a:prstGeom>
          <a:noFill/>
          <a:ln/>
        </p:spPr>
        <p:txBody>
          <a:bodyPr wrap="square" lIns="0" tIns="0" rIns="0" bIns="0" rtlCol="0" anchor="ctr"/>
          <a:lstStyle/>
          <a:p>
            <a:pPr algn="r" indent="0" marL="0">
              <a:buNone/>
            </a:pPr>
            <a:r>
              <a:rPr lang="en-US" sz="630" dirty="0">
                <a:solidFill>
                  <a:srgbClr val="53565A"/>
                </a:solidFill>
                <a:latin typeface="Arial" pitchFamily="34" charset="0"/>
                <a:ea typeface="Arial" pitchFamily="34" charset="-122"/>
                <a:cs typeface="Arial" pitchFamily="34" charset="-120"/>
              </a:rPr>
              <a:t>5</a:t>
            </a:r>
            <a:endParaRPr lang="en-US" sz="630" dirty="0"/>
          </a:p>
        </p:txBody>
      </p:sp>
      <p:sp>
        <p:nvSpPr>
          <p:cNvPr id="50" name="Text 43"/>
          <p:cNvSpPr txBox="1"/>
          <p:nvPr/>
        </p:nvSpPr>
        <p:spPr>
          <a:xfrm>
            <a:off x="7406640" y="3456432"/>
            <a:ext cx="731520" cy="146304"/>
          </a:xfrm>
          <a:prstGeom prst="rect">
            <a:avLst/>
          </a:prstGeom>
          <a:noFill/>
          <a:ln/>
        </p:spPr>
        <p:txBody>
          <a:bodyPr wrap="square" lIns="0" tIns="0" rIns="0" bIns="0" rtlCol="0" anchor="ctr"/>
          <a:lstStyle/>
          <a:p>
            <a:pPr algn="r" indent="0" marL="0">
              <a:buNone/>
            </a:pPr>
            <a:r>
              <a:rPr lang="en-US" sz="630" i="1" dirty="0">
                <a:solidFill>
                  <a:srgbClr val="53565A"/>
                </a:solidFill>
                <a:latin typeface="Arial" pitchFamily="34" charset="0"/>
                <a:ea typeface="Arial" pitchFamily="34" charset="-122"/>
                <a:cs typeface="Arial" pitchFamily="34" charset="-120"/>
              </a:rPr>
              <a:t>3-yr CAGR</a:t>
            </a:r>
            <a:endParaRPr lang="en-US" sz="630" dirty="0"/>
          </a:p>
        </p:txBody>
      </p:sp>
      <p:sp>
        <p:nvSpPr>
          <p:cNvPr id="51" name="Text 44"/>
          <p:cNvSpPr txBox="1"/>
          <p:nvPr/>
        </p:nvSpPr>
        <p:spPr>
          <a:xfrm>
            <a:off x="4343400" y="3666744"/>
            <a:ext cx="914400" cy="146304"/>
          </a:xfrm>
          <a:prstGeom prst="rect">
            <a:avLst/>
          </a:prstGeom>
          <a:noFill/>
          <a:ln/>
        </p:spPr>
        <p:txBody>
          <a:bodyPr wrap="square" lIns="0" tIns="0" rIns="0" bIns="0" rtlCol="0" anchor="ctr"/>
          <a:lstStyle/>
          <a:p>
            <a:pPr indent="0" marL="0">
              <a:buNone/>
            </a:pPr>
            <a:r>
              <a:rPr lang="en-US" sz="630" i="1" dirty="0">
                <a:solidFill>
                  <a:srgbClr val="53565A"/>
                </a:solidFill>
                <a:latin typeface="Arial" pitchFamily="34" charset="0"/>
                <a:ea typeface="Arial" pitchFamily="34" charset="-122"/>
                <a:cs typeface="Arial" pitchFamily="34" charset="-120"/>
              </a:rPr>
              <a:t>Adjacency (1-5)</a:t>
            </a:r>
            <a:endParaRPr lang="en-US" sz="630" dirty="0"/>
          </a:p>
        </p:txBody>
      </p:sp>
      <p:sp>
        <p:nvSpPr>
          <p:cNvPr id="52" name="Shape 45"/>
          <p:cNvSpPr/>
          <p:nvPr/>
        </p:nvSpPr>
        <p:spPr>
          <a:xfrm>
            <a:off x="4579390" y="4022144"/>
            <a:ext cx="716740" cy="716740"/>
          </a:xfrm>
          <a:prstGeom prst="ellipse">
            <a:avLst/>
          </a:prstGeom>
          <a:solidFill>
            <a:srgbClr val="D0D0CE">
              <a:alpha val="85000"/>
            </a:srgbClr>
          </a:solidFill>
          <a:ln w="9525">
            <a:solidFill>
              <a:srgbClr val="FFFFFF"/>
            </a:solidFill>
            <a:prstDash val="solid"/>
          </a:ln>
        </p:spPr>
      </p:sp>
      <p:sp>
        <p:nvSpPr>
          <p:cNvPr id="53" name="Text 46"/>
          <p:cNvSpPr txBox="1"/>
          <p:nvPr/>
        </p:nvSpPr>
        <p:spPr>
          <a:xfrm>
            <a:off x="5314418" y="4298218"/>
            <a:ext cx="731520" cy="164592"/>
          </a:xfrm>
          <a:prstGeom prst="rect">
            <a:avLst/>
          </a:prstGeom>
          <a:noFill/>
          <a:ln/>
        </p:spPr>
        <p:txBody>
          <a:bodyPr wrap="square" lIns="0" tIns="0" rIns="0" bIns="0" rtlCol="0" anchor="ctr"/>
          <a:lstStyle/>
          <a:p>
            <a:pPr algn="l" indent="0" marL="0">
              <a:buNone/>
            </a:pPr>
            <a:r>
              <a:rPr lang="en-US" sz="680" b="1" dirty="0">
                <a:solidFill>
                  <a:srgbClr val="53565A"/>
                </a:solidFill>
                <a:latin typeface="Arial" pitchFamily="34" charset="0"/>
                <a:ea typeface="Arial" pitchFamily="34" charset="-122"/>
                <a:cs typeface="Arial" pitchFamily="34" charset="-120"/>
              </a:rPr>
              <a:t>Staples</a:t>
            </a:r>
            <a:endParaRPr lang="en-US" sz="680" dirty="0"/>
          </a:p>
        </p:txBody>
      </p:sp>
      <p:sp>
        <p:nvSpPr>
          <p:cNvPr id="54" name="Shape 47"/>
          <p:cNvSpPr/>
          <p:nvPr/>
        </p:nvSpPr>
        <p:spPr>
          <a:xfrm>
            <a:off x="6061026" y="4793776"/>
            <a:ext cx="313787" cy="313787"/>
          </a:xfrm>
          <a:prstGeom prst="ellipse">
            <a:avLst/>
          </a:prstGeom>
          <a:solidFill>
            <a:srgbClr val="D0D0CE">
              <a:alpha val="85000"/>
            </a:srgbClr>
          </a:solidFill>
          <a:ln w="9525">
            <a:solidFill>
              <a:srgbClr val="FFFFFF"/>
            </a:solidFill>
            <a:prstDash val="solid"/>
          </a:ln>
        </p:spPr>
      </p:sp>
      <p:sp>
        <p:nvSpPr>
          <p:cNvPr id="55" name="Text 48"/>
          <p:cNvSpPr txBox="1"/>
          <p:nvPr/>
        </p:nvSpPr>
        <p:spPr>
          <a:xfrm>
            <a:off x="6393102" y="4868373"/>
            <a:ext cx="731520" cy="164592"/>
          </a:xfrm>
          <a:prstGeom prst="rect">
            <a:avLst/>
          </a:prstGeom>
          <a:noFill/>
          <a:ln/>
        </p:spPr>
        <p:txBody>
          <a:bodyPr wrap="square" lIns="0" tIns="0" rIns="0" bIns="0" rtlCol="0" anchor="ctr"/>
          <a:lstStyle/>
          <a:p>
            <a:pPr algn="l" indent="0" marL="0">
              <a:buNone/>
            </a:pPr>
            <a:r>
              <a:rPr lang="en-US" sz="680" b="1" dirty="0">
                <a:solidFill>
                  <a:srgbClr val="53565A"/>
                </a:solidFill>
                <a:latin typeface="Arial" pitchFamily="34" charset="0"/>
                <a:ea typeface="Arial" pitchFamily="34" charset="-122"/>
                <a:cs typeface="Arial" pitchFamily="34" charset="-120"/>
              </a:rPr>
              <a:t>Namkeen</a:t>
            </a:r>
            <a:endParaRPr lang="en-US" sz="680" dirty="0"/>
          </a:p>
        </p:txBody>
      </p:sp>
      <p:sp>
        <p:nvSpPr>
          <p:cNvPr id="56" name="Shape 49"/>
          <p:cNvSpPr/>
          <p:nvPr/>
        </p:nvSpPr>
        <p:spPr>
          <a:xfrm>
            <a:off x="5693578" y="3891134"/>
            <a:ext cx="408605" cy="408605"/>
          </a:xfrm>
          <a:prstGeom prst="ellipse">
            <a:avLst/>
          </a:prstGeom>
          <a:solidFill>
            <a:srgbClr val="046A38">
              <a:alpha val="85000"/>
            </a:srgbClr>
          </a:solidFill>
          <a:ln w="9525">
            <a:solidFill>
              <a:srgbClr val="FFFFFF"/>
            </a:solidFill>
            <a:prstDash val="solid"/>
          </a:ln>
        </p:spPr>
      </p:sp>
      <p:sp>
        <p:nvSpPr>
          <p:cNvPr id="57" name="Text 50"/>
          <p:cNvSpPr txBox="1"/>
          <p:nvPr/>
        </p:nvSpPr>
        <p:spPr>
          <a:xfrm>
            <a:off x="6120470" y="4013140"/>
            <a:ext cx="731520" cy="164592"/>
          </a:xfrm>
          <a:prstGeom prst="rect">
            <a:avLst/>
          </a:prstGeom>
          <a:noFill/>
          <a:ln/>
        </p:spPr>
        <p:txBody>
          <a:bodyPr wrap="square" lIns="0" tIns="0" rIns="0" bIns="0" rtlCol="0" anchor="ctr"/>
          <a:lstStyle/>
          <a:p>
            <a:pPr algn="l" indent="0" marL="0">
              <a:buNone/>
            </a:pPr>
            <a:r>
              <a:rPr lang="en-US" sz="680" b="1" dirty="0">
                <a:solidFill>
                  <a:srgbClr val="046A38"/>
                </a:solidFill>
                <a:latin typeface="Arial" pitchFamily="34" charset="0"/>
                <a:ea typeface="Arial" pitchFamily="34" charset="-122"/>
                <a:cs typeface="Arial" pitchFamily="34" charset="-120"/>
              </a:rPr>
              <a:t>Spices</a:t>
            </a:r>
            <a:endParaRPr lang="en-US" sz="680" dirty="0"/>
          </a:p>
        </p:txBody>
      </p:sp>
      <p:sp>
        <p:nvSpPr>
          <p:cNvPr id="58" name="Shape 51"/>
          <p:cNvSpPr/>
          <p:nvPr/>
        </p:nvSpPr>
        <p:spPr>
          <a:xfrm>
            <a:off x="5169108" y="3835698"/>
            <a:ext cx="177384" cy="177384"/>
          </a:xfrm>
          <a:prstGeom prst="ellipse">
            <a:avLst/>
          </a:prstGeom>
          <a:solidFill>
            <a:srgbClr val="D0D0CE">
              <a:alpha val="85000"/>
            </a:srgbClr>
          </a:solidFill>
          <a:ln w="9525">
            <a:solidFill>
              <a:srgbClr val="FFFFFF"/>
            </a:solidFill>
            <a:prstDash val="solid"/>
          </a:ln>
        </p:spPr>
      </p:sp>
      <p:sp>
        <p:nvSpPr>
          <p:cNvPr id="59" name="Text 52"/>
          <p:cNvSpPr txBox="1"/>
          <p:nvPr/>
        </p:nvSpPr>
        <p:spPr>
          <a:xfrm>
            <a:off x="4419300" y="3842094"/>
            <a:ext cx="731520" cy="164592"/>
          </a:xfrm>
          <a:prstGeom prst="rect">
            <a:avLst/>
          </a:prstGeom>
          <a:noFill/>
          <a:ln/>
        </p:spPr>
        <p:txBody>
          <a:bodyPr wrap="square" lIns="0" tIns="0" rIns="0" bIns="0" rtlCol="0" anchor="ctr"/>
          <a:lstStyle/>
          <a:p>
            <a:pPr algn="r" indent="0" marL="0">
              <a:buNone/>
            </a:pPr>
            <a:r>
              <a:rPr lang="en-US" sz="680" b="1" dirty="0">
                <a:solidFill>
                  <a:srgbClr val="53565A"/>
                </a:solidFill>
                <a:latin typeface="Arial" pitchFamily="34" charset="0"/>
                <a:ea typeface="Arial" pitchFamily="34" charset="-122"/>
                <a:cs typeface="Arial" pitchFamily="34" charset="-120"/>
              </a:rPr>
              <a:t>Juices/RTD</a:t>
            </a:r>
            <a:endParaRPr lang="en-US" sz="680" dirty="0"/>
          </a:p>
        </p:txBody>
      </p:sp>
      <p:sp>
        <p:nvSpPr>
          <p:cNvPr id="60" name="Shape 53"/>
          <p:cNvSpPr/>
          <p:nvPr/>
        </p:nvSpPr>
        <p:spPr>
          <a:xfrm>
            <a:off x="6456174" y="4184696"/>
            <a:ext cx="163573" cy="163573"/>
          </a:xfrm>
          <a:prstGeom prst="ellipse">
            <a:avLst/>
          </a:prstGeom>
          <a:solidFill>
            <a:srgbClr val="86BC25">
              <a:alpha val="85000"/>
            </a:srgbClr>
          </a:solidFill>
          <a:ln w="9525">
            <a:solidFill>
              <a:srgbClr val="FFFFFF"/>
            </a:solidFill>
            <a:prstDash val="solid"/>
          </a:ln>
        </p:spPr>
      </p:sp>
      <p:sp>
        <p:nvSpPr>
          <p:cNvPr id="61" name="Text 54"/>
          <p:cNvSpPr txBox="1"/>
          <p:nvPr/>
        </p:nvSpPr>
        <p:spPr>
          <a:xfrm>
            <a:off x="6638034" y="4184187"/>
            <a:ext cx="731520" cy="164592"/>
          </a:xfrm>
          <a:prstGeom prst="rect">
            <a:avLst/>
          </a:prstGeom>
          <a:noFill/>
          <a:ln/>
        </p:spPr>
        <p:txBody>
          <a:bodyPr wrap="square" lIns="0" tIns="0" rIns="0" bIns="0" rtlCol="0" anchor="ctr"/>
          <a:lstStyle/>
          <a:p>
            <a:pPr algn="l" indent="0" marL="0">
              <a:buNone/>
            </a:pPr>
            <a:r>
              <a:rPr lang="en-US" sz="680" b="1" dirty="0">
                <a:solidFill>
                  <a:srgbClr val="046A38"/>
                </a:solidFill>
                <a:latin typeface="Arial" pitchFamily="34" charset="0"/>
                <a:ea typeface="Arial" pitchFamily="34" charset="-122"/>
                <a:cs typeface="Arial" pitchFamily="34" charset="-120"/>
              </a:rPr>
              <a:t>Pickles</a:t>
            </a:r>
            <a:endParaRPr lang="en-US" sz="680" dirty="0"/>
          </a:p>
        </p:txBody>
      </p:sp>
      <p:sp>
        <p:nvSpPr>
          <p:cNvPr id="62" name="Shape 55"/>
          <p:cNvSpPr/>
          <p:nvPr/>
        </p:nvSpPr>
        <p:spPr>
          <a:xfrm>
            <a:off x="7109029" y="5166735"/>
            <a:ext cx="138023" cy="138023"/>
          </a:xfrm>
          <a:prstGeom prst="ellipse">
            <a:avLst/>
          </a:prstGeom>
          <a:solidFill>
            <a:srgbClr val="D0D0CE">
              <a:alpha val="85000"/>
            </a:srgbClr>
          </a:solidFill>
          <a:ln w="9525">
            <a:solidFill>
              <a:srgbClr val="FFFFFF"/>
            </a:solidFill>
            <a:prstDash val="solid"/>
          </a:ln>
        </p:spPr>
      </p:sp>
      <p:sp>
        <p:nvSpPr>
          <p:cNvPr id="63" name="Text 56"/>
          <p:cNvSpPr txBox="1"/>
          <p:nvPr/>
        </p:nvSpPr>
        <p:spPr>
          <a:xfrm>
            <a:off x="7265339" y="5153451"/>
            <a:ext cx="731520" cy="164592"/>
          </a:xfrm>
          <a:prstGeom prst="rect">
            <a:avLst/>
          </a:prstGeom>
          <a:noFill/>
          <a:ln/>
        </p:spPr>
        <p:txBody>
          <a:bodyPr wrap="square" lIns="0" tIns="0" rIns="0" bIns="0" rtlCol="0" anchor="ctr"/>
          <a:lstStyle/>
          <a:p>
            <a:pPr algn="l" indent="0" marL="0">
              <a:buNone/>
            </a:pPr>
            <a:r>
              <a:rPr lang="en-US" sz="680" b="1" dirty="0">
                <a:solidFill>
                  <a:srgbClr val="53565A"/>
                </a:solidFill>
                <a:latin typeface="Arial" pitchFamily="34" charset="0"/>
                <a:ea typeface="Arial" pitchFamily="34" charset="-122"/>
                <a:cs typeface="Arial" pitchFamily="34" charset="-120"/>
              </a:rPr>
              <a:t>Dairy</a:t>
            </a:r>
            <a:endParaRPr lang="en-US" sz="680" dirty="0"/>
          </a:p>
        </p:txBody>
      </p:sp>
      <p:sp>
        <p:nvSpPr>
          <p:cNvPr id="64" name="Shape 57"/>
          <p:cNvSpPr/>
          <p:nvPr/>
        </p:nvSpPr>
        <p:spPr>
          <a:xfrm>
            <a:off x="7745703" y="4479144"/>
            <a:ext cx="144834" cy="144834"/>
          </a:xfrm>
          <a:prstGeom prst="ellipse">
            <a:avLst/>
          </a:prstGeom>
          <a:solidFill>
            <a:srgbClr val="86BC25">
              <a:alpha val="85000"/>
            </a:srgbClr>
          </a:solidFill>
          <a:ln w="9525">
            <a:solidFill>
              <a:srgbClr val="FFFFFF"/>
            </a:solidFill>
            <a:prstDash val="solid"/>
          </a:ln>
        </p:spPr>
      </p:sp>
      <p:sp>
        <p:nvSpPr>
          <p:cNvPr id="65" name="Text 58"/>
          <p:cNvSpPr txBox="1"/>
          <p:nvPr/>
        </p:nvSpPr>
        <p:spPr>
          <a:xfrm>
            <a:off x="6995895" y="4469264"/>
            <a:ext cx="731520" cy="164592"/>
          </a:xfrm>
          <a:prstGeom prst="rect">
            <a:avLst/>
          </a:prstGeom>
          <a:noFill/>
          <a:ln/>
        </p:spPr>
        <p:txBody>
          <a:bodyPr wrap="square" lIns="0" tIns="0" rIns="0" bIns="0" rtlCol="0" anchor="ctr"/>
          <a:lstStyle/>
          <a:p>
            <a:pPr algn="r" indent="0" marL="0">
              <a:buNone/>
            </a:pPr>
            <a:r>
              <a:rPr lang="en-US" sz="680" b="1" dirty="0">
                <a:solidFill>
                  <a:srgbClr val="046A38"/>
                </a:solidFill>
                <a:latin typeface="Arial" pitchFamily="34" charset="0"/>
                <a:ea typeface="Arial" pitchFamily="34" charset="-122"/>
                <a:cs typeface="Arial" pitchFamily="34" charset="-120"/>
              </a:rPr>
              <a:t>RTC</a:t>
            </a:r>
            <a:endParaRPr lang="en-US" sz="680" dirty="0"/>
          </a:p>
        </p:txBody>
      </p:sp>
      <p:sp>
        <p:nvSpPr>
          <p:cNvPr id="66" name="Shape 59"/>
          <p:cNvSpPr/>
          <p:nvPr/>
        </p:nvSpPr>
        <p:spPr>
          <a:xfrm>
            <a:off x="6799478" y="3922884"/>
            <a:ext cx="117043" cy="117043"/>
          </a:xfrm>
          <a:prstGeom prst="ellipse">
            <a:avLst/>
          </a:prstGeom>
          <a:solidFill>
            <a:srgbClr val="046A38">
              <a:alpha val="85000"/>
            </a:srgbClr>
          </a:solidFill>
          <a:ln w="9525">
            <a:solidFill>
              <a:srgbClr val="FFFFFF"/>
            </a:solidFill>
            <a:prstDash val="solid"/>
          </a:ln>
        </p:spPr>
      </p:sp>
      <p:sp>
        <p:nvSpPr>
          <p:cNvPr id="67" name="Text 60"/>
          <p:cNvSpPr txBox="1"/>
          <p:nvPr/>
        </p:nvSpPr>
        <p:spPr>
          <a:xfrm>
            <a:off x="6934810" y="3899109"/>
            <a:ext cx="731520" cy="164592"/>
          </a:xfrm>
          <a:prstGeom prst="rect">
            <a:avLst/>
          </a:prstGeom>
          <a:noFill/>
          <a:ln/>
        </p:spPr>
        <p:txBody>
          <a:bodyPr wrap="square" lIns="0" tIns="0" rIns="0" bIns="0" rtlCol="0" anchor="ctr"/>
          <a:lstStyle/>
          <a:p>
            <a:pPr algn="l" indent="0" marL="0">
              <a:buNone/>
            </a:pPr>
            <a:r>
              <a:rPr lang="en-US" sz="680" b="1" dirty="0">
                <a:solidFill>
                  <a:srgbClr val="046A38"/>
                </a:solidFill>
                <a:latin typeface="Arial" pitchFamily="34" charset="0"/>
                <a:ea typeface="Arial" pitchFamily="34" charset="-122"/>
                <a:cs typeface="Arial" pitchFamily="34" charset="-120"/>
              </a:rPr>
              <a:t>Premixes</a:t>
            </a:r>
            <a:endParaRPr lang="en-US" sz="680" dirty="0"/>
          </a:p>
        </p:txBody>
      </p:sp>
      <p:sp>
        <p:nvSpPr>
          <p:cNvPr id="68" name="Text 61"/>
          <p:cNvSpPr txBox="1"/>
          <p:nvPr/>
        </p:nvSpPr>
        <p:spPr>
          <a:xfrm>
            <a:off x="3886200" y="5733288"/>
            <a:ext cx="4343400" cy="201168"/>
          </a:xfrm>
          <a:prstGeom prst="rect">
            <a:avLst/>
          </a:prstGeom>
          <a:noFill/>
          <a:ln/>
        </p:spPr>
        <p:txBody>
          <a:bodyPr wrap="square" lIns="0" tIns="0" rIns="0" bIns="0" rtlCol="0" anchor="ctr"/>
          <a:lstStyle/>
          <a:p>
            <a:pPr indent="0" marL="0">
              <a:buNone/>
            </a:pPr>
            <a:r>
              <a:rPr lang="en-US" sz="650" i="1" dirty="0">
                <a:solidFill>
                  <a:srgbClr val="53565A"/>
                </a:solidFill>
                <a:latin typeface="Arial" pitchFamily="34" charset="0"/>
                <a:ea typeface="Arial" pitchFamily="34" charset="-122"/>
                <a:cs typeface="Arial" pitchFamily="34" charset="-120"/>
              </a:rPr>
              <a:t>Bubble area = FY21 market size (Rs 6,400 Cr to Rs 2,40,000 Cr). Dark green = launch; light green = gated; grey = refused.</a:t>
            </a:r>
            <a:endParaRPr lang="en-US" sz="650" dirty="0"/>
          </a:p>
        </p:txBody>
      </p:sp>
      <p:sp>
        <p:nvSpPr>
          <p:cNvPr id="69" name="Text 62"/>
          <p:cNvSpPr txBox="1"/>
          <p:nvPr/>
        </p:nvSpPr>
        <p:spPr>
          <a:xfrm>
            <a:off x="8366760" y="749808"/>
            <a:ext cx="37490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Score of the four that pass, and the four that do not</a:t>
            </a:r>
            <a:endParaRPr lang="en-US" sz="1100" dirty="0"/>
          </a:p>
        </p:txBody>
      </p:sp>
      <p:graphicFrame>
        <p:nvGraphicFramePr>
          <p:cNvPr id="70" name="Chart 0" descr=""/>
          <p:cNvGraphicFramePr/>
          <p:nvPr/>
        </p:nvGraphicFramePr>
        <p:xfrm>
          <a:off x="8366760" y="969264"/>
          <a:ext cx="3749040" cy="2331720"/>
        </p:xfrm>
        <a:graphic xmlns:a="http://schemas.openxmlformats.org/drawingml/2006/main">
          <a:graphicData uri="http://schemas.openxmlformats.org/drawingml/2006/chart">
            <c:chart xmlns:c="http://schemas.openxmlformats.org/drawingml/2006/chart" r:id="rId5"/>
          </a:graphicData>
        </a:graphic>
      </p:graphicFrame>
      <p:sp>
        <p:nvSpPr>
          <p:cNvPr id="71" name="Text 63"/>
          <p:cNvSpPr txBox="1"/>
          <p:nvPr/>
        </p:nvSpPr>
        <p:spPr>
          <a:xfrm>
            <a:off x="8366760" y="3346704"/>
            <a:ext cx="37490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Weights we applied (points of 100)</a:t>
            </a:r>
            <a:endParaRPr lang="en-US" sz="1100" dirty="0"/>
          </a:p>
        </p:txBody>
      </p:sp>
      <p:graphicFrame>
        <p:nvGraphicFramePr>
          <p:cNvPr id="72" name="Chart 1" descr=""/>
          <p:cNvGraphicFramePr/>
          <p:nvPr/>
        </p:nvGraphicFramePr>
        <p:xfrm>
          <a:off x="8366760" y="3584448"/>
          <a:ext cx="1691640" cy="1691640"/>
        </p:xfrm>
        <a:graphic xmlns:a="http://schemas.openxmlformats.org/drawingml/2006/main">
          <a:graphicData uri="http://schemas.openxmlformats.org/drawingml/2006/chart">
            <c:chart xmlns:c="http://schemas.openxmlformats.org/drawingml/2006/chart" r:id="rId6"/>
          </a:graphicData>
        </a:graphic>
      </p:graphicFrame>
      <p:sp>
        <p:nvSpPr>
          <p:cNvPr id="73" name="Text 64"/>
          <p:cNvSpPr txBox="1"/>
          <p:nvPr/>
        </p:nvSpPr>
        <p:spPr>
          <a:xfrm>
            <a:off x="8915400" y="4261104"/>
            <a:ext cx="594360" cy="329184"/>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100</a:t>
            </a:r>
            <a:endParaRPr lang="en-US" sz="1200" dirty="0"/>
          </a:p>
        </p:txBody>
      </p:sp>
      <p:sp>
        <p:nvSpPr>
          <p:cNvPr id="74" name="Shape 65"/>
          <p:cNvSpPr/>
          <p:nvPr/>
        </p:nvSpPr>
        <p:spPr>
          <a:xfrm>
            <a:off x="10149840" y="3712464"/>
            <a:ext cx="146304" cy="146304"/>
          </a:xfrm>
          <a:prstGeom prst="rect">
            <a:avLst/>
          </a:prstGeom>
          <a:solidFill>
            <a:srgbClr val="046A38"/>
          </a:solidFill>
          <a:ln w="12700">
            <a:solidFill>
              <a:srgbClr val="046A38"/>
            </a:solidFill>
            <a:prstDash val="solid"/>
          </a:ln>
        </p:spPr>
      </p:sp>
      <p:sp>
        <p:nvSpPr>
          <p:cNvPr id="75" name="Text 66"/>
          <p:cNvSpPr txBox="1"/>
          <p:nvPr/>
        </p:nvSpPr>
        <p:spPr>
          <a:xfrm>
            <a:off x="10351008" y="3657600"/>
            <a:ext cx="1737360" cy="256032"/>
          </a:xfrm>
          <a:prstGeom prst="rect">
            <a:avLst/>
          </a:prstGeom>
          <a:noFill/>
          <a:ln/>
        </p:spPr>
        <p:txBody>
          <a:bodyPr wrap="square" lIns="0" tIns="0" rIns="0" bIns="0" rtlCol="0" anchor="ctr"/>
          <a:lstStyle/>
          <a:p>
            <a:pPr indent="0" marL="0">
              <a:buNone/>
            </a:pPr>
            <a:r>
              <a:rPr lang="en-US" sz="740" dirty="0">
                <a:solidFill>
                  <a:srgbClr val="000000"/>
                </a:solidFill>
                <a:latin typeface="Arial" pitchFamily="34" charset="0"/>
                <a:ea typeface="Arial" pitchFamily="34" charset="-122"/>
                <a:cs typeface="Arial" pitchFamily="34" charset="-120"/>
              </a:rPr>
              <a:t>35  Market size (log scale)</a:t>
            </a:r>
            <a:endParaRPr lang="en-US" sz="740" dirty="0"/>
          </a:p>
        </p:txBody>
      </p:sp>
      <p:sp>
        <p:nvSpPr>
          <p:cNvPr id="76" name="Shape 67"/>
          <p:cNvSpPr/>
          <p:nvPr/>
        </p:nvSpPr>
        <p:spPr>
          <a:xfrm>
            <a:off x="10149840" y="3986784"/>
            <a:ext cx="146304" cy="146304"/>
          </a:xfrm>
          <a:prstGeom prst="rect">
            <a:avLst/>
          </a:prstGeom>
          <a:solidFill>
            <a:srgbClr val="26890D"/>
          </a:solidFill>
          <a:ln w="12700">
            <a:solidFill>
              <a:srgbClr val="26890D"/>
            </a:solidFill>
            <a:prstDash val="solid"/>
          </a:ln>
        </p:spPr>
      </p:sp>
      <p:sp>
        <p:nvSpPr>
          <p:cNvPr id="77" name="Text 68"/>
          <p:cNvSpPr txBox="1"/>
          <p:nvPr/>
        </p:nvSpPr>
        <p:spPr>
          <a:xfrm>
            <a:off x="10351008" y="3931920"/>
            <a:ext cx="1737360" cy="256032"/>
          </a:xfrm>
          <a:prstGeom prst="rect">
            <a:avLst/>
          </a:prstGeom>
          <a:noFill/>
          <a:ln/>
        </p:spPr>
        <p:txBody>
          <a:bodyPr wrap="square" lIns="0" tIns="0" rIns="0" bIns="0" rtlCol="0" anchor="ctr"/>
          <a:lstStyle/>
          <a:p>
            <a:pPr indent="0" marL="0">
              <a:buNone/>
            </a:pPr>
            <a:r>
              <a:rPr lang="en-US" sz="740" dirty="0">
                <a:solidFill>
                  <a:srgbClr val="000000"/>
                </a:solidFill>
                <a:latin typeface="Arial" pitchFamily="34" charset="0"/>
                <a:ea typeface="Arial" pitchFamily="34" charset="-122"/>
                <a:cs typeface="Arial" pitchFamily="34" charset="-120"/>
              </a:rPr>
              <a:t>35  3-yr growth (linear 8-17%)</a:t>
            </a:r>
            <a:endParaRPr lang="en-US" sz="740" dirty="0"/>
          </a:p>
        </p:txBody>
      </p:sp>
      <p:sp>
        <p:nvSpPr>
          <p:cNvPr id="78" name="Shape 69"/>
          <p:cNvSpPr/>
          <p:nvPr/>
        </p:nvSpPr>
        <p:spPr>
          <a:xfrm>
            <a:off x="10149840" y="4261104"/>
            <a:ext cx="146304" cy="146304"/>
          </a:xfrm>
          <a:prstGeom prst="rect">
            <a:avLst/>
          </a:prstGeom>
          <a:solidFill>
            <a:srgbClr val="86BC25"/>
          </a:solidFill>
          <a:ln w="12700">
            <a:solidFill>
              <a:srgbClr val="86BC25"/>
            </a:solidFill>
            <a:prstDash val="solid"/>
          </a:ln>
        </p:spPr>
      </p:sp>
      <p:sp>
        <p:nvSpPr>
          <p:cNvPr id="79" name="Text 70"/>
          <p:cNvSpPr txBox="1"/>
          <p:nvPr/>
        </p:nvSpPr>
        <p:spPr>
          <a:xfrm>
            <a:off x="10351008" y="4206240"/>
            <a:ext cx="1737360" cy="256032"/>
          </a:xfrm>
          <a:prstGeom prst="rect">
            <a:avLst/>
          </a:prstGeom>
          <a:noFill/>
          <a:ln/>
        </p:spPr>
        <p:txBody>
          <a:bodyPr wrap="square" lIns="0" tIns="0" rIns="0" bIns="0" rtlCol="0" anchor="ctr"/>
          <a:lstStyle/>
          <a:p>
            <a:pPr indent="0" marL="0">
              <a:buNone/>
            </a:pPr>
            <a:r>
              <a:rPr lang="en-US" sz="740" dirty="0">
                <a:solidFill>
                  <a:srgbClr val="000000"/>
                </a:solidFill>
                <a:latin typeface="Arial" pitchFamily="34" charset="0"/>
                <a:ea typeface="Arial" pitchFamily="34" charset="-122"/>
                <a:cs typeface="Arial" pitchFamily="34" charset="-120"/>
              </a:rPr>
              <a:t>15  Distributor fit</a:t>
            </a:r>
            <a:endParaRPr lang="en-US" sz="740" dirty="0"/>
          </a:p>
        </p:txBody>
      </p:sp>
      <p:sp>
        <p:nvSpPr>
          <p:cNvPr id="80" name="Shape 71"/>
          <p:cNvSpPr/>
          <p:nvPr/>
        </p:nvSpPr>
        <p:spPr>
          <a:xfrm>
            <a:off x="10149840" y="4535424"/>
            <a:ext cx="146304" cy="146304"/>
          </a:xfrm>
          <a:prstGeom prst="rect">
            <a:avLst/>
          </a:prstGeom>
          <a:solidFill>
            <a:srgbClr val="53565A"/>
          </a:solidFill>
          <a:ln w="12700">
            <a:solidFill>
              <a:srgbClr val="53565A"/>
            </a:solidFill>
            <a:prstDash val="solid"/>
          </a:ln>
        </p:spPr>
      </p:sp>
      <p:sp>
        <p:nvSpPr>
          <p:cNvPr id="81" name="Text 72"/>
          <p:cNvSpPr txBox="1"/>
          <p:nvPr/>
        </p:nvSpPr>
        <p:spPr>
          <a:xfrm>
            <a:off x="10351008" y="4480560"/>
            <a:ext cx="1737360" cy="256032"/>
          </a:xfrm>
          <a:prstGeom prst="rect">
            <a:avLst/>
          </a:prstGeom>
          <a:noFill/>
          <a:ln/>
        </p:spPr>
        <p:txBody>
          <a:bodyPr wrap="square" lIns="0" tIns="0" rIns="0" bIns="0" rtlCol="0" anchor="ctr"/>
          <a:lstStyle/>
          <a:p>
            <a:pPr indent="0" marL="0">
              <a:buNone/>
            </a:pPr>
            <a:r>
              <a:rPr lang="en-US" sz="740" dirty="0">
                <a:solidFill>
                  <a:srgbClr val="000000"/>
                </a:solidFill>
                <a:latin typeface="Arial" pitchFamily="34" charset="0"/>
                <a:ea typeface="Arial" pitchFamily="34" charset="-122"/>
                <a:cs typeface="Arial" pitchFamily="34" charset="-120"/>
              </a:rPr>
              <a:t>15  Budget fit</a:t>
            </a:r>
            <a:endParaRPr lang="en-US" sz="740" dirty="0"/>
          </a:p>
        </p:txBody>
      </p:sp>
      <p:sp>
        <p:nvSpPr>
          <p:cNvPr id="82" name="Shape 73"/>
          <p:cNvSpPr/>
          <p:nvPr/>
        </p:nvSpPr>
        <p:spPr>
          <a:xfrm>
            <a:off x="8366760" y="5349240"/>
            <a:ext cx="3749040" cy="548640"/>
          </a:xfrm>
          <a:prstGeom prst="rect">
            <a:avLst/>
          </a:prstGeom>
          <a:solidFill>
            <a:srgbClr val="E3F1D0"/>
          </a:solidFill>
          <a:ln w="12700">
            <a:solidFill>
              <a:srgbClr val="E3F1D0"/>
            </a:solidFill>
            <a:prstDash val="solid"/>
          </a:ln>
        </p:spPr>
      </p:sp>
      <p:sp>
        <p:nvSpPr>
          <p:cNvPr id="83" name="Text 74"/>
          <p:cNvSpPr txBox="1"/>
          <p:nvPr/>
        </p:nvSpPr>
        <p:spPr>
          <a:xfrm>
            <a:off x="8439912" y="5349240"/>
            <a:ext cx="3611880" cy="548640"/>
          </a:xfrm>
          <a:prstGeom prst="rect">
            <a:avLst/>
          </a:prstGeom>
          <a:noFill/>
          <a:ln/>
        </p:spPr>
        <p:txBody>
          <a:bodyPr wrap="square" lIns="0" tIns="0" rIns="0" bIns="0" rtlCol="0" anchor="ctr"/>
          <a:lstStyle/>
          <a:p>
            <a:pPr indent="0" marL="0">
              <a:buNone/>
            </a:pPr>
            <a:r>
              <a:rPr lang="en-US" sz="730" b="1" dirty="0">
                <a:solidFill>
                  <a:srgbClr val="000000"/>
                </a:solidFill>
                <a:latin typeface="Arial" pitchFamily="34" charset="0"/>
                <a:ea typeface="Arial" pitchFamily="34" charset="-122"/>
                <a:cs typeface="Arial" pitchFamily="34" charset="-120"/>
              </a:rPr>
              <a:t>Robustness: </a:t>
            </a:r>
            <a:pPr indent="0" marL="0">
              <a:buNone/>
            </a:pPr>
            <a:r>
              <a:rPr lang="en-US" sz="730" dirty="0">
                <a:solidFill>
                  <a:srgbClr val="000000"/>
                </a:solidFill>
                <a:latin typeface="Arial" pitchFamily="34" charset="0"/>
                <a:ea typeface="Arial" pitchFamily="34" charset="-122"/>
                <a:cs typeface="Arial" pitchFamily="34" charset="-120"/>
              </a:rPr>
              <a:t>spices leads whenever size gets 35+ points; a growth-led weighting favours RTC. A second, 8-criteria screen puts spices and premixes top two (slide 4).</a:t>
            </a:r>
            <a:endParaRPr lang="en-US" sz="730" dirty="0"/>
          </a:p>
        </p:txBody>
      </p:sp>
      <p:sp>
        <p:nvSpPr>
          <p:cNvPr id="84" name="Shape 75"/>
          <p:cNvSpPr/>
          <p:nvPr/>
        </p:nvSpPr>
        <p:spPr>
          <a:xfrm>
            <a:off x="0" y="5961888"/>
            <a:ext cx="12191695" cy="530352"/>
          </a:xfrm>
          <a:prstGeom prst="rect">
            <a:avLst/>
          </a:prstGeom>
          <a:solidFill>
            <a:srgbClr val="86BC25"/>
          </a:solidFill>
          <a:ln w="12700">
            <a:solidFill>
              <a:srgbClr val="86BC25"/>
            </a:solidFill>
            <a:prstDash val="solid"/>
          </a:ln>
        </p:spPr>
      </p:sp>
      <p:sp>
        <p:nvSpPr>
          <p:cNvPr id="85" name="Text 76"/>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Constraints first, attractiveness second: </a:t>
            </a:r>
            <a:pPr algn="ctr" indent="0" marL="0">
              <a:buNone/>
            </a:pPr>
            <a:r>
              <a:rPr lang="en-US" sz="1250" dirty="0">
                <a:solidFill>
                  <a:srgbClr val="000000"/>
                </a:solidFill>
                <a:latin typeface="Arial" pitchFamily="34" charset="0"/>
                <a:ea typeface="Arial" pitchFamily="34" charset="-122"/>
                <a:cs typeface="Arial" pitchFamily="34" charset="-120"/>
              </a:rPr>
              <a:t>namkeen, staples, dairy and RTD look big on paper but fail the Board's own rules.</a:t>
            </a:r>
            <a:endParaRPr lang="en-US" sz="1250" dirty="0"/>
          </a:p>
        </p:txBody>
      </p:sp>
      <p:sp>
        <p:nvSpPr>
          <p:cNvPr id="86" name="Text 77"/>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 5 (market size, CAGR, organised share, margins, 3P availability, capex, adjacency, counter-seasonality); team category model (score: size on a log scale Rs 6,400-2,40,000 Cr, growth linear 8-17%). Avendus (Aug 2021).</a:t>
            </a:r>
            <a:endParaRPr lang="en-US" sz="730" dirty="0"/>
          </a:p>
        </p:txBody>
      </p:sp>
      <p:sp>
        <p:nvSpPr>
          <p:cNvPr id="87" name="Text 78"/>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4. Where to Play: Premixes First, Spices Second</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Premixes are the closest step from our plant, shelf and shopper; spices bring the size; RTC waits for proof at the FY23 gate</a:t>
            </a:r>
            <a:endParaRPr lang="en-US" sz="1250" dirty="0"/>
          </a:p>
        </p:txBody>
      </p:sp>
      <p:sp>
        <p:nvSpPr>
          <p:cNvPr id="6" name="Text 4"/>
          <p:cNvSpPr txBox="1"/>
          <p:nvPr/>
        </p:nvSpPr>
        <p:spPr>
          <a:xfrm>
            <a:off x="109728" y="749808"/>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Innovation ambition matrix: one step at a time</a:t>
            </a:r>
            <a:endParaRPr lang="en-US" sz="1100" dirty="0"/>
          </a:p>
        </p:txBody>
      </p:sp>
      <p:sp>
        <p:nvSpPr>
          <p:cNvPr id="7" name="Shape 5"/>
          <p:cNvSpPr/>
          <p:nvPr/>
        </p:nvSpPr>
        <p:spPr>
          <a:xfrm>
            <a:off x="566928" y="1024128"/>
            <a:ext cx="1078992" cy="676656"/>
          </a:xfrm>
          <a:prstGeom prst="rect">
            <a:avLst/>
          </a:prstGeom>
          <a:solidFill>
            <a:srgbClr val="E3F1D0"/>
          </a:solidFill>
          <a:ln w="12700">
            <a:solidFill>
              <a:srgbClr val="FFFFFF"/>
            </a:solidFill>
            <a:prstDash val="solid"/>
          </a:ln>
        </p:spPr>
      </p:sp>
      <p:sp>
        <p:nvSpPr>
          <p:cNvPr id="8" name="Shape 6"/>
          <p:cNvSpPr/>
          <p:nvPr/>
        </p:nvSpPr>
        <p:spPr>
          <a:xfrm>
            <a:off x="1682496" y="1024128"/>
            <a:ext cx="1078992" cy="676656"/>
          </a:xfrm>
          <a:prstGeom prst="rect">
            <a:avLst/>
          </a:prstGeom>
          <a:solidFill>
            <a:srgbClr val="F2F2F2"/>
          </a:solidFill>
          <a:ln w="12700">
            <a:solidFill>
              <a:srgbClr val="FFFFFF"/>
            </a:solidFill>
            <a:prstDash val="solid"/>
          </a:ln>
        </p:spPr>
      </p:sp>
      <p:sp>
        <p:nvSpPr>
          <p:cNvPr id="9" name="Shape 7"/>
          <p:cNvSpPr/>
          <p:nvPr/>
        </p:nvSpPr>
        <p:spPr>
          <a:xfrm>
            <a:off x="2798064" y="1024128"/>
            <a:ext cx="1078992" cy="676656"/>
          </a:xfrm>
          <a:prstGeom prst="rect">
            <a:avLst/>
          </a:prstGeom>
          <a:solidFill>
            <a:srgbClr val="F2F2F2"/>
          </a:solidFill>
          <a:ln w="12700">
            <a:solidFill>
              <a:srgbClr val="FFFFFF"/>
            </a:solidFill>
            <a:prstDash val="solid"/>
          </a:ln>
        </p:spPr>
      </p:sp>
      <p:sp>
        <p:nvSpPr>
          <p:cNvPr id="10" name="Shape 8"/>
          <p:cNvSpPr/>
          <p:nvPr/>
        </p:nvSpPr>
        <p:spPr>
          <a:xfrm>
            <a:off x="566928" y="1737360"/>
            <a:ext cx="1078992" cy="676656"/>
          </a:xfrm>
          <a:prstGeom prst="rect">
            <a:avLst/>
          </a:prstGeom>
          <a:solidFill>
            <a:srgbClr val="86BC25"/>
          </a:solidFill>
          <a:ln w="12700">
            <a:solidFill>
              <a:srgbClr val="FFFFFF"/>
            </a:solidFill>
            <a:prstDash val="solid"/>
          </a:ln>
        </p:spPr>
      </p:sp>
      <p:sp>
        <p:nvSpPr>
          <p:cNvPr id="11" name="Shape 9"/>
          <p:cNvSpPr/>
          <p:nvPr/>
        </p:nvSpPr>
        <p:spPr>
          <a:xfrm>
            <a:off x="1682496" y="1737360"/>
            <a:ext cx="1078992" cy="676656"/>
          </a:xfrm>
          <a:prstGeom prst="rect">
            <a:avLst/>
          </a:prstGeom>
          <a:solidFill>
            <a:srgbClr val="E3F1D0"/>
          </a:solidFill>
          <a:ln w="12700">
            <a:solidFill>
              <a:srgbClr val="FFFFFF"/>
            </a:solidFill>
            <a:prstDash val="solid"/>
          </a:ln>
        </p:spPr>
      </p:sp>
      <p:sp>
        <p:nvSpPr>
          <p:cNvPr id="12" name="Shape 10"/>
          <p:cNvSpPr/>
          <p:nvPr/>
        </p:nvSpPr>
        <p:spPr>
          <a:xfrm>
            <a:off x="2798064" y="1737360"/>
            <a:ext cx="1078992" cy="676656"/>
          </a:xfrm>
          <a:prstGeom prst="rect">
            <a:avLst/>
          </a:prstGeom>
          <a:solidFill>
            <a:srgbClr val="F2F2F2"/>
          </a:solidFill>
          <a:ln w="12700">
            <a:solidFill>
              <a:srgbClr val="FFFFFF"/>
            </a:solidFill>
            <a:prstDash val="solid"/>
          </a:ln>
        </p:spPr>
      </p:sp>
      <p:sp>
        <p:nvSpPr>
          <p:cNvPr id="13" name="Shape 11"/>
          <p:cNvSpPr/>
          <p:nvPr/>
        </p:nvSpPr>
        <p:spPr>
          <a:xfrm>
            <a:off x="566928" y="2450592"/>
            <a:ext cx="1078992" cy="676656"/>
          </a:xfrm>
          <a:prstGeom prst="rect">
            <a:avLst/>
          </a:prstGeom>
          <a:solidFill>
            <a:srgbClr val="046A38"/>
          </a:solidFill>
          <a:ln w="12700">
            <a:solidFill>
              <a:srgbClr val="FFFFFF"/>
            </a:solidFill>
            <a:prstDash val="solid"/>
          </a:ln>
        </p:spPr>
      </p:sp>
      <p:sp>
        <p:nvSpPr>
          <p:cNvPr id="14" name="Shape 12"/>
          <p:cNvSpPr/>
          <p:nvPr/>
        </p:nvSpPr>
        <p:spPr>
          <a:xfrm>
            <a:off x="1682496" y="2450592"/>
            <a:ext cx="1078992" cy="676656"/>
          </a:xfrm>
          <a:prstGeom prst="rect">
            <a:avLst/>
          </a:prstGeom>
          <a:solidFill>
            <a:srgbClr val="86BC25"/>
          </a:solidFill>
          <a:ln w="12700">
            <a:solidFill>
              <a:srgbClr val="FFFFFF"/>
            </a:solidFill>
            <a:prstDash val="solid"/>
          </a:ln>
        </p:spPr>
      </p:sp>
      <p:sp>
        <p:nvSpPr>
          <p:cNvPr id="15" name="Shape 13"/>
          <p:cNvSpPr/>
          <p:nvPr/>
        </p:nvSpPr>
        <p:spPr>
          <a:xfrm>
            <a:off x="2798064" y="2450592"/>
            <a:ext cx="1078992" cy="676656"/>
          </a:xfrm>
          <a:prstGeom prst="rect">
            <a:avLst/>
          </a:prstGeom>
          <a:solidFill>
            <a:srgbClr val="E3F1D0"/>
          </a:solidFill>
          <a:ln w="12700">
            <a:solidFill>
              <a:srgbClr val="FFFFFF"/>
            </a:solidFill>
            <a:prstDash val="solid"/>
          </a:ln>
        </p:spPr>
      </p:sp>
      <p:sp>
        <p:nvSpPr>
          <p:cNvPr id="16" name="Text 14"/>
          <p:cNvSpPr txBox="1"/>
          <p:nvPr/>
        </p:nvSpPr>
        <p:spPr>
          <a:xfrm>
            <a:off x="109728" y="1024128"/>
            <a:ext cx="438912" cy="676656"/>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New occasions</a:t>
            </a:r>
            <a:endParaRPr lang="en-US" sz="630" dirty="0"/>
          </a:p>
        </p:txBody>
      </p:sp>
      <p:sp>
        <p:nvSpPr>
          <p:cNvPr id="17" name="Text 15"/>
          <p:cNvSpPr txBox="1"/>
          <p:nvPr/>
        </p:nvSpPr>
        <p:spPr>
          <a:xfrm>
            <a:off x="109728" y="1737360"/>
            <a:ext cx="438912" cy="676656"/>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Adjacent shoppers</a:t>
            </a:r>
            <a:endParaRPr lang="en-US" sz="630" dirty="0"/>
          </a:p>
        </p:txBody>
      </p:sp>
      <p:sp>
        <p:nvSpPr>
          <p:cNvPr id="18" name="Text 16"/>
          <p:cNvSpPr txBox="1"/>
          <p:nvPr/>
        </p:nvSpPr>
        <p:spPr>
          <a:xfrm>
            <a:off x="109728" y="2450592"/>
            <a:ext cx="438912" cy="676656"/>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Existing shoppers</a:t>
            </a:r>
            <a:endParaRPr lang="en-US" sz="630" dirty="0"/>
          </a:p>
        </p:txBody>
      </p:sp>
      <p:sp>
        <p:nvSpPr>
          <p:cNvPr id="19" name="Text 17"/>
          <p:cNvSpPr txBox="1"/>
          <p:nvPr/>
        </p:nvSpPr>
        <p:spPr>
          <a:xfrm>
            <a:off x="566928" y="3163824"/>
            <a:ext cx="1078992"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Existing products</a:t>
            </a:r>
            <a:endParaRPr lang="en-US" sz="630" dirty="0"/>
          </a:p>
        </p:txBody>
      </p:sp>
      <p:sp>
        <p:nvSpPr>
          <p:cNvPr id="20" name="Text 18"/>
          <p:cNvSpPr txBox="1"/>
          <p:nvPr/>
        </p:nvSpPr>
        <p:spPr>
          <a:xfrm>
            <a:off x="1682496" y="3163824"/>
            <a:ext cx="1078992"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Adjacent products</a:t>
            </a:r>
            <a:endParaRPr lang="en-US" sz="630" dirty="0"/>
          </a:p>
        </p:txBody>
      </p:sp>
      <p:sp>
        <p:nvSpPr>
          <p:cNvPr id="21" name="Text 19"/>
          <p:cNvSpPr txBox="1"/>
          <p:nvPr/>
        </p:nvSpPr>
        <p:spPr>
          <a:xfrm>
            <a:off x="2798064" y="3163824"/>
            <a:ext cx="1078992"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New products</a:t>
            </a:r>
            <a:endParaRPr lang="en-US" sz="630" dirty="0"/>
          </a:p>
        </p:txBody>
      </p:sp>
      <p:sp>
        <p:nvSpPr>
          <p:cNvPr id="22" name="Shape 20"/>
          <p:cNvSpPr/>
          <p:nvPr/>
        </p:nvSpPr>
        <p:spPr>
          <a:xfrm>
            <a:off x="621792" y="2551176"/>
            <a:ext cx="969264" cy="228600"/>
          </a:xfrm>
          <a:prstGeom prst="roundRect">
            <a:avLst>
              <a:gd name="adj" fmla="val 20000"/>
            </a:avLst>
          </a:prstGeom>
          <a:solidFill>
            <a:srgbClr val="000000"/>
          </a:solidFill>
          <a:ln w="12700">
            <a:solidFill>
              <a:srgbClr val="000000"/>
            </a:solidFill>
            <a:prstDash val="solid"/>
          </a:ln>
        </p:spPr>
      </p:sp>
      <p:sp>
        <p:nvSpPr>
          <p:cNvPr id="23" name="Text 21"/>
          <p:cNvSpPr txBox="1"/>
          <p:nvPr/>
        </p:nvSpPr>
        <p:spPr>
          <a:xfrm>
            <a:off x="621792" y="2551176"/>
            <a:ext cx="969264" cy="228600"/>
          </a:xfrm>
          <a:prstGeom prst="rect">
            <a:avLst/>
          </a:prstGeom>
          <a:noFill/>
          <a:ln/>
        </p:spPr>
        <p:txBody>
          <a:bodyPr wrap="square" lIns="0" tIns="0" rIns="0" bIns="0" rtlCol="0" anchor="ctr"/>
          <a:lstStyle/>
          <a:p>
            <a:pPr algn="ctr" indent="0" marL="0">
              <a:buNone/>
            </a:pPr>
            <a:r>
              <a:rPr lang="en-US" sz="660" b="1" dirty="0">
                <a:solidFill>
                  <a:srgbClr val="FFFFFF"/>
                </a:solidFill>
                <a:latin typeface="Arial" pitchFamily="34" charset="0"/>
                <a:ea typeface="Arial" pitchFamily="34" charset="-122"/>
                <a:cs typeface="Arial" pitchFamily="34" charset="-120"/>
              </a:rPr>
              <a:t>Concentrates (core)</a:t>
            </a:r>
            <a:endParaRPr lang="en-US" sz="660" dirty="0"/>
          </a:p>
        </p:txBody>
      </p:sp>
      <p:sp>
        <p:nvSpPr>
          <p:cNvPr id="24" name="Shape 22"/>
          <p:cNvSpPr/>
          <p:nvPr/>
        </p:nvSpPr>
        <p:spPr>
          <a:xfrm>
            <a:off x="621792" y="2834640"/>
            <a:ext cx="969264" cy="228600"/>
          </a:xfrm>
          <a:prstGeom prst="roundRect">
            <a:avLst>
              <a:gd name="adj" fmla="val 20000"/>
            </a:avLst>
          </a:prstGeom>
          <a:solidFill>
            <a:srgbClr val="53565A"/>
          </a:solidFill>
          <a:ln w="12700">
            <a:solidFill>
              <a:srgbClr val="53565A"/>
            </a:solidFill>
            <a:prstDash val="solid"/>
          </a:ln>
        </p:spPr>
      </p:sp>
      <p:sp>
        <p:nvSpPr>
          <p:cNvPr id="25" name="Text 23"/>
          <p:cNvSpPr txBox="1"/>
          <p:nvPr/>
        </p:nvSpPr>
        <p:spPr>
          <a:xfrm>
            <a:off x="621792" y="2834640"/>
            <a:ext cx="969264" cy="228600"/>
          </a:xfrm>
          <a:prstGeom prst="rect">
            <a:avLst/>
          </a:prstGeom>
          <a:noFill/>
          <a:ln/>
        </p:spPr>
        <p:txBody>
          <a:bodyPr wrap="square" lIns="0" tIns="0" rIns="0" bIns="0" rtlCol="0" anchor="ctr"/>
          <a:lstStyle/>
          <a:p>
            <a:pPr algn="ctr" indent="0" marL="0">
              <a:buNone/>
            </a:pPr>
            <a:r>
              <a:rPr lang="en-US" sz="660" b="1" dirty="0">
                <a:solidFill>
                  <a:srgbClr val="FFFFFF"/>
                </a:solidFill>
                <a:latin typeface="Arial" pitchFamily="34" charset="0"/>
                <a:ea typeface="Arial" pitchFamily="34" charset="-122"/>
                <a:cs typeface="Arial" pitchFamily="34" charset="-120"/>
              </a:rPr>
              <a:t>Premium variant FY20</a:t>
            </a:r>
            <a:endParaRPr lang="en-US" sz="660" dirty="0"/>
          </a:p>
        </p:txBody>
      </p:sp>
      <p:sp>
        <p:nvSpPr>
          <p:cNvPr id="26" name="Shape 24"/>
          <p:cNvSpPr/>
          <p:nvPr/>
        </p:nvSpPr>
        <p:spPr>
          <a:xfrm>
            <a:off x="1737360" y="2551176"/>
            <a:ext cx="969264" cy="228600"/>
          </a:xfrm>
          <a:prstGeom prst="roundRect">
            <a:avLst>
              <a:gd name="adj" fmla="val 20000"/>
            </a:avLst>
          </a:prstGeom>
          <a:solidFill>
            <a:srgbClr val="046A38"/>
          </a:solidFill>
          <a:ln w="12700">
            <a:solidFill>
              <a:srgbClr val="046A38"/>
            </a:solidFill>
            <a:prstDash val="solid"/>
          </a:ln>
        </p:spPr>
      </p:sp>
      <p:sp>
        <p:nvSpPr>
          <p:cNvPr id="27" name="Text 25"/>
          <p:cNvSpPr txBox="1"/>
          <p:nvPr/>
        </p:nvSpPr>
        <p:spPr>
          <a:xfrm>
            <a:off x="1737360" y="2551176"/>
            <a:ext cx="969264" cy="228600"/>
          </a:xfrm>
          <a:prstGeom prst="rect">
            <a:avLst/>
          </a:prstGeom>
          <a:noFill/>
          <a:ln/>
        </p:spPr>
        <p:txBody>
          <a:bodyPr wrap="square" lIns="0" tIns="0" rIns="0" bIns="0" rtlCol="0" anchor="ctr"/>
          <a:lstStyle/>
          <a:p>
            <a:pPr algn="ctr" indent="0" marL="0">
              <a:buNone/>
            </a:pPr>
            <a:r>
              <a:rPr lang="en-US" sz="660" b="1" dirty="0">
                <a:solidFill>
                  <a:srgbClr val="FFFFFF"/>
                </a:solidFill>
                <a:latin typeface="Arial" pitchFamily="34" charset="0"/>
                <a:ea typeface="Arial" pitchFamily="34" charset="-122"/>
                <a:cs typeface="Arial" pitchFamily="34" charset="-120"/>
              </a:rPr>
              <a:t>Winter premixes</a:t>
            </a:r>
            <a:endParaRPr lang="en-US" sz="660" dirty="0"/>
          </a:p>
        </p:txBody>
      </p:sp>
      <p:sp>
        <p:nvSpPr>
          <p:cNvPr id="28" name="Shape 26"/>
          <p:cNvSpPr/>
          <p:nvPr/>
        </p:nvSpPr>
        <p:spPr>
          <a:xfrm>
            <a:off x="1737360" y="2834640"/>
            <a:ext cx="969264" cy="228600"/>
          </a:xfrm>
          <a:prstGeom prst="roundRect">
            <a:avLst>
              <a:gd name="adj" fmla="val 20000"/>
            </a:avLst>
          </a:prstGeom>
          <a:solidFill>
            <a:srgbClr val="FFFFFF"/>
          </a:solidFill>
          <a:ln w="12700">
            <a:solidFill>
              <a:srgbClr val="FFFFFF"/>
            </a:solidFill>
            <a:prstDash val="solid"/>
          </a:ln>
        </p:spPr>
      </p:sp>
      <p:sp>
        <p:nvSpPr>
          <p:cNvPr id="29" name="Text 27"/>
          <p:cNvSpPr txBox="1"/>
          <p:nvPr/>
        </p:nvSpPr>
        <p:spPr>
          <a:xfrm>
            <a:off x="1737360" y="2834640"/>
            <a:ext cx="969264" cy="228600"/>
          </a:xfrm>
          <a:prstGeom prst="rect">
            <a:avLst/>
          </a:prstGeom>
          <a:noFill/>
          <a:ln/>
        </p:spPr>
        <p:txBody>
          <a:bodyPr wrap="square" lIns="0" tIns="0" rIns="0" bIns="0" rtlCol="0" anchor="ctr"/>
          <a:lstStyle/>
          <a:p>
            <a:pPr algn="ctr" indent="0" marL="0">
              <a:buNone/>
            </a:pPr>
            <a:r>
              <a:rPr lang="en-US" sz="660" b="1" dirty="0">
                <a:solidFill>
                  <a:srgbClr val="046A38"/>
                </a:solidFill>
                <a:latin typeface="Arial" pitchFamily="34" charset="0"/>
                <a:ea typeface="Arial" pitchFamily="34" charset="-122"/>
                <a:cs typeface="Arial" pitchFamily="34" charset="-120"/>
              </a:rPr>
              <a:t>Same plant &amp; shelf</a:t>
            </a:r>
            <a:endParaRPr lang="en-US" sz="660" dirty="0"/>
          </a:p>
        </p:txBody>
      </p:sp>
      <p:sp>
        <p:nvSpPr>
          <p:cNvPr id="30" name="Shape 28"/>
          <p:cNvSpPr/>
          <p:nvPr/>
        </p:nvSpPr>
        <p:spPr>
          <a:xfrm>
            <a:off x="2852928" y="1837944"/>
            <a:ext cx="969264" cy="228600"/>
          </a:xfrm>
          <a:prstGeom prst="roundRect">
            <a:avLst>
              <a:gd name="adj" fmla="val 20000"/>
            </a:avLst>
          </a:prstGeom>
          <a:solidFill>
            <a:srgbClr val="26890D"/>
          </a:solidFill>
          <a:ln w="12700">
            <a:solidFill>
              <a:srgbClr val="26890D"/>
            </a:solidFill>
            <a:prstDash val="solid"/>
          </a:ln>
        </p:spPr>
      </p:sp>
      <p:sp>
        <p:nvSpPr>
          <p:cNvPr id="31" name="Text 29"/>
          <p:cNvSpPr txBox="1"/>
          <p:nvPr/>
        </p:nvSpPr>
        <p:spPr>
          <a:xfrm>
            <a:off x="2852928" y="1837944"/>
            <a:ext cx="969264" cy="228600"/>
          </a:xfrm>
          <a:prstGeom prst="rect">
            <a:avLst/>
          </a:prstGeom>
          <a:noFill/>
          <a:ln/>
        </p:spPr>
        <p:txBody>
          <a:bodyPr wrap="square" lIns="0" tIns="0" rIns="0" bIns="0" rtlCol="0" anchor="ctr"/>
          <a:lstStyle/>
          <a:p>
            <a:pPr algn="ctr" indent="0" marL="0">
              <a:buNone/>
            </a:pPr>
            <a:r>
              <a:rPr lang="en-US" sz="660" b="1" dirty="0">
                <a:solidFill>
                  <a:srgbClr val="FFFFFF"/>
                </a:solidFill>
                <a:latin typeface="Arial" pitchFamily="34" charset="0"/>
                <a:ea typeface="Arial" pitchFamily="34" charset="-122"/>
                <a:cs typeface="Arial" pitchFamily="34" charset="-120"/>
              </a:rPr>
              <a:t>Spices ('Swaad')</a:t>
            </a:r>
            <a:endParaRPr lang="en-US" sz="660" dirty="0"/>
          </a:p>
        </p:txBody>
      </p:sp>
      <p:sp>
        <p:nvSpPr>
          <p:cNvPr id="32" name="Shape 30"/>
          <p:cNvSpPr/>
          <p:nvPr/>
        </p:nvSpPr>
        <p:spPr>
          <a:xfrm>
            <a:off x="1737360" y="1975104"/>
            <a:ext cx="969264" cy="228600"/>
          </a:xfrm>
          <a:prstGeom prst="roundRect">
            <a:avLst>
              <a:gd name="adj" fmla="val 20000"/>
            </a:avLst>
          </a:prstGeom>
          <a:solidFill>
            <a:srgbClr val="FFFFFF"/>
          </a:solidFill>
          <a:ln w="12700">
            <a:solidFill>
              <a:srgbClr val="FFFFFF"/>
            </a:solidFill>
            <a:prstDash val="solid"/>
          </a:ln>
        </p:spPr>
      </p:sp>
      <p:sp>
        <p:nvSpPr>
          <p:cNvPr id="33" name="Text 31"/>
          <p:cNvSpPr txBox="1"/>
          <p:nvPr/>
        </p:nvSpPr>
        <p:spPr>
          <a:xfrm>
            <a:off x="1737360" y="1975104"/>
            <a:ext cx="969264" cy="228600"/>
          </a:xfrm>
          <a:prstGeom prst="rect">
            <a:avLst/>
          </a:prstGeom>
          <a:noFill/>
          <a:ln/>
        </p:spPr>
        <p:txBody>
          <a:bodyPr wrap="square" lIns="0" tIns="0" rIns="0" bIns="0" rtlCol="0" anchor="ctr"/>
          <a:lstStyle/>
          <a:p>
            <a:pPr algn="ctr" indent="0" marL="0">
              <a:buNone/>
            </a:pPr>
            <a:r>
              <a:rPr lang="en-US" sz="660" b="1" dirty="0">
                <a:solidFill>
                  <a:srgbClr val="26890D"/>
                </a:solidFill>
                <a:latin typeface="Arial" pitchFamily="34" charset="0"/>
                <a:ea typeface="Arial" pitchFamily="34" charset="-122"/>
                <a:cs typeface="Arial" pitchFamily="34" charset="-120"/>
              </a:rPr>
              <a:t>RTC / pickles: FY23 gate</a:t>
            </a:r>
            <a:endParaRPr lang="en-US" sz="660" dirty="0"/>
          </a:p>
        </p:txBody>
      </p:sp>
      <p:sp>
        <p:nvSpPr>
          <p:cNvPr id="34" name="Shape 32"/>
          <p:cNvSpPr/>
          <p:nvPr/>
        </p:nvSpPr>
        <p:spPr>
          <a:xfrm>
            <a:off x="2852928" y="1261872"/>
            <a:ext cx="969264" cy="228600"/>
          </a:xfrm>
          <a:prstGeom prst="roundRect">
            <a:avLst>
              <a:gd name="adj" fmla="val 20000"/>
            </a:avLst>
          </a:prstGeom>
          <a:solidFill>
            <a:srgbClr val="D0D0CE"/>
          </a:solidFill>
          <a:ln w="12700">
            <a:solidFill>
              <a:srgbClr val="D0D0CE"/>
            </a:solidFill>
            <a:prstDash val="solid"/>
          </a:ln>
        </p:spPr>
      </p:sp>
      <p:sp>
        <p:nvSpPr>
          <p:cNvPr id="35" name="Text 33"/>
          <p:cNvSpPr txBox="1"/>
          <p:nvPr/>
        </p:nvSpPr>
        <p:spPr>
          <a:xfrm>
            <a:off x="2852928" y="1261872"/>
            <a:ext cx="969264" cy="228600"/>
          </a:xfrm>
          <a:prstGeom prst="rect">
            <a:avLst/>
          </a:prstGeom>
          <a:noFill/>
          <a:ln/>
        </p:spPr>
        <p:txBody>
          <a:bodyPr wrap="square" lIns="0" tIns="0" rIns="0" bIns="0" rtlCol="0" anchor="ctr"/>
          <a:lstStyle/>
          <a:p>
            <a:pPr algn="ctr" indent="0" marL="0">
              <a:buNone/>
            </a:pPr>
            <a:r>
              <a:rPr lang="en-US" sz="660" b="1" dirty="0">
                <a:solidFill>
                  <a:srgbClr val="53565A"/>
                </a:solidFill>
                <a:latin typeface="Arial" pitchFamily="34" charset="0"/>
                <a:ea typeface="Arial" pitchFamily="34" charset="-122"/>
                <a:cs typeface="Arial" pitchFamily="34" charset="-120"/>
              </a:rPr>
              <a:t>Dairy, RTD: refused</a:t>
            </a:r>
            <a:endParaRPr lang="en-US" sz="660" dirty="0"/>
          </a:p>
        </p:txBody>
      </p:sp>
      <p:sp>
        <p:nvSpPr>
          <p:cNvPr id="36" name="Text 34"/>
          <p:cNvSpPr txBox="1"/>
          <p:nvPr/>
        </p:nvSpPr>
        <p:spPr>
          <a:xfrm>
            <a:off x="109728" y="3291840"/>
            <a:ext cx="3931920" cy="274320"/>
          </a:xfrm>
          <a:prstGeom prst="rect">
            <a:avLst/>
          </a:prstGeom>
          <a:noFill/>
          <a:ln/>
        </p:spPr>
        <p:txBody>
          <a:bodyPr wrap="square" lIns="0" tIns="0" rIns="0" bIns="0" rtlCol="0" anchor="ctr"/>
          <a:lstStyle/>
          <a:p>
            <a:pPr indent="0" marL="0">
              <a:buNone/>
            </a:pPr>
            <a:r>
              <a:rPr lang="en-US" sz="650" i="1" dirty="0">
                <a:solidFill>
                  <a:srgbClr val="53565A"/>
                </a:solidFill>
                <a:latin typeface="Arial" pitchFamily="34" charset="0"/>
                <a:ea typeface="Arial" pitchFamily="34" charset="-122"/>
                <a:cs typeface="Arial" pitchFamily="34" charset="-120"/>
              </a:rPr>
              <a:t>Core | adjacent | transformational, after Nagji &amp; Tuff (Monitor Group, HBR 2012). Placement is the team's judgment.</a:t>
            </a:r>
            <a:endParaRPr lang="en-US" sz="650" dirty="0"/>
          </a:p>
        </p:txBody>
      </p:sp>
      <p:sp>
        <p:nvSpPr>
          <p:cNvPr id="37" name="Text 35"/>
          <p:cNvSpPr txBox="1"/>
          <p:nvPr/>
        </p:nvSpPr>
        <p:spPr>
          <a:xfrm>
            <a:off x="109728" y="3566160"/>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Cross-check: our 8-criteria weighted screen</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9728" y="3822192"/>
          <a:ext cx="3931920" cy="914400"/>
        </p:xfrm>
        <a:graphic>
          <a:graphicData uri="http://schemas.openxmlformats.org/drawingml/2006/table">
            <a:tbl>
              <a:tblPr/>
              <a:tblGrid>
                <a:gridCol w="1143000"/>
                <a:gridCol w="685800"/>
                <a:gridCol w="777240"/>
                <a:gridCol w="777240"/>
                <a:gridCol w="548640"/>
              </a:tblGrid>
              <a:tr h="274320">
                <a:tc>
                  <a:txBody>
                    <a:bodyPr/>
                    <a:lstStyle/>
                    <a:p>
                      <a:pPr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Attract. 40%</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Right to win 40%</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Counter-season 20%</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Score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Spices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4.53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Premixes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4.52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Pickles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4.47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RTC mixes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4.37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Namkeen</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3.88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Staples / RTD / dairy</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2.3-3.1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1.7-3.4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2.13-2.68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39" name="Text 36"/>
          <p:cNvSpPr txBox="1"/>
          <p:nvPr/>
        </p:nvSpPr>
        <p:spPr>
          <a:xfrm>
            <a:off x="4206240" y="749808"/>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Why premixes over RTC mixes (a Tension 03 call)</a:t>
            </a:r>
            <a:endParaRPr lang="en-US" sz="11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206240" y="1005840"/>
          <a:ext cx="3931920" cy="914400"/>
        </p:xfrm>
        <a:graphic>
          <a:graphicData uri="http://schemas.openxmlformats.org/drawingml/2006/table">
            <a:tbl>
              <a:tblPr/>
              <a:tblGrid>
                <a:gridCol w="1463040"/>
                <a:gridCol w="1280160"/>
                <a:gridCol w="1188720"/>
              </a:tblGrid>
              <a:tr h="246888">
                <a:tc>
                  <a:txBody>
                    <a:bodyPr/>
                    <a:lstStyle/>
                    <a:p>
                      <a:pPr indent="0" marL="0">
                        <a:buNone/>
                      </a:pP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Premixes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RTC mixes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Market FY21 / 3-yr growth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Rs 6,400 Cr / 14%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Rs 9,800 Cr / 17%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Brand adjacency (Exh. 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4.6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Organised share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In-house capex</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Low</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Medium</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Gross margin</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42-50%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40-48%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Peak season vs our plant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Oct-Feb; Q3 plant at 34%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Year-round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Consumer pull (9 answers)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 picks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4 picks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Exhibit 6 analogue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Premium variant: worked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No analogue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41" name="Text 37"/>
          <p:cNvSpPr txBox="1"/>
          <p:nvPr/>
        </p:nvSpPr>
        <p:spPr>
          <a:xfrm>
            <a:off x="4206240" y="3264408"/>
            <a:ext cx="3931920" cy="384048"/>
          </a:xfrm>
          <a:prstGeom prst="rect">
            <a:avLst/>
          </a:prstGeom>
          <a:noFill/>
          <a:ln/>
        </p:spPr>
        <p:txBody>
          <a:bodyPr wrap="square" lIns="0" tIns="0" rIns="0" bIns="0" rtlCol="0" anchor="ctr"/>
          <a:lstStyle/>
          <a:p>
            <a:pPr indent="0" marL="0">
              <a:buNone/>
            </a:pPr>
            <a:r>
              <a:rPr lang="en-US" sz="740" i="1" dirty="0">
                <a:solidFill>
                  <a:srgbClr val="53565A"/>
                </a:solidFill>
                <a:latin typeface="Arial" pitchFamily="34" charset="0"/>
                <a:ea typeface="Arial" pitchFamily="34" charset="-122"/>
                <a:cs typeface="Arial" pitchFamily="34" charset="-120"/>
              </a:rPr>
              <a:t>RTC wins on size and on the FGD vote, so it is first in line for the FY23 gate. Premixes win on every Board constraint and on the one launch that worked.</a:t>
            </a:r>
            <a:endParaRPr lang="en-US" sz="740" dirty="0"/>
          </a:p>
        </p:txBody>
      </p:sp>
      <p:sp>
        <p:nvSpPr>
          <p:cNvPr id="42" name="Text 38"/>
          <p:cNvSpPr txBox="1"/>
          <p:nvPr/>
        </p:nvSpPr>
        <p:spPr>
          <a:xfrm>
            <a:off x="4206240" y="3639312"/>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Counter-seasonal by design: Mar-Jul share of sales</a:t>
            </a:r>
            <a:endParaRPr lang="en-US" sz="1100" dirty="0"/>
          </a:p>
        </p:txBody>
      </p:sp>
      <p:graphicFrame>
        <p:nvGraphicFramePr>
          <p:cNvPr id="43" name="Chart 0" descr=""/>
          <p:cNvGraphicFramePr/>
          <p:nvPr/>
        </p:nvGraphicFramePr>
        <p:xfrm>
          <a:off x="4206240" y="3858768"/>
          <a:ext cx="1920240" cy="2057400"/>
        </p:xfrm>
        <a:graphic xmlns:a="http://schemas.openxmlformats.org/drawingml/2006/main">
          <a:graphicData uri="http://schemas.openxmlformats.org/drawingml/2006/chart">
            <c:chart xmlns:c="http://schemas.openxmlformats.org/drawingml/2006/chart" r:id="rId1"/>
          </a:graphicData>
        </a:graphic>
      </p:graphicFrame>
      <p:sp>
        <p:nvSpPr>
          <p:cNvPr id="44" name="Text 39"/>
          <p:cNvSpPr txBox="1"/>
          <p:nvPr/>
        </p:nvSpPr>
        <p:spPr>
          <a:xfrm>
            <a:off x="6217920" y="3931920"/>
            <a:ext cx="1920240" cy="1737360"/>
          </a:xfrm>
          <a:prstGeom prst="rect">
            <a:avLst/>
          </a:prstGeom>
          <a:noFill/>
          <a:ln/>
        </p:spPr>
        <p:txBody>
          <a:bodyPr wrap="square" lIns="0" tIns="0" rIns="0" bIns="0" rtlCol="0" anchor="t"/>
          <a:lstStyle/>
          <a:p>
            <a:pPr indent="0" marL="0">
              <a:buNone/>
            </a:pPr>
            <a:r>
              <a:rPr lang="en-US" sz="740" dirty="0">
                <a:solidFill>
                  <a:srgbClr val="000000"/>
                </a:solidFill>
                <a:latin typeface="Arial" pitchFamily="34" charset="0"/>
                <a:ea typeface="Arial" pitchFamily="34" charset="-122"/>
                <a:cs typeface="Arial" pitchFamily="34" charset="-120"/>
              </a:rPr>
              <a:t>Premixes sell 90% of volume Oct-Feb; spices sell evenly through the year. </a:t>
            </a:r>
            <a:endParaRPr lang="en-US" sz="740" dirty="0"/>
          </a:p>
          <a:p>
            <a:pPr indent="0" marL="0">
              <a:buNone/>
            </a:pPr>
            <a:r>
              <a:rPr lang="en-US" sz="740" dirty="0">
                <a:solidFill>
                  <a:srgbClr val="000000"/>
                </a:solidFill>
                <a:latin typeface="Arial" pitchFamily="34" charset="0"/>
                <a:ea typeface="Arial" pitchFamily="34" charset="-122"/>
                <a:cs typeface="Arial" pitchFamily="34" charset="-120"/>
              </a:rPr>
              <a:t>Every rupee of new sales lowers the summer dependence the Board wants removed, without cutting the core.</a:t>
            </a:r>
            <a:endParaRPr lang="en-US" sz="740" dirty="0"/>
          </a:p>
        </p:txBody>
      </p:sp>
      <p:sp>
        <p:nvSpPr>
          <p:cNvPr id="45" name="Text 40"/>
          <p:cNvSpPr txBox="1"/>
          <p:nvPr/>
        </p:nvSpPr>
        <p:spPr>
          <a:xfrm>
            <a:off x="8302752" y="749808"/>
            <a:ext cx="3794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Sequencing: earn the right, then scale</a:t>
            </a:r>
            <a:endParaRPr lang="en-US" sz="1100" dirty="0"/>
          </a:p>
        </p:txBody>
      </p:sp>
      <p:sp>
        <p:nvSpPr>
          <p:cNvPr id="46" name="Shape 41"/>
          <p:cNvSpPr/>
          <p:nvPr/>
        </p:nvSpPr>
        <p:spPr>
          <a:xfrm>
            <a:off x="8302752" y="1005840"/>
            <a:ext cx="1051560" cy="365760"/>
          </a:xfrm>
          <a:prstGeom prst="homePlate">
            <a:avLst/>
          </a:prstGeom>
          <a:solidFill>
            <a:srgbClr val="046A38"/>
          </a:solidFill>
          <a:ln w="12700">
            <a:solidFill>
              <a:srgbClr val="FFFFFF"/>
            </a:solidFill>
            <a:prstDash val="solid"/>
          </a:ln>
        </p:spPr>
      </p:sp>
      <p:sp>
        <p:nvSpPr>
          <p:cNvPr id="47" name="Text 42"/>
          <p:cNvSpPr txBox="1"/>
          <p:nvPr/>
        </p:nvSpPr>
        <p:spPr>
          <a:xfrm>
            <a:off x="8321040" y="1005840"/>
            <a:ext cx="914400" cy="365760"/>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Q3 FY22</a:t>
            </a:r>
            <a:endParaRPr lang="en-US" sz="760" dirty="0"/>
          </a:p>
        </p:txBody>
      </p:sp>
      <p:sp>
        <p:nvSpPr>
          <p:cNvPr id="48" name="Text 43"/>
          <p:cNvSpPr txBox="1"/>
          <p:nvPr/>
        </p:nvSpPr>
        <p:spPr>
          <a:xfrm>
            <a:off x="9418320" y="1005840"/>
            <a:ext cx="2679192" cy="365760"/>
          </a:xfrm>
          <a:prstGeom prst="rect">
            <a:avLst/>
          </a:prstGeom>
          <a:noFill/>
          <a:ln/>
        </p:spPr>
        <p:txBody>
          <a:bodyPr wrap="square" lIns="0" tIns="0" rIns="0" bIns="0" rtlCol="0" anchor="ctr"/>
          <a:lstStyle/>
          <a:p>
            <a:pPr indent="0" marL="0">
              <a:buNone/>
            </a:pPr>
            <a:r>
              <a:rPr lang="en-US" sz="760" dirty="0">
                <a:solidFill>
                  <a:srgbClr val="000000"/>
                </a:solidFill>
                <a:latin typeface="Arial" pitchFamily="34" charset="0"/>
                <a:ea typeface="Arial" pitchFamily="34" charset="-122"/>
                <a:cs typeface="Arial" pitchFamily="34" charset="-120"/>
              </a:rPr>
              <a:t>Premixes: pilot winter in Regions 1-2</a:t>
            </a:r>
            <a:endParaRPr lang="en-US" sz="760" dirty="0"/>
          </a:p>
        </p:txBody>
      </p:sp>
      <p:sp>
        <p:nvSpPr>
          <p:cNvPr id="49" name="Shape 44"/>
          <p:cNvSpPr/>
          <p:nvPr/>
        </p:nvSpPr>
        <p:spPr>
          <a:xfrm>
            <a:off x="8302752" y="1426464"/>
            <a:ext cx="1051560" cy="365760"/>
          </a:xfrm>
          <a:prstGeom prst="homePlate">
            <a:avLst/>
          </a:prstGeom>
          <a:solidFill>
            <a:srgbClr val="26890D"/>
          </a:solidFill>
          <a:ln w="12700">
            <a:solidFill>
              <a:srgbClr val="FFFFFF"/>
            </a:solidFill>
            <a:prstDash val="solid"/>
          </a:ln>
        </p:spPr>
      </p:sp>
      <p:sp>
        <p:nvSpPr>
          <p:cNvPr id="50" name="Text 45"/>
          <p:cNvSpPr txBox="1"/>
          <p:nvPr/>
        </p:nvSpPr>
        <p:spPr>
          <a:xfrm>
            <a:off x="8321040" y="1426464"/>
            <a:ext cx="914400" cy="365760"/>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Feb FY22</a:t>
            </a:r>
            <a:endParaRPr lang="en-US" sz="760" dirty="0"/>
          </a:p>
        </p:txBody>
      </p:sp>
      <p:sp>
        <p:nvSpPr>
          <p:cNvPr id="51" name="Text 46"/>
          <p:cNvSpPr txBox="1"/>
          <p:nvPr/>
        </p:nvSpPr>
        <p:spPr>
          <a:xfrm>
            <a:off x="9418320" y="1426464"/>
            <a:ext cx="2679192" cy="365760"/>
          </a:xfrm>
          <a:prstGeom prst="rect">
            <a:avLst/>
          </a:prstGeom>
          <a:noFill/>
          <a:ln/>
        </p:spPr>
        <p:txBody>
          <a:bodyPr wrap="square" lIns="0" tIns="0" rIns="0" bIns="0" rtlCol="0" anchor="ctr"/>
          <a:lstStyle/>
          <a:p>
            <a:pPr indent="0" marL="0">
              <a:buNone/>
            </a:pPr>
            <a:r>
              <a:rPr lang="en-US" sz="760" dirty="0">
                <a:solidFill>
                  <a:srgbClr val="000000"/>
                </a:solidFill>
                <a:latin typeface="Arial" pitchFamily="34" charset="0"/>
                <a:ea typeface="Arial" pitchFamily="34" charset="-122"/>
                <a:cs typeface="Arial" pitchFamily="34" charset="-120"/>
              </a:rPr>
              <a:t>Scale gate on in-season repeat data</a:t>
            </a:r>
            <a:endParaRPr lang="en-US" sz="760" dirty="0"/>
          </a:p>
        </p:txBody>
      </p:sp>
      <p:sp>
        <p:nvSpPr>
          <p:cNvPr id="52" name="Shape 47"/>
          <p:cNvSpPr/>
          <p:nvPr/>
        </p:nvSpPr>
        <p:spPr>
          <a:xfrm>
            <a:off x="8302752" y="1847088"/>
            <a:ext cx="1051560" cy="365760"/>
          </a:xfrm>
          <a:prstGeom prst="homePlate">
            <a:avLst/>
          </a:prstGeom>
          <a:solidFill>
            <a:srgbClr val="26890D"/>
          </a:solidFill>
          <a:ln w="12700">
            <a:solidFill>
              <a:srgbClr val="FFFFFF"/>
            </a:solidFill>
            <a:prstDash val="solid"/>
          </a:ln>
        </p:spPr>
      </p:sp>
      <p:sp>
        <p:nvSpPr>
          <p:cNvPr id="53" name="Text 48"/>
          <p:cNvSpPr txBox="1"/>
          <p:nvPr/>
        </p:nvSpPr>
        <p:spPr>
          <a:xfrm>
            <a:off x="8321040" y="1847088"/>
            <a:ext cx="914400" cy="365760"/>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Q4 FY22</a:t>
            </a:r>
            <a:endParaRPr lang="en-US" sz="760" dirty="0"/>
          </a:p>
        </p:txBody>
      </p:sp>
      <p:sp>
        <p:nvSpPr>
          <p:cNvPr id="54" name="Text 49"/>
          <p:cNvSpPr txBox="1"/>
          <p:nvPr/>
        </p:nvSpPr>
        <p:spPr>
          <a:xfrm>
            <a:off x="9418320" y="1847088"/>
            <a:ext cx="2679192" cy="365760"/>
          </a:xfrm>
          <a:prstGeom prst="rect">
            <a:avLst/>
          </a:prstGeom>
          <a:noFill/>
          <a:ln/>
        </p:spPr>
        <p:txBody>
          <a:bodyPr wrap="square" lIns="0" tIns="0" rIns="0" bIns="0" rtlCol="0" anchor="ctr"/>
          <a:lstStyle/>
          <a:p>
            <a:pPr indent="0" marL="0">
              <a:buNone/>
            </a:pPr>
            <a:r>
              <a:rPr lang="en-US" sz="760" dirty="0">
                <a:solidFill>
                  <a:srgbClr val="000000"/>
                </a:solidFill>
                <a:latin typeface="Arial" pitchFamily="34" charset="0"/>
                <a:ea typeface="Arial" pitchFamily="34" charset="-122"/>
                <a:cs typeface="Arial" pitchFamily="34" charset="-120"/>
              </a:rPr>
              <a:t>Spices under 'Swaad by Rasmitra'</a:t>
            </a:r>
            <a:endParaRPr lang="en-US" sz="760" dirty="0"/>
          </a:p>
        </p:txBody>
      </p:sp>
      <p:sp>
        <p:nvSpPr>
          <p:cNvPr id="55" name="Shape 50"/>
          <p:cNvSpPr/>
          <p:nvPr/>
        </p:nvSpPr>
        <p:spPr>
          <a:xfrm>
            <a:off x="8302752" y="2267712"/>
            <a:ext cx="1051560" cy="365760"/>
          </a:xfrm>
          <a:prstGeom prst="homePlate">
            <a:avLst/>
          </a:prstGeom>
          <a:solidFill>
            <a:srgbClr val="86BC25"/>
          </a:solidFill>
          <a:ln w="12700">
            <a:solidFill>
              <a:srgbClr val="FFFFFF"/>
            </a:solidFill>
            <a:prstDash val="solid"/>
          </a:ln>
        </p:spPr>
      </p:sp>
      <p:sp>
        <p:nvSpPr>
          <p:cNvPr id="56" name="Text 51"/>
          <p:cNvSpPr txBox="1"/>
          <p:nvPr/>
        </p:nvSpPr>
        <p:spPr>
          <a:xfrm>
            <a:off x="8321040" y="2267712"/>
            <a:ext cx="914400" cy="365760"/>
          </a:xfrm>
          <a:prstGeom prst="rect">
            <a:avLst/>
          </a:prstGeom>
          <a:noFill/>
          <a:ln/>
        </p:spPr>
        <p:txBody>
          <a:bodyPr wrap="square" lIns="0" tIns="0" rIns="0" bIns="0" rtlCol="0" anchor="ctr"/>
          <a:lstStyle/>
          <a:p>
            <a:pPr algn="ctr" indent="0" marL="0">
              <a:buNone/>
            </a:pPr>
            <a:r>
              <a:rPr lang="en-US" sz="760" b="1" dirty="0">
                <a:solidFill>
                  <a:srgbClr val="000000"/>
                </a:solidFill>
                <a:latin typeface="Arial" pitchFamily="34" charset="0"/>
                <a:ea typeface="Arial" pitchFamily="34" charset="-122"/>
                <a:cs typeface="Arial" pitchFamily="34" charset="-120"/>
              </a:rPr>
              <a:t>FY23 gate</a:t>
            </a:r>
            <a:endParaRPr lang="en-US" sz="760" dirty="0"/>
          </a:p>
        </p:txBody>
      </p:sp>
      <p:sp>
        <p:nvSpPr>
          <p:cNvPr id="57" name="Text 52"/>
          <p:cNvSpPr txBox="1"/>
          <p:nvPr/>
        </p:nvSpPr>
        <p:spPr>
          <a:xfrm>
            <a:off x="9418320" y="2267712"/>
            <a:ext cx="2679192" cy="365760"/>
          </a:xfrm>
          <a:prstGeom prst="rect">
            <a:avLst/>
          </a:prstGeom>
          <a:noFill/>
          <a:ln/>
        </p:spPr>
        <p:txBody>
          <a:bodyPr wrap="square" lIns="0" tIns="0" rIns="0" bIns="0" rtlCol="0" anchor="ctr"/>
          <a:lstStyle/>
          <a:p>
            <a:pPr indent="0" marL="0">
              <a:buNone/>
            </a:pPr>
            <a:r>
              <a:rPr lang="en-US" sz="760" dirty="0">
                <a:solidFill>
                  <a:srgbClr val="000000"/>
                </a:solidFill>
                <a:latin typeface="Arial" pitchFamily="34" charset="0"/>
                <a:ea typeface="Arial" pitchFamily="34" charset="-122"/>
                <a:cs typeface="Arial" pitchFamily="34" charset="-120"/>
              </a:rPr>
              <a:t>Third category (RTC first) only if both pass</a:t>
            </a:r>
            <a:endParaRPr lang="en-US" sz="760" dirty="0"/>
          </a:p>
        </p:txBody>
      </p:sp>
      <p:sp>
        <p:nvSpPr>
          <p:cNvPr id="58" name="Shape 53"/>
          <p:cNvSpPr/>
          <p:nvPr/>
        </p:nvSpPr>
        <p:spPr>
          <a:xfrm>
            <a:off x="8302752" y="2688336"/>
            <a:ext cx="1051560" cy="365760"/>
          </a:xfrm>
          <a:prstGeom prst="homePlate">
            <a:avLst/>
          </a:prstGeom>
          <a:solidFill>
            <a:srgbClr val="86BC25"/>
          </a:solidFill>
          <a:ln w="12700">
            <a:solidFill>
              <a:srgbClr val="FFFFFF"/>
            </a:solidFill>
            <a:prstDash val="solid"/>
          </a:ln>
        </p:spPr>
      </p:sp>
      <p:sp>
        <p:nvSpPr>
          <p:cNvPr id="59" name="Text 54"/>
          <p:cNvSpPr txBox="1"/>
          <p:nvPr/>
        </p:nvSpPr>
        <p:spPr>
          <a:xfrm>
            <a:off x="8321040" y="2688336"/>
            <a:ext cx="914400" cy="365760"/>
          </a:xfrm>
          <a:prstGeom prst="rect">
            <a:avLst/>
          </a:prstGeom>
          <a:noFill/>
          <a:ln/>
        </p:spPr>
        <p:txBody>
          <a:bodyPr wrap="square" lIns="0" tIns="0" rIns="0" bIns="0" rtlCol="0" anchor="ctr"/>
          <a:lstStyle/>
          <a:p>
            <a:pPr algn="ctr" indent="0" marL="0">
              <a:buNone/>
            </a:pPr>
            <a:r>
              <a:rPr lang="en-US" sz="760" b="1" dirty="0">
                <a:solidFill>
                  <a:srgbClr val="000000"/>
                </a:solidFill>
                <a:latin typeface="Arial" pitchFamily="34" charset="0"/>
                <a:ea typeface="Arial" pitchFamily="34" charset="-122"/>
                <a:cs typeface="Arial" pitchFamily="34" charset="-120"/>
              </a:rPr>
              <a:t>FY23-24</a:t>
            </a:r>
            <a:endParaRPr lang="en-US" sz="760" dirty="0"/>
          </a:p>
        </p:txBody>
      </p:sp>
      <p:sp>
        <p:nvSpPr>
          <p:cNvPr id="60" name="Text 55"/>
          <p:cNvSpPr txBox="1"/>
          <p:nvPr/>
        </p:nvSpPr>
        <p:spPr>
          <a:xfrm>
            <a:off x="9418320" y="2688336"/>
            <a:ext cx="2679192" cy="365760"/>
          </a:xfrm>
          <a:prstGeom prst="rect">
            <a:avLst/>
          </a:prstGeom>
          <a:noFill/>
          <a:ln/>
        </p:spPr>
        <p:txBody>
          <a:bodyPr wrap="square" lIns="0" tIns="0" rIns="0" bIns="0" rtlCol="0" anchor="ctr"/>
          <a:lstStyle/>
          <a:p>
            <a:pPr indent="0" marL="0">
              <a:buNone/>
            </a:pPr>
            <a:r>
              <a:rPr lang="en-US" sz="760" dirty="0">
                <a:solidFill>
                  <a:srgbClr val="000000"/>
                </a:solidFill>
                <a:latin typeface="Arial" pitchFamily="34" charset="0"/>
                <a:ea typeface="Arial" pitchFamily="34" charset="-122"/>
                <a:cs typeface="Arial" pitchFamily="34" charset="-120"/>
              </a:rPr>
              <a:t>Regions 3-4 and Q-com at scale</a:t>
            </a:r>
            <a:endParaRPr lang="en-US" sz="760" dirty="0"/>
          </a:p>
        </p:txBody>
      </p:sp>
      <p:sp>
        <p:nvSpPr>
          <p:cNvPr id="61" name="Text 56"/>
          <p:cNvSpPr txBox="1"/>
          <p:nvPr/>
        </p:nvSpPr>
        <p:spPr>
          <a:xfrm>
            <a:off x="8302752" y="3182112"/>
            <a:ext cx="3794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Real-world precedents (the case is fictional)</a:t>
            </a:r>
            <a:endParaRPr lang="en-US" sz="1100" dirty="0"/>
          </a:p>
        </p:txBody>
      </p:sp>
      <p:sp>
        <p:nvSpPr>
          <p:cNvPr id="62" name="Shape 57"/>
          <p:cNvSpPr/>
          <p:nvPr/>
        </p:nvSpPr>
        <p:spPr>
          <a:xfrm>
            <a:off x="8302752" y="3438144"/>
            <a:ext cx="3794760" cy="457200"/>
          </a:xfrm>
          <a:prstGeom prst="rect">
            <a:avLst/>
          </a:prstGeom>
          <a:solidFill>
            <a:srgbClr val="F2F2F2"/>
          </a:solidFill>
          <a:ln w="12700">
            <a:solidFill>
              <a:srgbClr val="D0D0CE"/>
            </a:solidFill>
            <a:prstDash val="solid"/>
          </a:ln>
        </p:spPr>
      </p:sp>
      <p:sp>
        <p:nvSpPr>
          <p:cNvPr id="63" name="Shape 58"/>
          <p:cNvSpPr/>
          <p:nvPr/>
        </p:nvSpPr>
        <p:spPr>
          <a:xfrm>
            <a:off x="8348472" y="3511296"/>
            <a:ext cx="310896" cy="310896"/>
          </a:xfrm>
          <a:prstGeom prst="ellipse">
            <a:avLst/>
          </a:prstGeom>
          <a:solidFill>
            <a:srgbClr val="C0392B"/>
          </a:solidFill>
          <a:ln w="12700">
            <a:solidFill>
              <a:srgbClr val="C0392B"/>
            </a:solidFill>
            <a:prstDash val="solid"/>
          </a:ln>
        </p:spPr>
      </p:sp>
      <p:pic>
        <p:nvPicPr>
          <p:cNvPr id="64" name="Image 0" descr="preencoded.png">    </p:cNvPr>
          <p:cNvPicPr>
            <a:picLocks noChangeAspect="1"/>
          </p:cNvPicPr>
          <p:nvPr/>
        </p:nvPicPr>
        <p:blipFill>
          <a:blip r:embed="rId2"/>
          <a:stretch>
            <a:fillRect/>
          </a:stretch>
        </p:blipFill>
        <p:spPr>
          <a:xfrm>
            <a:off x="8416869" y="3579693"/>
            <a:ext cx="174102" cy="174102"/>
          </a:xfrm>
          <a:prstGeom prst="rect">
            <a:avLst/>
          </a:prstGeom>
        </p:spPr>
      </p:pic>
      <p:sp>
        <p:nvSpPr>
          <p:cNvPr id="65" name="Text 59"/>
          <p:cNvSpPr txBox="1"/>
          <p:nvPr/>
        </p:nvSpPr>
        <p:spPr>
          <a:xfrm>
            <a:off x="8714232" y="3438144"/>
            <a:ext cx="3337560" cy="457200"/>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Rasna, snacks (2017)</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A concentrates brand's earlier diversifications failed to create much impact: do not stretch far</a:t>
            </a:r>
            <a:endParaRPr lang="en-US" sz="700" dirty="0"/>
          </a:p>
        </p:txBody>
      </p:sp>
      <p:sp>
        <p:nvSpPr>
          <p:cNvPr id="66" name="Shape 60"/>
          <p:cNvSpPr/>
          <p:nvPr/>
        </p:nvSpPr>
        <p:spPr>
          <a:xfrm>
            <a:off x="8302752" y="3941064"/>
            <a:ext cx="3794760" cy="457200"/>
          </a:xfrm>
          <a:prstGeom prst="rect">
            <a:avLst/>
          </a:prstGeom>
          <a:solidFill>
            <a:srgbClr val="F2F2F2"/>
          </a:solidFill>
          <a:ln w="12700">
            <a:solidFill>
              <a:srgbClr val="D0D0CE"/>
            </a:solidFill>
            <a:prstDash val="solid"/>
          </a:ln>
        </p:spPr>
      </p:sp>
      <p:sp>
        <p:nvSpPr>
          <p:cNvPr id="67" name="Shape 61"/>
          <p:cNvSpPr/>
          <p:nvPr/>
        </p:nvSpPr>
        <p:spPr>
          <a:xfrm>
            <a:off x="8348472" y="4014216"/>
            <a:ext cx="310896" cy="310896"/>
          </a:xfrm>
          <a:prstGeom prst="ellipse">
            <a:avLst/>
          </a:prstGeom>
          <a:solidFill>
            <a:srgbClr val="26890D"/>
          </a:solidFill>
          <a:ln w="12700">
            <a:solidFill>
              <a:srgbClr val="26890D"/>
            </a:solidFill>
            <a:prstDash val="solid"/>
          </a:ln>
        </p:spPr>
      </p:sp>
      <p:pic>
        <p:nvPicPr>
          <p:cNvPr id="68" name="Image 1" descr="preencoded.png">    </p:cNvPr>
          <p:cNvPicPr>
            <a:picLocks noChangeAspect="1"/>
          </p:cNvPicPr>
          <p:nvPr/>
        </p:nvPicPr>
        <p:blipFill>
          <a:blip r:embed="rId3"/>
          <a:stretch>
            <a:fillRect/>
          </a:stretch>
        </p:blipFill>
        <p:spPr>
          <a:xfrm>
            <a:off x="8416869" y="4082613"/>
            <a:ext cx="174102" cy="174102"/>
          </a:xfrm>
          <a:prstGeom prst="rect">
            <a:avLst/>
          </a:prstGeom>
        </p:spPr>
      </p:pic>
      <p:sp>
        <p:nvSpPr>
          <p:cNvPr id="69" name="Text 62"/>
          <p:cNvSpPr txBox="1"/>
          <p:nvPr/>
        </p:nvSpPr>
        <p:spPr>
          <a:xfrm>
            <a:off x="8714232" y="3941064"/>
            <a:ext cx="3337560" cy="457200"/>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Rasna Healthy Day (Dec 2022)</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Rs 10 single-serve millet soup aimed at winter: a concentrates brand can fill winter</a:t>
            </a:r>
            <a:endParaRPr lang="en-US" sz="700" dirty="0"/>
          </a:p>
        </p:txBody>
      </p:sp>
      <p:sp>
        <p:nvSpPr>
          <p:cNvPr id="70" name="Shape 63"/>
          <p:cNvSpPr/>
          <p:nvPr/>
        </p:nvSpPr>
        <p:spPr>
          <a:xfrm>
            <a:off x="8302752" y="4443984"/>
            <a:ext cx="3794760" cy="457200"/>
          </a:xfrm>
          <a:prstGeom prst="rect">
            <a:avLst/>
          </a:prstGeom>
          <a:solidFill>
            <a:srgbClr val="F2F2F2"/>
          </a:solidFill>
          <a:ln w="12700">
            <a:solidFill>
              <a:srgbClr val="D0D0CE"/>
            </a:solidFill>
            <a:prstDash val="solid"/>
          </a:ln>
        </p:spPr>
      </p:sp>
      <p:sp>
        <p:nvSpPr>
          <p:cNvPr id="71" name="Shape 64"/>
          <p:cNvSpPr/>
          <p:nvPr/>
        </p:nvSpPr>
        <p:spPr>
          <a:xfrm>
            <a:off x="8348472" y="4517136"/>
            <a:ext cx="310896" cy="310896"/>
          </a:xfrm>
          <a:prstGeom prst="ellipse">
            <a:avLst/>
          </a:prstGeom>
          <a:solidFill>
            <a:srgbClr val="26890D"/>
          </a:solidFill>
          <a:ln w="12700">
            <a:solidFill>
              <a:srgbClr val="26890D"/>
            </a:solidFill>
            <a:prstDash val="solid"/>
          </a:ln>
        </p:spPr>
      </p:sp>
      <p:pic>
        <p:nvPicPr>
          <p:cNvPr id="72" name="Image 2" descr="preencoded.png">    </p:cNvPr>
          <p:cNvPicPr>
            <a:picLocks noChangeAspect="1"/>
          </p:cNvPicPr>
          <p:nvPr/>
        </p:nvPicPr>
        <p:blipFill>
          <a:blip r:embed="rId4"/>
          <a:stretch>
            <a:fillRect/>
          </a:stretch>
        </p:blipFill>
        <p:spPr>
          <a:xfrm>
            <a:off x="8416869" y="4585533"/>
            <a:ext cx="174102" cy="174102"/>
          </a:xfrm>
          <a:prstGeom prst="rect">
            <a:avLst/>
          </a:prstGeom>
        </p:spPr>
      </p:pic>
      <p:sp>
        <p:nvSpPr>
          <p:cNvPr id="73" name="Text 65"/>
          <p:cNvSpPr txBox="1"/>
          <p:nvPr/>
        </p:nvSpPr>
        <p:spPr>
          <a:xfrm>
            <a:off x="8714232" y="4443984"/>
            <a:ext cx="3337560" cy="457200"/>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Paper Boat, chikki (2016)</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A drinks brand built one tight food range first</a:t>
            </a:r>
            <a:endParaRPr lang="en-US" sz="700" dirty="0"/>
          </a:p>
        </p:txBody>
      </p:sp>
      <p:sp>
        <p:nvSpPr>
          <p:cNvPr id="74" name="Shape 66"/>
          <p:cNvSpPr/>
          <p:nvPr/>
        </p:nvSpPr>
        <p:spPr>
          <a:xfrm>
            <a:off x="8302752" y="4946904"/>
            <a:ext cx="3794760" cy="457200"/>
          </a:xfrm>
          <a:prstGeom prst="rect">
            <a:avLst/>
          </a:prstGeom>
          <a:solidFill>
            <a:srgbClr val="F2F2F2"/>
          </a:solidFill>
          <a:ln w="12700">
            <a:solidFill>
              <a:srgbClr val="D0D0CE"/>
            </a:solidFill>
            <a:prstDash val="solid"/>
          </a:ln>
        </p:spPr>
      </p:sp>
      <p:sp>
        <p:nvSpPr>
          <p:cNvPr id="75" name="Shape 67"/>
          <p:cNvSpPr/>
          <p:nvPr/>
        </p:nvSpPr>
        <p:spPr>
          <a:xfrm>
            <a:off x="8348472" y="5020056"/>
            <a:ext cx="310896" cy="310896"/>
          </a:xfrm>
          <a:prstGeom prst="ellipse">
            <a:avLst/>
          </a:prstGeom>
          <a:solidFill>
            <a:srgbClr val="0097A9"/>
          </a:solidFill>
          <a:ln w="12700">
            <a:solidFill>
              <a:srgbClr val="0097A9"/>
            </a:solidFill>
            <a:prstDash val="solid"/>
          </a:ln>
        </p:spPr>
      </p:sp>
      <p:pic>
        <p:nvPicPr>
          <p:cNvPr id="76" name="Image 3" descr="preencoded.png">    </p:cNvPr>
          <p:cNvPicPr>
            <a:picLocks noChangeAspect="1"/>
          </p:cNvPicPr>
          <p:nvPr/>
        </p:nvPicPr>
        <p:blipFill>
          <a:blip r:embed="rId5"/>
          <a:stretch>
            <a:fillRect/>
          </a:stretch>
        </p:blipFill>
        <p:spPr>
          <a:xfrm>
            <a:off x="8416869" y="5088453"/>
            <a:ext cx="174102" cy="174102"/>
          </a:xfrm>
          <a:prstGeom prst="rect">
            <a:avLst/>
          </a:prstGeom>
        </p:spPr>
      </p:pic>
      <p:sp>
        <p:nvSpPr>
          <p:cNvPr id="77" name="Text 68"/>
          <p:cNvSpPr txBox="1"/>
          <p:nvPr/>
        </p:nvSpPr>
        <p:spPr>
          <a:xfrm>
            <a:off x="8714232" y="4946904"/>
            <a:ext cx="3337560" cy="457200"/>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Hamdard RoohAfza Fusion (2016)</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The sharbat brand travelled into drinks, not food</a:t>
            </a:r>
            <a:endParaRPr lang="en-US" sz="700" dirty="0"/>
          </a:p>
        </p:txBody>
      </p:sp>
      <p:sp>
        <p:nvSpPr>
          <p:cNvPr id="78" name="Shape 69"/>
          <p:cNvSpPr/>
          <p:nvPr/>
        </p:nvSpPr>
        <p:spPr>
          <a:xfrm>
            <a:off x="0" y="5961888"/>
            <a:ext cx="12191695" cy="530352"/>
          </a:xfrm>
          <a:prstGeom prst="rect">
            <a:avLst/>
          </a:prstGeom>
          <a:solidFill>
            <a:srgbClr val="86BC25"/>
          </a:solidFill>
          <a:ln w="12700">
            <a:solidFill>
              <a:srgbClr val="86BC25"/>
            </a:solidFill>
            <a:prstDash val="solid"/>
          </a:ln>
        </p:spPr>
      </p:sp>
      <p:sp>
        <p:nvSpPr>
          <p:cNvPr id="79" name="Text 70"/>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Premixes earn the right, spices bring the size: </a:t>
            </a:r>
            <a:pPr algn="ctr" indent="0" marL="0">
              <a:buNone/>
            </a:pPr>
            <a:r>
              <a:rPr lang="en-US" sz="1250" dirty="0">
                <a:solidFill>
                  <a:srgbClr val="000000"/>
                </a:solidFill>
                <a:latin typeface="Arial" pitchFamily="34" charset="0"/>
                <a:ea typeface="Arial" pitchFamily="34" charset="-122"/>
                <a:cs typeface="Arial" pitchFamily="34" charset="-120"/>
              </a:rPr>
              <a:t>two categories that pass every Board rule, launched one quarter apart, with RTC next in line.</a:t>
            </a:r>
            <a:endParaRPr lang="en-US" sz="1250" dirty="0"/>
          </a:p>
        </p:txBody>
      </p:sp>
      <p:sp>
        <p:nvSpPr>
          <p:cNvPr id="80" name="Text 71"/>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1, 4.1, 5, 6; team FGDs (pick-one question); team 8-criteria screen; Bain (Zook, 2004): 1 in 4 adjacency moves succeeds; Business Standard (2017); Indian Retailer (Dec 2022); Wikipedia: Paper Boat; Business Today (Sep 2016); Nagji &amp; Tuff, HBR (2012).</a:t>
            </a:r>
            <a:endParaRPr lang="en-US" sz="730" dirty="0"/>
          </a:p>
        </p:txBody>
      </p:sp>
      <p:sp>
        <p:nvSpPr>
          <p:cNvPr id="81" name="Text 72"/>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5. What to Launch: The Offer, the Packs and the Brand</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Eight packs and a low-sugar variant on one price ladder: a warm drink under the name consumers trust, and a masala that proves itself on purity</a:t>
            </a:r>
            <a:endParaRPr lang="en-US" sz="1250" dirty="0"/>
          </a:p>
        </p:txBody>
      </p:sp>
      <p:sp>
        <p:nvSpPr>
          <p:cNvPr id="6" name="Text 4"/>
          <p:cNvSpPr txBox="1"/>
          <p:nvPr/>
        </p:nvSpPr>
        <p:spPr>
          <a:xfrm>
            <a:off x="109728" y="749808"/>
            <a:ext cx="3794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Brand architecture</a:t>
            </a:r>
            <a:endParaRPr lang="en-US" sz="1100" dirty="0"/>
          </a:p>
        </p:txBody>
      </p:sp>
      <p:sp>
        <p:nvSpPr>
          <p:cNvPr id="7" name="Shape 5"/>
          <p:cNvSpPr/>
          <p:nvPr/>
        </p:nvSpPr>
        <p:spPr>
          <a:xfrm>
            <a:off x="914400" y="1005840"/>
            <a:ext cx="2194560" cy="457200"/>
          </a:xfrm>
          <a:prstGeom prst="roundRect">
            <a:avLst>
              <a:gd name="adj" fmla="val 12000"/>
            </a:avLst>
          </a:prstGeom>
          <a:solidFill>
            <a:srgbClr val="000000"/>
          </a:solidFill>
          <a:ln w="12700">
            <a:solidFill>
              <a:srgbClr val="000000"/>
            </a:solidFill>
            <a:prstDash val="solid"/>
          </a:ln>
        </p:spPr>
      </p:sp>
      <p:sp>
        <p:nvSpPr>
          <p:cNvPr id="8" name="Text 6"/>
          <p:cNvSpPr txBox="1"/>
          <p:nvPr/>
        </p:nvSpPr>
        <p:spPr>
          <a:xfrm>
            <a:off x="950976" y="1005840"/>
            <a:ext cx="2121408"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RASMITRA</a:t>
            </a:r>
            <a:endParaRPr lang="en-US" sz="800" dirty="0"/>
          </a:p>
          <a:p>
            <a:pPr algn="ctr" indent="0" marL="0">
              <a:buNone/>
            </a:pPr>
            <a:r>
              <a:rPr lang="en-US" sz="660" dirty="0">
                <a:solidFill>
                  <a:srgbClr val="FFFFFF"/>
                </a:solidFill>
                <a:latin typeface="Arial" pitchFamily="34" charset="0"/>
                <a:ea typeface="Arial" pitchFamily="34" charset="-122"/>
                <a:cs typeface="Arial" pitchFamily="34" charset="-120"/>
              </a:rPr>
              <a:t>Mother brand: concentrates, sharbat</a:t>
            </a:r>
            <a:endParaRPr lang="en-US" sz="800" dirty="0"/>
          </a:p>
        </p:txBody>
      </p:sp>
      <p:sp>
        <p:nvSpPr>
          <p:cNvPr id="9" name="Shape 7"/>
          <p:cNvSpPr/>
          <p:nvPr/>
        </p:nvSpPr>
        <p:spPr>
          <a:xfrm>
            <a:off x="2011680" y="1463040"/>
            <a:ext cx="0" cy="182880"/>
          </a:xfrm>
          <a:prstGeom prst="line">
            <a:avLst/>
          </a:prstGeom>
          <a:noFill/>
          <a:ln w="12700">
            <a:solidFill>
              <a:srgbClr val="53565A"/>
            </a:solidFill>
            <a:prstDash val="solid"/>
          </a:ln>
        </p:spPr>
      </p:sp>
      <p:sp>
        <p:nvSpPr>
          <p:cNvPr id="10" name="Shape 8"/>
          <p:cNvSpPr/>
          <p:nvPr/>
        </p:nvSpPr>
        <p:spPr>
          <a:xfrm>
            <a:off x="1051560" y="1645920"/>
            <a:ext cx="1920240" cy="0"/>
          </a:xfrm>
          <a:prstGeom prst="line">
            <a:avLst/>
          </a:prstGeom>
          <a:noFill/>
          <a:ln w="12700">
            <a:solidFill>
              <a:srgbClr val="53565A"/>
            </a:solidFill>
            <a:prstDash val="solid"/>
          </a:ln>
        </p:spPr>
      </p:sp>
      <p:sp>
        <p:nvSpPr>
          <p:cNvPr id="11" name="Shape 9"/>
          <p:cNvSpPr/>
          <p:nvPr/>
        </p:nvSpPr>
        <p:spPr>
          <a:xfrm>
            <a:off x="1051560" y="1645920"/>
            <a:ext cx="0" cy="137160"/>
          </a:xfrm>
          <a:prstGeom prst="line">
            <a:avLst/>
          </a:prstGeom>
          <a:noFill/>
          <a:ln w="12700">
            <a:solidFill>
              <a:srgbClr val="53565A"/>
            </a:solidFill>
            <a:prstDash val="solid"/>
          </a:ln>
        </p:spPr>
      </p:sp>
      <p:sp>
        <p:nvSpPr>
          <p:cNvPr id="12" name="Shape 10"/>
          <p:cNvSpPr/>
          <p:nvPr/>
        </p:nvSpPr>
        <p:spPr>
          <a:xfrm>
            <a:off x="2971800" y="1645920"/>
            <a:ext cx="0" cy="137160"/>
          </a:xfrm>
          <a:prstGeom prst="line">
            <a:avLst/>
          </a:prstGeom>
          <a:noFill/>
          <a:ln w="12700">
            <a:solidFill>
              <a:srgbClr val="53565A"/>
            </a:solidFill>
            <a:prstDash val="solid"/>
          </a:ln>
        </p:spPr>
      </p:sp>
      <p:sp>
        <p:nvSpPr>
          <p:cNvPr id="13" name="Shape 11"/>
          <p:cNvSpPr/>
          <p:nvPr/>
        </p:nvSpPr>
        <p:spPr>
          <a:xfrm>
            <a:off x="155448" y="1783080"/>
            <a:ext cx="1783080" cy="502920"/>
          </a:xfrm>
          <a:prstGeom prst="roundRect">
            <a:avLst>
              <a:gd name="adj" fmla="val 10909"/>
            </a:avLst>
          </a:prstGeom>
          <a:solidFill>
            <a:srgbClr val="046A38"/>
          </a:solidFill>
          <a:ln w="12700">
            <a:solidFill>
              <a:srgbClr val="046A38"/>
            </a:solidFill>
            <a:prstDash val="solid"/>
          </a:ln>
        </p:spPr>
      </p:sp>
      <p:sp>
        <p:nvSpPr>
          <p:cNvPr id="14" name="Text 12"/>
          <p:cNvSpPr txBox="1"/>
          <p:nvPr/>
        </p:nvSpPr>
        <p:spPr>
          <a:xfrm>
            <a:off x="192024" y="1783080"/>
            <a:ext cx="1709928"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Rasmitra Winter Warmers</a:t>
            </a:r>
            <a:endParaRPr lang="en-US" sz="800" dirty="0"/>
          </a:p>
          <a:p>
            <a:pPr algn="ctr" indent="0" marL="0">
              <a:buNone/>
            </a:pPr>
            <a:r>
              <a:rPr lang="en-US" sz="660" dirty="0">
                <a:solidFill>
                  <a:srgbClr val="FFFFFF"/>
                </a:solidFill>
                <a:latin typeface="Arial" pitchFamily="34" charset="0"/>
                <a:ea typeface="Arial" pitchFamily="34" charset="-122"/>
                <a:cs typeface="Arial" pitchFamily="34" charset="-120"/>
              </a:rPr>
              <a:t>Master-brand extension</a:t>
            </a:r>
            <a:endParaRPr lang="en-US" sz="800" dirty="0"/>
          </a:p>
        </p:txBody>
      </p:sp>
      <p:sp>
        <p:nvSpPr>
          <p:cNvPr id="15" name="Shape 13"/>
          <p:cNvSpPr/>
          <p:nvPr/>
        </p:nvSpPr>
        <p:spPr>
          <a:xfrm>
            <a:off x="2075688" y="1783080"/>
            <a:ext cx="1783080" cy="502920"/>
          </a:xfrm>
          <a:prstGeom prst="roundRect">
            <a:avLst>
              <a:gd name="adj" fmla="val 10909"/>
            </a:avLst>
          </a:prstGeom>
          <a:solidFill>
            <a:srgbClr val="0097A9"/>
          </a:solidFill>
          <a:ln w="12700">
            <a:solidFill>
              <a:srgbClr val="0097A9"/>
            </a:solidFill>
            <a:prstDash val="solid"/>
          </a:ln>
        </p:spPr>
      </p:sp>
      <p:sp>
        <p:nvSpPr>
          <p:cNvPr id="16" name="Text 14"/>
          <p:cNvSpPr txBox="1"/>
          <p:nvPr/>
        </p:nvSpPr>
        <p:spPr>
          <a:xfrm>
            <a:off x="2112264" y="1783080"/>
            <a:ext cx="1709928" cy="5029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Swaad by Rasmitra</a:t>
            </a:r>
            <a:endParaRPr lang="en-US" sz="800" dirty="0"/>
          </a:p>
          <a:p>
            <a:pPr algn="ctr" indent="0" marL="0">
              <a:buNone/>
            </a:pPr>
            <a:r>
              <a:rPr lang="en-US" sz="660" dirty="0">
                <a:solidFill>
                  <a:srgbClr val="FFFFFF"/>
                </a:solidFill>
                <a:latin typeface="Arial" pitchFamily="34" charset="0"/>
                <a:ea typeface="Arial" pitchFamily="34" charset="-122"/>
                <a:cs typeface="Arial" pitchFamily="34" charset="-120"/>
              </a:rPr>
              <a:t>Endorsed sub-brand</a:t>
            </a:r>
            <a:endParaRPr lang="en-US" sz="800" dirty="0"/>
          </a:p>
        </p:txBody>
      </p:sp>
      <p:sp>
        <p:nvSpPr>
          <p:cNvPr id="17" name="Shape 15"/>
          <p:cNvSpPr/>
          <p:nvPr/>
        </p:nvSpPr>
        <p:spPr>
          <a:xfrm>
            <a:off x="155448" y="2377440"/>
            <a:ext cx="1783080" cy="274320"/>
          </a:xfrm>
          <a:prstGeom prst="rect">
            <a:avLst/>
          </a:prstGeom>
          <a:solidFill>
            <a:srgbClr val="FFFFFF"/>
          </a:solidFill>
          <a:ln w="12700">
            <a:solidFill>
              <a:srgbClr val="046A38"/>
            </a:solidFill>
            <a:prstDash val="solid"/>
          </a:ln>
        </p:spPr>
      </p:sp>
      <p:sp>
        <p:nvSpPr>
          <p:cNvPr id="18" name="Text 16"/>
          <p:cNvSpPr txBox="1"/>
          <p:nvPr/>
        </p:nvSpPr>
        <p:spPr>
          <a:xfrm>
            <a:off x="155448" y="2377440"/>
            <a:ext cx="1783080" cy="27432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Ginger-lemon (regular, low-sugar)</a:t>
            </a:r>
            <a:endParaRPr lang="en-US" sz="700" dirty="0"/>
          </a:p>
        </p:txBody>
      </p:sp>
      <p:sp>
        <p:nvSpPr>
          <p:cNvPr id="19" name="Shape 17"/>
          <p:cNvSpPr/>
          <p:nvPr/>
        </p:nvSpPr>
        <p:spPr>
          <a:xfrm>
            <a:off x="155448" y="2697480"/>
            <a:ext cx="1783080" cy="274320"/>
          </a:xfrm>
          <a:prstGeom prst="rect">
            <a:avLst/>
          </a:prstGeom>
          <a:solidFill>
            <a:srgbClr val="FFFFFF"/>
          </a:solidFill>
          <a:ln w="12700">
            <a:solidFill>
              <a:srgbClr val="046A38"/>
            </a:solidFill>
            <a:prstDash val="solid"/>
          </a:ln>
        </p:spPr>
      </p:sp>
      <p:sp>
        <p:nvSpPr>
          <p:cNvPr id="20" name="Text 18"/>
          <p:cNvSpPr txBox="1"/>
          <p:nvPr/>
        </p:nvSpPr>
        <p:spPr>
          <a:xfrm>
            <a:off x="155448" y="2697480"/>
            <a:ext cx="1783080" cy="27432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Badam-elaichi milk mix</a:t>
            </a:r>
            <a:endParaRPr lang="en-US" sz="700" dirty="0"/>
          </a:p>
        </p:txBody>
      </p:sp>
      <p:sp>
        <p:nvSpPr>
          <p:cNvPr id="21" name="Shape 19"/>
          <p:cNvSpPr/>
          <p:nvPr/>
        </p:nvSpPr>
        <p:spPr>
          <a:xfrm>
            <a:off x="2075688" y="2377440"/>
            <a:ext cx="1783080" cy="274320"/>
          </a:xfrm>
          <a:prstGeom prst="rect">
            <a:avLst/>
          </a:prstGeom>
          <a:solidFill>
            <a:srgbClr val="FFFFFF"/>
          </a:solidFill>
          <a:ln w="12700">
            <a:solidFill>
              <a:srgbClr val="0097A9"/>
            </a:solidFill>
            <a:prstDash val="solid"/>
          </a:ln>
        </p:spPr>
      </p:sp>
      <p:sp>
        <p:nvSpPr>
          <p:cNvPr id="22" name="Text 20"/>
          <p:cNvSpPr txBox="1"/>
          <p:nvPr/>
        </p:nvSpPr>
        <p:spPr>
          <a:xfrm>
            <a:off x="2075688" y="2377440"/>
            <a:ext cx="1783080" cy="27432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Sabzi masala</a:t>
            </a:r>
            <a:endParaRPr lang="en-US" sz="700" dirty="0"/>
          </a:p>
        </p:txBody>
      </p:sp>
      <p:sp>
        <p:nvSpPr>
          <p:cNvPr id="23" name="Shape 21"/>
          <p:cNvSpPr/>
          <p:nvPr/>
        </p:nvSpPr>
        <p:spPr>
          <a:xfrm>
            <a:off x="2075688" y="2697480"/>
            <a:ext cx="1783080" cy="274320"/>
          </a:xfrm>
          <a:prstGeom prst="rect">
            <a:avLst/>
          </a:prstGeom>
          <a:solidFill>
            <a:srgbClr val="FFFFFF"/>
          </a:solidFill>
          <a:ln w="12700">
            <a:solidFill>
              <a:srgbClr val="0097A9"/>
            </a:solidFill>
            <a:prstDash val="solid"/>
          </a:ln>
        </p:spPr>
      </p:sp>
      <p:sp>
        <p:nvSpPr>
          <p:cNvPr id="24" name="Text 22"/>
          <p:cNvSpPr txBox="1"/>
          <p:nvPr/>
        </p:nvSpPr>
        <p:spPr>
          <a:xfrm>
            <a:off x="2075688" y="2697480"/>
            <a:ext cx="1783080" cy="27432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Garam masala</a:t>
            </a:r>
            <a:endParaRPr lang="en-US" sz="700" dirty="0"/>
          </a:p>
        </p:txBody>
      </p:sp>
      <p:sp>
        <p:nvSpPr>
          <p:cNvPr id="25" name="Shape 23"/>
          <p:cNvSpPr/>
          <p:nvPr/>
        </p:nvSpPr>
        <p:spPr>
          <a:xfrm>
            <a:off x="155448" y="3044952"/>
            <a:ext cx="3703320" cy="274320"/>
          </a:xfrm>
          <a:prstGeom prst="rect">
            <a:avLst/>
          </a:prstGeom>
          <a:solidFill>
            <a:srgbClr val="F2F2F2"/>
          </a:solidFill>
          <a:ln w="12700">
            <a:solidFill>
              <a:srgbClr val="D0D0CE"/>
            </a:solidFill>
            <a:prstDash val="solid"/>
          </a:ln>
        </p:spPr>
      </p:sp>
      <p:sp>
        <p:nvSpPr>
          <p:cNvPr id="26" name="Text 24"/>
          <p:cNvSpPr txBox="1"/>
          <p:nvPr/>
        </p:nvSpPr>
        <p:spPr>
          <a:xfrm>
            <a:off x="182880" y="3044952"/>
            <a:ext cx="3657600" cy="274320"/>
          </a:xfrm>
          <a:prstGeom prst="rect">
            <a:avLst/>
          </a:prstGeom>
          <a:noFill/>
          <a:ln/>
        </p:spPr>
        <p:txBody>
          <a:bodyPr wrap="square" lIns="0" tIns="0" rIns="0" bIns="0" rtlCol="0" anchor="ctr"/>
          <a:lstStyle/>
          <a:p>
            <a:pPr algn="ctr" indent="0" marL="0">
              <a:buNone/>
            </a:pPr>
            <a:r>
              <a:rPr lang="en-US" sz="680" i="1" dirty="0">
                <a:solidFill>
                  <a:srgbClr val="53565A"/>
                </a:solidFill>
                <a:latin typeface="Arial" pitchFamily="34" charset="0"/>
                <a:ea typeface="Arial" pitchFamily="34" charset="-122"/>
                <a:cs typeface="Arial" pitchFamily="34" charset="-120"/>
              </a:rPr>
              <a:t>Held at the FY23 gate: RTC mixes (FGD pick), then pickles; brand decided with concept-test data</a:t>
            </a:r>
            <a:endParaRPr lang="en-US" sz="680" dirty="0"/>
          </a:p>
        </p:txBody>
      </p:sp>
      <p:sp>
        <p:nvSpPr>
          <p:cNvPr id="27" name="Text 25"/>
          <p:cNvSpPr txBox="1"/>
          <p:nvPr/>
        </p:nvSpPr>
        <p:spPr>
          <a:xfrm>
            <a:off x="109728" y="3364992"/>
            <a:ext cx="3794760" cy="457200"/>
          </a:xfrm>
          <a:prstGeom prst="rect">
            <a:avLst/>
          </a:prstGeom>
          <a:noFill/>
          <a:ln/>
        </p:spPr>
        <p:txBody>
          <a:bodyPr wrap="square" lIns="0" tIns="0" rIns="0" bIns="0" rtlCol="0" anchor="ctr"/>
          <a:lstStyle/>
          <a:p>
            <a:pPr indent="0" marL="0">
              <a:buNone/>
            </a:pPr>
            <a:r>
              <a:rPr lang="en-US" sz="730" b="1" dirty="0">
                <a:solidFill>
                  <a:srgbClr val="000000"/>
                </a:solidFill>
                <a:latin typeface="Arial" pitchFamily="34" charset="0"/>
                <a:ea typeface="Arial" pitchFamily="34" charset="-122"/>
                <a:cs typeface="Arial" pitchFamily="34" charset="-120"/>
              </a:rPr>
              <a:t>Why two brands: </a:t>
            </a:r>
            <a:pPr indent="0" marL="0">
              <a:buNone/>
            </a:pPr>
            <a:r>
              <a:rPr lang="en-US" sz="730" dirty="0">
                <a:solidFill>
                  <a:srgbClr val="000000"/>
                </a:solidFill>
                <a:latin typeface="Arial" pitchFamily="34" charset="0"/>
                <a:ea typeface="Arial" pitchFamily="34" charset="-122"/>
                <a:cs typeface="Arial" pitchFamily="34" charset="-120"/>
              </a:rPr>
              <a:t>"If they've always made sharbat, why would I buy garam masala from them?" (FGD 1). Drinks keep the name; spices borrow trust but lead with 'Swaad'.</a:t>
            </a:r>
            <a:endParaRPr lang="en-US" sz="730" dirty="0"/>
          </a:p>
        </p:txBody>
      </p:sp>
      <p:sp>
        <p:nvSpPr>
          <p:cNvPr id="28" name="Text 26"/>
          <p:cNvSpPr txBox="1"/>
          <p:nvPr/>
        </p:nvSpPr>
        <p:spPr>
          <a:xfrm>
            <a:off x="109728" y="3840480"/>
            <a:ext cx="3794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Price-pack ladder: trial buys reach, regular packs carry profit</a:t>
            </a:r>
            <a:endParaRPr lang="en-US" sz="1100" dirty="0"/>
          </a:p>
        </p:txBody>
      </p:sp>
      <p:sp>
        <p:nvSpPr>
          <p:cNvPr id="29" name="Shape 27"/>
          <p:cNvSpPr/>
          <p:nvPr/>
        </p:nvSpPr>
        <p:spPr>
          <a:xfrm>
            <a:off x="109728" y="5394960"/>
            <a:ext cx="1216152" cy="502920"/>
          </a:xfrm>
          <a:prstGeom prst="rect">
            <a:avLst/>
          </a:prstGeom>
          <a:solidFill>
            <a:srgbClr val="86BC25"/>
          </a:solidFill>
          <a:ln w="12700">
            <a:solidFill>
              <a:srgbClr val="86BC25"/>
            </a:solidFill>
            <a:prstDash val="solid"/>
          </a:ln>
        </p:spPr>
      </p:sp>
      <p:sp>
        <p:nvSpPr>
          <p:cNvPr id="30" name="Text 28"/>
          <p:cNvSpPr txBox="1"/>
          <p:nvPr/>
        </p:nvSpPr>
        <p:spPr>
          <a:xfrm>
            <a:off x="137160" y="5394960"/>
            <a:ext cx="1161288"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Rs 10</a:t>
            </a:r>
            <a:endParaRPr lang="en-US" sz="1300" dirty="0"/>
          </a:p>
          <a:p>
            <a:pPr algn="ctr" indent="0" marL="0">
              <a:buNone/>
            </a:pPr>
            <a:r>
              <a:rPr lang="en-US" sz="680" dirty="0">
                <a:solidFill>
                  <a:srgbClr val="FFFFFF"/>
                </a:solidFill>
                <a:latin typeface="Arial" pitchFamily="34" charset="0"/>
                <a:ea typeface="Arial" pitchFamily="34" charset="-122"/>
                <a:cs typeface="Arial" pitchFamily="34" charset="-120"/>
              </a:rPr>
              <a:t>Trial sachet / pouch</a:t>
            </a:r>
            <a:endParaRPr lang="en-US" sz="1300" dirty="0"/>
          </a:p>
        </p:txBody>
      </p:sp>
      <p:sp>
        <p:nvSpPr>
          <p:cNvPr id="31" name="Text 29"/>
          <p:cNvSpPr txBox="1"/>
          <p:nvPr/>
        </p:nvSpPr>
        <p:spPr>
          <a:xfrm>
            <a:off x="109728" y="4919472"/>
            <a:ext cx="1216152" cy="457200"/>
          </a:xfrm>
          <a:prstGeom prst="rect">
            <a:avLst/>
          </a:prstGeom>
          <a:noFill/>
          <a:ln/>
        </p:spPr>
        <p:txBody>
          <a:bodyPr wrap="square" lIns="0" tIns="0" rIns="0" bIns="0" rtlCol="0" anchor="b"/>
          <a:lstStyle/>
          <a:p>
            <a:pPr algn="ctr" indent="0" marL="0">
              <a:buNone/>
            </a:pPr>
            <a:r>
              <a:rPr lang="en-US" sz="660" dirty="0">
                <a:solidFill>
                  <a:srgbClr val="53565A"/>
                </a:solidFill>
                <a:latin typeface="Arial" pitchFamily="34" charset="0"/>
                <a:ea typeface="Arial" pitchFamily="34" charset="-122"/>
                <a:cs typeface="Arial" pitchFamily="34" charset="-120"/>
              </a:rPr>
              <a:t>Reach: GT and campus only; 9-22% contribution</a:t>
            </a:r>
            <a:endParaRPr lang="en-US" sz="660" dirty="0"/>
          </a:p>
        </p:txBody>
      </p:sp>
      <p:sp>
        <p:nvSpPr>
          <p:cNvPr id="32" name="Shape 30"/>
          <p:cNvSpPr/>
          <p:nvPr/>
        </p:nvSpPr>
        <p:spPr>
          <a:xfrm>
            <a:off x="1380744" y="5029200"/>
            <a:ext cx="1216152" cy="868680"/>
          </a:xfrm>
          <a:prstGeom prst="rect">
            <a:avLst/>
          </a:prstGeom>
          <a:solidFill>
            <a:srgbClr val="26890D"/>
          </a:solidFill>
          <a:ln w="12700">
            <a:solidFill>
              <a:srgbClr val="26890D"/>
            </a:solidFill>
            <a:prstDash val="solid"/>
          </a:ln>
        </p:spPr>
      </p:sp>
      <p:sp>
        <p:nvSpPr>
          <p:cNvPr id="33" name="Text 31"/>
          <p:cNvSpPr txBox="1"/>
          <p:nvPr/>
        </p:nvSpPr>
        <p:spPr>
          <a:xfrm>
            <a:off x="1408176" y="5029200"/>
            <a:ext cx="1161288"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Rs 49</a:t>
            </a:r>
            <a:endParaRPr lang="en-US" sz="1300" dirty="0"/>
          </a:p>
          <a:p>
            <a:pPr algn="ctr" indent="0" marL="0">
              <a:buNone/>
            </a:pPr>
            <a:r>
              <a:rPr lang="en-US" sz="680" dirty="0">
                <a:solidFill>
                  <a:srgbClr val="FFFFFF"/>
                </a:solidFill>
                <a:latin typeface="Arial" pitchFamily="34" charset="0"/>
                <a:ea typeface="Arial" pitchFamily="34" charset="-122"/>
                <a:cs typeface="Arial" pitchFamily="34" charset="-120"/>
              </a:rPr>
              <a:t>Spices 50g pouch</a:t>
            </a:r>
            <a:endParaRPr lang="en-US" sz="1300" dirty="0"/>
          </a:p>
        </p:txBody>
      </p:sp>
      <p:sp>
        <p:nvSpPr>
          <p:cNvPr id="34" name="Text 32"/>
          <p:cNvSpPr txBox="1"/>
          <p:nvPr/>
        </p:nvSpPr>
        <p:spPr>
          <a:xfrm>
            <a:off x="1380744" y="4553712"/>
            <a:ext cx="1216152" cy="457200"/>
          </a:xfrm>
          <a:prstGeom prst="rect">
            <a:avLst/>
          </a:prstGeom>
          <a:noFill/>
          <a:ln/>
        </p:spPr>
        <p:txBody>
          <a:bodyPr wrap="square" lIns="0" tIns="0" rIns="0" bIns="0" rtlCol="0" anchor="b"/>
          <a:lstStyle/>
          <a:p>
            <a:pPr algn="ctr" indent="0" marL="0">
              <a:buNone/>
            </a:pPr>
            <a:r>
              <a:rPr lang="en-US" sz="660" dirty="0">
                <a:solidFill>
                  <a:srgbClr val="53565A"/>
                </a:solidFill>
                <a:latin typeface="Arial" pitchFamily="34" charset="0"/>
                <a:ea typeface="Arial" pitchFamily="34" charset="-122"/>
                <a:cs typeface="Arial" pitchFamily="34" charset="-120"/>
              </a:rPr>
              <a:t>Profit: 26.8-28.2% GT contribution</a:t>
            </a:r>
            <a:endParaRPr lang="en-US" sz="660" dirty="0"/>
          </a:p>
        </p:txBody>
      </p:sp>
      <p:sp>
        <p:nvSpPr>
          <p:cNvPr id="35" name="Shape 33"/>
          <p:cNvSpPr/>
          <p:nvPr/>
        </p:nvSpPr>
        <p:spPr>
          <a:xfrm>
            <a:off x="2651760" y="4663440"/>
            <a:ext cx="1216152" cy="1234440"/>
          </a:xfrm>
          <a:prstGeom prst="rect">
            <a:avLst/>
          </a:prstGeom>
          <a:solidFill>
            <a:srgbClr val="046A38"/>
          </a:solidFill>
          <a:ln w="12700">
            <a:solidFill>
              <a:srgbClr val="046A38"/>
            </a:solidFill>
            <a:prstDash val="solid"/>
          </a:ln>
        </p:spPr>
      </p:sp>
      <p:sp>
        <p:nvSpPr>
          <p:cNvPr id="36" name="Text 34"/>
          <p:cNvSpPr txBox="1"/>
          <p:nvPr/>
        </p:nvSpPr>
        <p:spPr>
          <a:xfrm>
            <a:off x="2679192" y="4663440"/>
            <a:ext cx="1161288"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Rs 99</a:t>
            </a:r>
            <a:endParaRPr lang="en-US" sz="1300" dirty="0"/>
          </a:p>
          <a:p>
            <a:pPr algn="ctr" indent="0" marL="0">
              <a:buNone/>
            </a:pPr>
            <a:r>
              <a:rPr lang="en-US" sz="680" dirty="0">
                <a:solidFill>
                  <a:srgbClr val="FFFFFF"/>
                </a:solidFill>
                <a:latin typeface="Arial" pitchFamily="34" charset="0"/>
                <a:ea typeface="Arial" pitchFamily="34" charset="-122"/>
                <a:cs typeface="Arial" pitchFamily="34" charset="-120"/>
              </a:rPr>
              <a:t>Premix 10-sachet / 150g</a:t>
            </a:r>
            <a:endParaRPr lang="en-US" sz="1300" dirty="0"/>
          </a:p>
        </p:txBody>
      </p:sp>
      <p:sp>
        <p:nvSpPr>
          <p:cNvPr id="37" name="Text 35"/>
          <p:cNvSpPr txBox="1"/>
          <p:nvPr/>
        </p:nvSpPr>
        <p:spPr>
          <a:xfrm>
            <a:off x="2651760" y="4187952"/>
            <a:ext cx="1216152" cy="457200"/>
          </a:xfrm>
          <a:prstGeom prst="rect">
            <a:avLst/>
          </a:prstGeom>
          <a:noFill/>
          <a:ln/>
        </p:spPr>
        <p:txBody>
          <a:bodyPr wrap="square" lIns="0" tIns="0" rIns="0" bIns="0" rtlCol="0" anchor="b"/>
          <a:lstStyle/>
          <a:p>
            <a:pPr algn="ctr" indent="0" marL="0">
              <a:buNone/>
            </a:pPr>
            <a:r>
              <a:rPr lang="en-US" sz="660" dirty="0">
                <a:solidFill>
                  <a:srgbClr val="53565A"/>
                </a:solidFill>
                <a:latin typeface="Arial" pitchFamily="34" charset="0"/>
                <a:ea typeface="Arial" pitchFamily="34" charset="-122"/>
                <a:cs typeface="Arial" pitchFamily="34" charset="-120"/>
              </a:rPr>
              <a:t>Profit: 30.9-32.9% GT contribution</a:t>
            </a:r>
            <a:endParaRPr lang="en-US" sz="660" dirty="0"/>
          </a:p>
        </p:txBody>
      </p:sp>
      <p:sp>
        <p:nvSpPr>
          <p:cNvPr id="38" name="Text 36"/>
          <p:cNvSpPr txBox="1"/>
          <p:nvPr/>
        </p:nvSpPr>
        <p:spPr>
          <a:xfrm>
            <a:off x="4041648" y="749808"/>
            <a:ext cx="80467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Concept packs, front of pack (backs carry FSSAI label, NABL batch test)</a:t>
            </a:r>
            <a:endParaRPr lang="en-US" sz="1100" dirty="0"/>
          </a:p>
        </p:txBody>
      </p:sp>
      <p:pic>
        <p:nvPicPr>
          <p:cNvPr id="39" name="Image 0" descr="preencoded.png">    </p:cNvPr>
          <p:cNvPicPr>
            <a:picLocks noChangeAspect="1"/>
          </p:cNvPicPr>
          <p:nvPr/>
        </p:nvPicPr>
        <p:blipFill>
          <a:blip r:embed="rId1"/>
          <a:stretch>
            <a:fillRect/>
          </a:stretch>
        </p:blipFill>
        <p:spPr>
          <a:xfrm>
            <a:off x="4178808" y="1005840"/>
            <a:ext cx="749808" cy="1051560"/>
          </a:xfrm>
          <a:prstGeom prst="rect">
            <a:avLst/>
          </a:prstGeom>
        </p:spPr>
      </p:pic>
      <p:sp>
        <p:nvSpPr>
          <p:cNvPr id="40" name="Text 37"/>
          <p:cNvSpPr txBox="1"/>
          <p:nvPr/>
        </p:nvSpPr>
        <p:spPr>
          <a:xfrm>
            <a:off x="4041648" y="2084832"/>
            <a:ext cx="1024128" cy="329184"/>
          </a:xfrm>
          <a:prstGeom prst="rect">
            <a:avLst/>
          </a:prstGeom>
          <a:noFill/>
          <a:ln/>
        </p:spPr>
        <p:txBody>
          <a:bodyPr wrap="square" lIns="0" tIns="0" rIns="0" bIns="0" rtlCol="0" anchor="t"/>
          <a:lstStyle/>
          <a:p>
            <a:pPr algn="ctr" indent="0" marL="0">
              <a:buNone/>
            </a:pPr>
            <a:r>
              <a:rPr lang="en-US" sz="680" b="1" dirty="0">
                <a:solidFill>
                  <a:srgbClr val="000000"/>
                </a:solidFill>
                <a:latin typeface="Arial" pitchFamily="34" charset="0"/>
                <a:ea typeface="Arial" pitchFamily="34" charset="-122"/>
                <a:cs typeface="Arial" pitchFamily="34" charset="-120"/>
              </a:rPr>
              <a:t>Ginger-Lemon 10 x 15 g</a:t>
            </a:r>
            <a:endParaRPr lang="en-US" sz="680" dirty="0"/>
          </a:p>
          <a:p>
            <a:pPr algn="ctr" indent="0" marL="0">
              <a:buNone/>
            </a:pPr>
            <a:r>
              <a:rPr lang="en-US" sz="680" b="1" dirty="0">
                <a:solidFill>
                  <a:srgbClr val="046A38"/>
                </a:solidFill>
                <a:latin typeface="Arial" pitchFamily="34" charset="0"/>
                <a:ea typeface="Arial" pitchFamily="34" charset="-122"/>
                <a:cs typeface="Arial" pitchFamily="34" charset="-120"/>
              </a:rPr>
              <a:t>Rs 99</a:t>
            </a:r>
            <a:endParaRPr lang="en-US" sz="680" dirty="0"/>
          </a:p>
        </p:txBody>
      </p:sp>
      <p:pic>
        <p:nvPicPr>
          <p:cNvPr id="41" name="Image 1" descr="preencoded.png">    </p:cNvPr>
          <p:cNvPicPr>
            <a:picLocks noChangeAspect="1"/>
          </p:cNvPicPr>
          <p:nvPr/>
        </p:nvPicPr>
        <p:blipFill>
          <a:blip r:embed="rId2"/>
          <a:stretch>
            <a:fillRect/>
          </a:stretch>
        </p:blipFill>
        <p:spPr>
          <a:xfrm>
            <a:off x="5257800" y="1005840"/>
            <a:ext cx="749808" cy="1051560"/>
          </a:xfrm>
          <a:prstGeom prst="rect">
            <a:avLst/>
          </a:prstGeom>
        </p:spPr>
      </p:pic>
      <p:sp>
        <p:nvSpPr>
          <p:cNvPr id="42" name="Text 38"/>
          <p:cNvSpPr txBox="1"/>
          <p:nvPr/>
        </p:nvSpPr>
        <p:spPr>
          <a:xfrm>
            <a:off x="5120640" y="2084832"/>
            <a:ext cx="1024128" cy="329184"/>
          </a:xfrm>
          <a:prstGeom prst="rect">
            <a:avLst/>
          </a:prstGeom>
          <a:noFill/>
          <a:ln/>
        </p:spPr>
        <p:txBody>
          <a:bodyPr wrap="square" lIns="0" tIns="0" rIns="0" bIns="0" rtlCol="0" anchor="t"/>
          <a:lstStyle/>
          <a:p>
            <a:pPr algn="ctr" indent="0" marL="0">
              <a:buNone/>
            </a:pPr>
            <a:r>
              <a:rPr lang="en-US" sz="680" b="1" dirty="0">
                <a:solidFill>
                  <a:srgbClr val="000000"/>
                </a:solidFill>
                <a:latin typeface="Arial" pitchFamily="34" charset="0"/>
                <a:ea typeface="Arial" pitchFamily="34" charset="-122"/>
                <a:cs typeface="Arial" pitchFamily="34" charset="-120"/>
              </a:rPr>
              <a:t>Ginger-Lemon sachet</a:t>
            </a:r>
            <a:endParaRPr lang="en-US" sz="680" dirty="0"/>
          </a:p>
          <a:p>
            <a:pPr algn="ctr" indent="0" marL="0">
              <a:buNone/>
            </a:pPr>
            <a:r>
              <a:rPr lang="en-US" sz="680" b="1" dirty="0">
                <a:solidFill>
                  <a:srgbClr val="046A38"/>
                </a:solidFill>
                <a:latin typeface="Arial" pitchFamily="34" charset="0"/>
                <a:ea typeface="Arial" pitchFamily="34" charset="-122"/>
                <a:cs typeface="Arial" pitchFamily="34" charset="-120"/>
              </a:rPr>
              <a:t>Rs 10</a:t>
            </a:r>
            <a:endParaRPr lang="en-US" sz="680" dirty="0"/>
          </a:p>
        </p:txBody>
      </p:sp>
      <p:pic>
        <p:nvPicPr>
          <p:cNvPr id="43" name="Image 2" descr="preencoded.png">    </p:cNvPr>
          <p:cNvPicPr>
            <a:picLocks noChangeAspect="1"/>
          </p:cNvPicPr>
          <p:nvPr/>
        </p:nvPicPr>
        <p:blipFill>
          <a:blip r:embed="rId3"/>
          <a:stretch>
            <a:fillRect/>
          </a:stretch>
        </p:blipFill>
        <p:spPr>
          <a:xfrm>
            <a:off x="6336792" y="1005840"/>
            <a:ext cx="749808" cy="1051560"/>
          </a:xfrm>
          <a:prstGeom prst="rect">
            <a:avLst/>
          </a:prstGeom>
        </p:spPr>
      </p:pic>
      <p:sp>
        <p:nvSpPr>
          <p:cNvPr id="44" name="Text 39"/>
          <p:cNvSpPr txBox="1"/>
          <p:nvPr/>
        </p:nvSpPr>
        <p:spPr>
          <a:xfrm>
            <a:off x="6199632" y="2084832"/>
            <a:ext cx="1024128" cy="329184"/>
          </a:xfrm>
          <a:prstGeom prst="rect">
            <a:avLst/>
          </a:prstGeom>
          <a:noFill/>
          <a:ln/>
        </p:spPr>
        <p:txBody>
          <a:bodyPr wrap="square" lIns="0" tIns="0" rIns="0" bIns="0" rtlCol="0" anchor="t"/>
          <a:lstStyle/>
          <a:p>
            <a:pPr algn="ctr" indent="0" marL="0">
              <a:buNone/>
            </a:pPr>
            <a:r>
              <a:rPr lang="en-US" sz="680" b="1" dirty="0">
                <a:solidFill>
                  <a:srgbClr val="000000"/>
                </a:solidFill>
                <a:latin typeface="Arial" pitchFamily="34" charset="0"/>
                <a:ea typeface="Arial" pitchFamily="34" charset="-122"/>
                <a:cs typeface="Arial" pitchFamily="34" charset="-120"/>
              </a:rPr>
              <a:t>Badam-Elaichi 150 g</a:t>
            </a:r>
            <a:endParaRPr lang="en-US" sz="680" dirty="0"/>
          </a:p>
          <a:p>
            <a:pPr algn="ctr" indent="0" marL="0">
              <a:buNone/>
            </a:pPr>
            <a:r>
              <a:rPr lang="en-US" sz="680" b="1" dirty="0">
                <a:solidFill>
                  <a:srgbClr val="046A38"/>
                </a:solidFill>
                <a:latin typeface="Arial" pitchFamily="34" charset="0"/>
                <a:ea typeface="Arial" pitchFamily="34" charset="-122"/>
                <a:cs typeface="Arial" pitchFamily="34" charset="-120"/>
              </a:rPr>
              <a:t>Rs 99</a:t>
            </a:r>
            <a:endParaRPr lang="en-US" sz="680" dirty="0"/>
          </a:p>
        </p:txBody>
      </p:sp>
      <p:pic>
        <p:nvPicPr>
          <p:cNvPr id="45" name="Image 3" descr="preencoded.png">    </p:cNvPr>
          <p:cNvPicPr>
            <a:picLocks noChangeAspect="1"/>
          </p:cNvPicPr>
          <p:nvPr/>
        </p:nvPicPr>
        <p:blipFill>
          <a:blip r:embed="rId4"/>
          <a:stretch>
            <a:fillRect/>
          </a:stretch>
        </p:blipFill>
        <p:spPr>
          <a:xfrm>
            <a:off x="7415784" y="1005840"/>
            <a:ext cx="749808" cy="1051560"/>
          </a:xfrm>
          <a:prstGeom prst="rect">
            <a:avLst/>
          </a:prstGeom>
        </p:spPr>
      </p:pic>
      <p:sp>
        <p:nvSpPr>
          <p:cNvPr id="46" name="Text 40"/>
          <p:cNvSpPr txBox="1"/>
          <p:nvPr/>
        </p:nvSpPr>
        <p:spPr>
          <a:xfrm>
            <a:off x="7278624" y="2084832"/>
            <a:ext cx="1024128" cy="329184"/>
          </a:xfrm>
          <a:prstGeom prst="rect">
            <a:avLst/>
          </a:prstGeom>
          <a:noFill/>
          <a:ln/>
        </p:spPr>
        <p:txBody>
          <a:bodyPr wrap="square" lIns="0" tIns="0" rIns="0" bIns="0" rtlCol="0" anchor="t"/>
          <a:lstStyle/>
          <a:p>
            <a:pPr algn="ctr" indent="0" marL="0">
              <a:buNone/>
            </a:pPr>
            <a:r>
              <a:rPr lang="en-US" sz="680" b="1" dirty="0">
                <a:solidFill>
                  <a:srgbClr val="000000"/>
                </a:solidFill>
                <a:latin typeface="Arial" pitchFamily="34" charset="0"/>
                <a:ea typeface="Arial" pitchFamily="34" charset="-122"/>
                <a:cs typeface="Arial" pitchFamily="34" charset="-120"/>
              </a:rPr>
              <a:t>Sabzi Masala 50 g</a:t>
            </a:r>
            <a:endParaRPr lang="en-US" sz="680" dirty="0"/>
          </a:p>
          <a:p>
            <a:pPr algn="ctr" indent="0" marL="0">
              <a:buNone/>
            </a:pPr>
            <a:r>
              <a:rPr lang="en-US" sz="680" b="1" dirty="0">
                <a:solidFill>
                  <a:srgbClr val="046A38"/>
                </a:solidFill>
                <a:latin typeface="Arial" pitchFamily="34" charset="0"/>
                <a:ea typeface="Arial" pitchFamily="34" charset="-122"/>
                <a:cs typeface="Arial" pitchFamily="34" charset="-120"/>
              </a:rPr>
              <a:t>Rs 49</a:t>
            </a:r>
            <a:endParaRPr lang="en-US" sz="680" dirty="0"/>
          </a:p>
        </p:txBody>
      </p:sp>
      <p:pic>
        <p:nvPicPr>
          <p:cNvPr id="47" name="Image 4" descr="preencoded.png">    </p:cNvPr>
          <p:cNvPicPr>
            <a:picLocks noChangeAspect="1"/>
          </p:cNvPicPr>
          <p:nvPr/>
        </p:nvPicPr>
        <p:blipFill>
          <a:blip r:embed="rId5"/>
          <a:stretch>
            <a:fillRect/>
          </a:stretch>
        </p:blipFill>
        <p:spPr>
          <a:xfrm>
            <a:off x="8494776" y="1005840"/>
            <a:ext cx="749808" cy="1051560"/>
          </a:xfrm>
          <a:prstGeom prst="rect">
            <a:avLst/>
          </a:prstGeom>
        </p:spPr>
      </p:pic>
      <p:sp>
        <p:nvSpPr>
          <p:cNvPr id="48" name="Text 41"/>
          <p:cNvSpPr txBox="1"/>
          <p:nvPr/>
        </p:nvSpPr>
        <p:spPr>
          <a:xfrm>
            <a:off x="8357616" y="2084832"/>
            <a:ext cx="1024128" cy="329184"/>
          </a:xfrm>
          <a:prstGeom prst="rect">
            <a:avLst/>
          </a:prstGeom>
          <a:noFill/>
          <a:ln/>
        </p:spPr>
        <p:txBody>
          <a:bodyPr wrap="square" lIns="0" tIns="0" rIns="0" bIns="0" rtlCol="0" anchor="t"/>
          <a:lstStyle/>
          <a:p>
            <a:pPr algn="ctr" indent="0" marL="0">
              <a:buNone/>
            </a:pPr>
            <a:r>
              <a:rPr lang="en-US" sz="680" b="1" dirty="0">
                <a:solidFill>
                  <a:srgbClr val="000000"/>
                </a:solidFill>
                <a:latin typeface="Arial" pitchFamily="34" charset="0"/>
                <a:ea typeface="Arial" pitchFamily="34" charset="-122"/>
                <a:cs typeface="Arial" pitchFamily="34" charset="-120"/>
              </a:rPr>
              <a:t>Garam Masala 50 g</a:t>
            </a:r>
            <a:endParaRPr lang="en-US" sz="680" dirty="0"/>
          </a:p>
          <a:p>
            <a:pPr algn="ctr" indent="0" marL="0">
              <a:buNone/>
            </a:pPr>
            <a:r>
              <a:rPr lang="en-US" sz="680" b="1" dirty="0">
                <a:solidFill>
                  <a:srgbClr val="046A38"/>
                </a:solidFill>
                <a:latin typeface="Arial" pitchFamily="34" charset="0"/>
                <a:ea typeface="Arial" pitchFamily="34" charset="-122"/>
                <a:cs typeface="Arial" pitchFamily="34" charset="-120"/>
              </a:rPr>
              <a:t>Rs 49</a:t>
            </a:r>
            <a:endParaRPr lang="en-US" sz="680" dirty="0"/>
          </a:p>
        </p:txBody>
      </p:sp>
      <p:sp>
        <p:nvSpPr>
          <p:cNvPr id="49" name="Text 42"/>
          <p:cNvSpPr txBox="1"/>
          <p:nvPr/>
        </p:nvSpPr>
        <p:spPr>
          <a:xfrm>
            <a:off x="9509760" y="749808"/>
            <a:ext cx="26060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Design choices on pack</a:t>
            </a:r>
            <a:endParaRPr lang="en-US" sz="1100" dirty="0"/>
          </a:p>
        </p:txBody>
      </p:sp>
      <p:sp>
        <p:nvSpPr>
          <p:cNvPr id="50" name="Shape 43"/>
          <p:cNvSpPr/>
          <p:nvPr/>
        </p:nvSpPr>
        <p:spPr>
          <a:xfrm>
            <a:off x="9509760" y="1024128"/>
            <a:ext cx="292608" cy="292608"/>
          </a:xfrm>
          <a:prstGeom prst="ellipse">
            <a:avLst/>
          </a:prstGeom>
          <a:solidFill>
            <a:srgbClr val="046A38"/>
          </a:solidFill>
          <a:ln w="12700">
            <a:solidFill>
              <a:srgbClr val="046A38"/>
            </a:solidFill>
            <a:prstDash val="solid"/>
          </a:ln>
        </p:spPr>
      </p:sp>
      <p:pic>
        <p:nvPicPr>
          <p:cNvPr id="51" name="Image 5" descr="preencoded.png">    </p:cNvPr>
          <p:cNvPicPr>
            <a:picLocks noChangeAspect="1"/>
          </p:cNvPicPr>
          <p:nvPr/>
        </p:nvPicPr>
        <p:blipFill>
          <a:blip r:embed="rId6"/>
          <a:stretch>
            <a:fillRect/>
          </a:stretch>
        </p:blipFill>
        <p:spPr>
          <a:xfrm>
            <a:off x="9574134" y="1088502"/>
            <a:ext cx="163860" cy="163860"/>
          </a:xfrm>
          <a:prstGeom prst="rect">
            <a:avLst/>
          </a:prstGeom>
        </p:spPr>
      </p:pic>
      <p:sp>
        <p:nvSpPr>
          <p:cNvPr id="52" name="Text 44"/>
          <p:cNvSpPr txBox="1"/>
          <p:nvPr/>
        </p:nvSpPr>
        <p:spPr>
          <a:xfrm>
            <a:off x="9857232" y="1005840"/>
            <a:ext cx="2258568" cy="338328"/>
          </a:xfrm>
          <a:prstGeom prst="rect">
            <a:avLst/>
          </a:prstGeom>
          <a:noFill/>
          <a:ln/>
        </p:spPr>
        <p:txBody>
          <a:bodyPr wrap="square" lIns="0" tIns="0" rIns="0" bIns="0" rtlCol="0" anchor="ctr"/>
          <a:lstStyle/>
          <a:p>
            <a:pPr indent="0" marL="0">
              <a:buNone/>
            </a:pPr>
            <a:r>
              <a:rPr lang="en-US" sz="670" b="1" dirty="0">
                <a:solidFill>
                  <a:srgbClr val="000000"/>
                </a:solidFill>
                <a:latin typeface="Arial" pitchFamily="34" charset="0"/>
                <a:ea typeface="Arial" pitchFamily="34" charset="-122"/>
                <a:cs typeface="Arial" pitchFamily="34" charset="-120"/>
              </a:rPr>
              <a:t>Mother brand on winter drinks</a:t>
            </a:r>
            <a:endParaRPr lang="en-US" sz="670" dirty="0"/>
          </a:p>
          <a:p>
            <a:pPr indent="0" marL="0">
              <a:buNone/>
            </a:pPr>
            <a:r>
              <a:rPr lang="en-US" sz="670" dirty="0">
                <a:solidFill>
                  <a:srgbClr val="53565A"/>
                </a:solidFill>
                <a:latin typeface="Arial" pitchFamily="34" charset="0"/>
                <a:ea typeface="Arial" pitchFamily="34" charset="-122"/>
                <a:cs typeface="Arial" pitchFamily="34" charset="-120"/>
              </a:rPr>
              <a:t>FGDs trust the name for a warm drink</a:t>
            </a:r>
            <a:endParaRPr lang="en-US" sz="670" dirty="0"/>
          </a:p>
        </p:txBody>
      </p:sp>
      <p:sp>
        <p:nvSpPr>
          <p:cNvPr id="53" name="Shape 45"/>
          <p:cNvSpPr/>
          <p:nvPr/>
        </p:nvSpPr>
        <p:spPr>
          <a:xfrm>
            <a:off x="9509760" y="1380744"/>
            <a:ext cx="292608" cy="292608"/>
          </a:xfrm>
          <a:prstGeom prst="ellipse">
            <a:avLst/>
          </a:prstGeom>
          <a:solidFill>
            <a:srgbClr val="0097A9"/>
          </a:solidFill>
          <a:ln w="12700">
            <a:solidFill>
              <a:srgbClr val="0097A9"/>
            </a:solidFill>
            <a:prstDash val="solid"/>
          </a:ln>
        </p:spPr>
      </p:sp>
      <p:pic>
        <p:nvPicPr>
          <p:cNvPr id="54" name="Image 6" descr="preencoded.png">    </p:cNvPr>
          <p:cNvPicPr>
            <a:picLocks noChangeAspect="1"/>
          </p:cNvPicPr>
          <p:nvPr/>
        </p:nvPicPr>
        <p:blipFill>
          <a:blip r:embed="rId7"/>
          <a:stretch>
            <a:fillRect/>
          </a:stretch>
        </p:blipFill>
        <p:spPr>
          <a:xfrm>
            <a:off x="9574134" y="1445118"/>
            <a:ext cx="163860" cy="163860"/>
          </a:xfrm>
          <a:prstGeom prst="rect">
            <a:avLst/>
          </a:prstGeom>
        </p:spPr>
      </p:pic>
      <p:sp>
        <p:nvSpPr>
          <p:cNvPr id="55" name="Text 46"/>
          <p:cNvSpPr txBox="1"/>
          <p:nvPr/>
        </p:nvSpPr>
        <p:spPr>
          <a:xfrm>
            <a:off x="9857232" y="1362456"/>
            <a:ext cx="2258568" cy="338328"/>
          </a:xfrm>
          <a:prstGeom prst="rect">
            <a:avLst/>
          </a:prstGeom>
          <a:noFill/>
          <a:ln/>
        </p:spPr>
        <p:txBody>
          <a:bodyPr wrap="square" lIns="0" tIns="0" rIns="0" bIns="0" rtlCol="0" anchor="ctr"/>
          <a:lstStyle/>
          <a:p>
            <a:pPr indent="0" marL="0">
              <a:buNone/>
            </a:pPr>
            <a:r>
              <a:rPr lang="en-US" sz="670" b="1" dirty="0">
                <a:solidFill>
                  <a:srgbClr val="000000"/>
                </a:solidFill>
                <a:latin typeface="Arial" pitchFamily="34" charset="0"/>
                <a:ea typeface="Arial" pitchFamily="34" charset="-122"/>
                <a:cs typeface="Arial" pitchFamily="34" charset="-120"/>
              </a:rPr>
              <a:t>Sub-brand leads on spices</a:t>
            </a:r>
            <a:endParaRPr lang="en-US" sz="670" dirty="0"/>
          </a:p>
          <a:p>
            <a:pPr indent="0" marL="0">
              <a:buNone/>
            </a:pPr>
            <a:r>
              <a:rPr lang="en-US" sz="670" dirty="0">
                <a:solidFill>
                  <a:srgbClr val="53565A"/>
                </a:solidFill>
                <a:latin typeface="Arial" pitchFamily="34" charset="0"/>
                <a:ea typeface="Arial" pitchFamily="34" charset="-122"/>
                <a:cs typeface="Arial" pitchFamily="34" charset="-120"/>
              </a:rPr>
              <a:t>'Swaad' large; 'by Rasmitra' small</a:t>
            </a:r>
            <a:endParaRPr lang="en-US" sz="670" dirty="0"/>
          </a:p>
        </p:txBody>
      </p:sp>
      <p:sp>
        <p:nvSpPr>
          <p:cNvPr id="56" name="Shape 47"/>
          <p:cNvSpPr/>
          <p:nvPr/>
        </p:nvSpPr>
        <p:spPr>
          <a:xfrm>
            <a:off x="9509760" y="1737360"/>
            <a:ext cx="292608" cy="292608"/>
          </a:xfrm>
          <a:prstGeom prst="ellipse">
            <a:avLst/>
          </a:prstGeom>
          <a:solidFill>
            <a:srgbClr val="26890D"/>
          </a:solidFill>
          <a:ln w="12700">
            <a:solidFill>
              <a:srgbClr val="26890D"/>
            </a:solidFill>
            <a:prstDash val="solid"/>
          </a:ln>
        </p:spPr>
      </p:sp>
      <p:pic>
        <p:nvPicPr>
          <p:cNvPr id="57" name="Image 7" descr="preencoded.png">    </p:cNvPr>
          <p:cNvPicPr>
            <a:picLocks noChangeAspect="1"/>
          </p:cNvPicPr>
          <p:nvPr/>
        </p:nvPicPr>
        <p:blipFill>
          <a:blip r:embed="rId8"/>
          <a:stretch>
            <a:fillRect/>
          </a:stretch>
        </p:blipFill>
        <p:spPr>
          <a:xfrm>
            <a:off x="9574134" y="1801734"/>
            <a:ext cx="163860" cy="163860"/>
          </a:xfrm>
          <a:prstGeom prst="rect">
            <a:avLst/>
          </a:prstGeom>
        </p:spPr>
      </p:pic>
      <p:sp>
        <p:nvSpPr>
          <p:cNvPr id="58" name="Text 48"/>
          <p:cNvSpPr txBox="1"/>
          <p:nvPr/>
        </p:nvSpPr>
        <p:spPr>
          <a:xfrm>
            <a:off x="9857232" y="1719072"/>
            <a:ext cx="2258568" cy="338328"/>
          </a:xfrm>
          <a:prstGeom prst="rect">
            <a:avLst/>
          </a:prstGeom>
          <a:noFill/>
          <a:ln/>
        </p:spPr>
        <p:txBody>
          <a:bodyPr wrap="square" lIns="0" tIns="0" rIns="0" bIns="0" rtlCol="0" anchor="ctr"/>
          <a:lstStyle/>
          <a:p>
            <a:pPr indent="0" marL="0">
              <a:buNone/>
            </a:pPr>
            <a:r>
              <a:rPr lang="en-US" sz="670" b="1" dirty="0">
                <a:solidFill>
                  <a:srgbClr val="000000"/>
                </a:solidFill>
                <a:latin typeface="Arial" pitchFamily="34" charset="0"/>
                <a:ea typeface="Arial" pitchFamily="34" charset="-122"/>
                <a:cs typeface="Arial" pitchFamily="34" charset="-120"/>
              </a:rPr>
              <a:t>Purity on the back</a:t>
            </a:r>
            <a:endParaRPr lang="en-US" sz="670" dirty="0"/>
          </a:p>
          <a:p>
            <a:pPr indent="0" marL="0">
              <a:buNone/>
            </a:pPr>
            <a:r>
              <a:rPr lang="en-US" sz="670" dirty="0">
                <a:solidFill>
                  <a:srgbClr val="53565A"/>
                </a:solidFill>
                <a:latin typeface="Arial" pitchFamily="34" charset="0"/>
                <a:ea typeface="Arial" pitchFamily="34" charset="-122"/>
                <a:cs typeface="Arial" pitchFamily="34" charset="-120"/>
              </a:rPr>
              <a:t>NABL tests for pesticide and ethylene oxide</a:t>
            </a:r>
            <a:endParaRPr lang="en-US" sz="670" dirty="0"/>
          </a:p>
        </p:txBody>
      </p:sp>
      <p:sp>
        <p:nvSpPr>
          <p:cNvPr id="59" name="Shape 49"/>
          <p:cNvSpPr/>
          <p:nvPr/>
        </p:nvSpPr>
        <p:spPr>
          <a:xfrm>
            <a:off x="9509760" y="2093976"/>
            <a:ext cx="292608" cy="292608"/>
          </a:xfrm>
          <a:prstGeom prst="ellipse">
            <a:avLst/>
          </a:prstGeom>
          <a:solidFill>
            <a:srgbClr val="86BC25"/>
          </a:solidFill>
          <a:ln w="12700">
            <a:solidFill>
              <a:srgbClr val="86BC25"/>
            </a:solidFill>
            <a:prstDash val="solid"/>
          </a:ln>
        </p:spPr>
      </p:sp>
      <p:pic>
        <p:nvPicPr>
          <p:cNvPr id="60" name="Image 8" descr="preencoded.png">    </p:cNvPr>
          <p:cNvPicPr>
            <a:picLocks noChangeAspect="1"/>
          </p:cNvPicPr>
          <p:nvPr/>
        </p:nvPicPr>
        <p:blipFill>
          <a:blip r:embed="rId9"/>
          <a:stretch>
            <a:fillRect/>
          </a:stretch>
        </p:blipFill>
        <p:spPr>
          <a:xfrm>
            <a:off x="9574134" y="2158350"/>
            <a:ext cx="163860" cy="163860"/>
          </a:xfrm>
          <a:prstGeom prst="rect">
            <a:avLst/>
          </a:prstGeom>
        </p:spPr>
      </p:pic>
      <p:sp>
        <p:nvSpPr>
          <p:cNvPr id="61" name="Text 50"/>
          <p:cNvSpPr txBox="1"/>
          <p:nvPr/>
        </p:nvSpPr>
        <p:spPr>
          <a:xfrm>
            <a:off x="9857232" y="2075688"/>
            <a:ext cx="2258568" cy="338328"/>
          </a:xfrm>
          <a:prstGeom prst="rect">
            <a:avLst/>
          </a:prstGeom>
          <a:noFill/>
          <a:ln/>
        </p:spPr>
        <p:txBody>
          <a:bodyPr wrap="square" lIns="0" tIns="0" rIns="0" bIns="0" rtlCol="0" anchor="ctr"/>
          <a:lstStyle/>
          <a:p>
            <a:pPr indent="0" marL="0">
              <a:buNone/>
            </a:pPr>
            <a:r>
              <a:rPr lang="en-US" sz="670" b="1" dirty="0">
                <a:solidFill>
                  <a:srgbClr val="000000"/>
                </a:solidFill>
                <a:latin typeface="Arial" pitchFamily="34" charset="0"/>
                <a:ea typeface="Arial" pitchFamily="34" charset="-122"/>
                <a:cs typeface="Arial" pitchFamily="34" charset="-120"/>
              </a:rPr>
              <a:t>Low-sugar variant</a:t>
            </a:r>
            <a:endParaRPr lang="en-US" sz="670" dirty="0"/>
          </a:p>
          <a:p>
            <a:pPr indent="0" marL="0">
              <a:buNone/>
            </a:pPr>
            <a:r>
              <a:rPr lang="en-US" sz="670" dirty="0">
                <a:solidFill>
                  <a:srgbClr val="53565A"/>
                </a:solidFill>
                <a:latin typeface="Arial" pitchFamily="34" charset="0"/>
                <a:ea typeface="Arial" pitchFamily="34" charset="-122"/>
                <a:cs typeface="Arial" pitchFamily="34" charset="-120"/>
              </a:rPr>
              <a:t>"Usually too sweet" (FGD 1); 78% pay for healthy F&amp;B</a:t>
            </a:r>
            <a:endParaRPr lang="en-US" sz="670" dirty="0"/>
          </a:p>
        </p:txBody>
      </p:sp>
      <p:sp>
        <p:nvSpPr>
          <p:cNvPr id="62" name="Text 51"/>
          <p:cNvSpPr txBox="1"/>
          <p:nvPr/>
        </p:nvSpPr>
        <p:spPr>
          <a:xfrm>
            <a:off x="4041648" y="2468880"/>
            <a:ext cx="80467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The offer, category by category</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41648" y="2724912"/>
          <a:ext cx="5257800" cy="914400"/>
        </p:xfrm>
        <a:graphic>
          <a:graphicData uri="http://schemas.openxmlformats.org/drawingml/2006/table">
            <a:tbl>
              <a:tblPr/>
              <a:tblGrid>
                <a:gridCol w="960120"/>
                <a:gridCol w="2148840"/>
                <a:gridCol w="2148840"/>
              </a:tblGrid>
              <a:tr h="274320">
                <a:tc>
                  <a:txBody>
                    <a:bodyPr/>
                    <a:lstStyle/>
                    <a:p>
                      <a:pPr indent="0" marL="0">
                        <a:buNone/>
                      </a:pP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Winter premixes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Spices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Products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Ginger-lemon hot drink (regular and low-sugar); badam-elaichi milk mix</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Everyday sabzi masala; garam masala</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Packs / MRP</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Rs 10 single sachet; Rs 99 10-sachet pack; Rs 99 150g pouch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Rs 10 trial (8g / 5g); Rs 49 50g pouch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Positioning</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The family's warm drink, from the sharbat they trust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Everyday masala you can trust; lab-tested every batch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Who buys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Office-goers, students, PG residents; homemakers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Homemakers; value buyers at the kirana (Rs 10-49)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Make / buy</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b="1" dirty="0">
                          <a:solidFill>
                            <a:srgbClr val="046A38"/>
                          </a:solidFill>
                          <a:latin typeface="Arial" pitchFamily="34" charset="0"/>
                          <a:ea typeface="Arial" pitchFamily="34" charset="-122"/>
                          <a:cs typeface="Arial" pitchFamily="34" charset="-120"/>
                        </a:rPr>
                        <a:t>MAKE on idle Q3 powder lines, after a line trial at gate 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b="1" dirty="0">
                          <a:solidFill>
                            <a:srgbClr val="0097A9"/>
                          </a:solidFill>
                          <a:latin typeface="Arial" pitchFamily="34" charset="0"/>
                          <a:ea typeface="Arial" pitchFamily="34" charset="-122"/>
                          <a:cs typeface="Arial" pitchFamily="34" charset="-120"/>
                        </a:rPr>
                        <a:t>BUY grind (contract mfg, 3P availability high); MAKE blend + pack</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GM / contribution</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38.5% / 25.6%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34.1% / 19.9%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Launch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Q3 FY22, first winter; Regions 1-2 pilot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Q4 FY22, one quarter later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64" name="Text 52"/>
          <p:cNvSpPr txBox="1"/>
          <p:nvPr/>
        </p:nvSpPr>
        <p:spPr>
          <a:xfrm>
            <a:off x="9464040" y="2468880"/>
            <a:ext cx="2651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Make or buy, and why</a:t>
            </a:r>
            <a:endParaRPr lang="en-US" sz="1100" dirty="0"/>
          </a:p>
        </p:txBody>
      </p:sp>
      <p:sp>
        <p:nvSpPr>
          <p:cNvPr id="65" name="Shape 53"/>
          <p:cNvSpPr/>
          <p:nvPr/>
        </p:nvSpPr>
        <p:spPr>
          <a:xfrm>
            <a:off x="9464040" y="2724912"/>
            <a:ext cx="713232" cy="612648"/>
          </a:xfrm>
          <a:prstGeom prst="rect">
            <a:avLst/>
          </a:prstGeom>
          <a:solidFill>
            <a:srgbClr val="046A38"/>
          </a:solidFill>
          <a:ln w="12700">
            <a:solidFill>
              <a:srgbClr val="046A38"/>
            </a:solidFill>
            <a:prstDash val="solid"/>
          </a:ln>
        </p:spPr>
      </p:sp>
      <p:sp>
        <p:nvSpPr>
          <p:cNvPr id="66" name="Text 54"/>
          <p:cNvSpPr txBox="1"/>
          <p:nvPr/>
        </p:nvSpPr>
        <p:spPr>
          <a:xfrm>
            <a:off x="9464040" y="2724912"/>
            <a:ext cx="713232" cy="61264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MAKE</a:t>
            </a:r>
            <a:endParaRPr lang="en-US" sz="760" dirty="0"/>
          </a:p>
          <a:p>
            <a:pPr algn="ctr" indent="0" marL="0">
              <a:buNone/>
            </a:pPr>
            <a:r>
              <a:rPr lang="en-US" sz="660" dirty="0">
                <a:solidFill>
                  <a:srgbClr val="FFFFFF"/>
                </a:solidFill>
                <a:latin typeface="Arial" pitchFamily="34" charset="0"/>
                <a:ea typeface="Arial" pitchFamily="34" charset="-122"/>
                <a:cs typeface="Arial" pitchFamily="34" charset="-120"/>
              </a:rPr>
              <a:t>Premixes</a:t>
            </a:r>
            <a:endParaRPr lang="en-US" sz="760" dirty="0"/>
          </a:p>
        </p:txBody>
      </p:sp>
      <p:sp>
        <p:nvSpPr>
          <p:cNvPr id="67" name="Shape 55"/>
          <p:cNvSpPr/>
          <p:nvPr/>
        </p:nvSpPr>
        <p:spPr>
          <a:xfrm>
            <a:off x="10195560" y="2724912"/>
            <a:ext cx="1901952" cy="612648"/>
          </a:xfrm>
          <a:prstGeom prst="rect">
            <a:avLst/>
          </a:prstGeom>
          <a:solidFill>
            <a:srgbClr val="F2F2F2"/>
          </a:solidFill>
          <a:ln w="12700">
            <a:solidFill>
              <a:srgbClr val="D0D0CE"/>
            </a:solidFill>
            <a:prstDash val="solid"/>
          </a:ln>
        </p:spPr>
      </p:sp>
      <p:sp>
        <p:nvSpPr>
          <p:cNvPr id="68" name="Text 56"/>
          <p:cNvSpPr txBox="1"/>
          <p:nvPr/>
        </p:nvSpPr>
        <p:spPr>
          <a:xfrm>
            <a:off x="10241280" y="2724912"/>
            <a:ext cx="1828800" cy="612648"/>
          </a:xfrm>
          <a:prstGeom prst="rect">
            <a:avLst/>
          </a:prstGeom>
          <a:noFill/>
          <a:ln/>
        </p:spPr>
        <p:txBody>
          <a:bodyPr wrap="square" lIns="0" tIns="0" rIns="0" bIns="0" rtlCol="0" anchor="ctr"/>
          <a:lstStyle/>
          <a:p>
            <a:pPr indent="0" marL="0">
              <a:buNone/>
            </a:pPr>
            <a:r>
              <a:rPr lang="en-US" sz="670" dirty="0">
                <a:solidFill>
                  <a:srgbClr val="000000"/>
                </a:solidFill>
                <a:latin typeface="Arial" pitchFamily="34" charset="0"/>
                <a:ea typeface="Arial" pitchFamily="34" charset="-122"/>
                <a:cs typeface="Arial" pitchFamily="34" charset="-120"/>
              </a:rPr>
              <a:t>Powder lines idle in Q3 (34% use); existing formulation skills; no new capex beyond Rs 5 Cr small capex</a:t>
            </a:r>
            <a:endParaRPr lang="en-US" sz="670" dirty="0"/>
          </a:p>
        </p:txBody>
      </p:sp>
      <p:sp>
        <p:nvSpPr>
          <p:cNvPr id="69" name="Shape 57"/>
          <p:cNvSpPr/>
          <p:nvPr/>
        </p:nvSpPr>
        <p:spPr>
          <a:xfrm>
            <a:off x="9464040" y="3392424"/>
            <a:ext cx="713232" cy="612648"/>
          </a:xfrm>
          <a:prstGeom prst="rect">
            <a:avLst/>
          </a:prstGeom>
          <a:solidFill>
            <a:srgbClr val="0097A9"/>
          </a:solidFill>
          <a:ln w="12700">
            <a:solidFill>
              <a:srgbClr val="0097A9"/>
            </a:solidFill>
            <a:prstDash val="solid"/>
          </a:ln>
        </p:spPr>
      </p:sp>
      <p:sp>
        <p:nvSpPr>
          <p:cNvPr id="70" name="Text 58"/>
          <p:cNvSpPr txBox="1"/>
          <p:nvPr/>
        </p:nvSpPr>
        <p:spPr>
          <a:xfrm>
            <a:off x="9464040" y="3392424"/>
            <a:ext cx="713232" cy="61264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BUY + MAKE</a:t>
            </a:r>
            <a:endParaRPr lang="en-US" sz="760" dirty="0"/>
          </a:p>
          <a:p>
            <a:pPr algn="ctr" indent="0" marL="0">
              <a:buNone/>
            </a:pPr>
            <a:r>
              <a:rPr lang="en-US" sz="660" dirty="0">
                <a:solidFill>
                  <a:srgbClr val="FFFFFF"/>
                </a:solidFill>
                <a:latin typeface="Arial" pitchFamily="34" charset="0"/>
                <a:ea typeface="Arial" pitchFamily="34" charset="-122"/>
                <a:cs typeface="Arial" pitchFamily="34" charset="-120"/>
              </a:rPr>
              <a:t>Spices</a:t>
            </a:r>
            <a:endParaRPr lang="en-US" sz="760" dirty="0"/>
          </a:p>
        </p:txBody>
      </p:sp>
      <p:sp>
        <p:nvSpPr>
          <p:cNvPr id="71" name="Shape 59"/>
          <p:cNvSpPr/>
          <p:nvPr/>
        </p:nvSpPr>
        <p:spPr>
          <a:xfrm>
            <a:off x="10195560" y="3392424"/>
            <a:ext cx="1901952" cy="612648"/>
          </a:xfrm>
          <a:prstGeom prst="rect">
            <a:avLst/>
          </a:prstGeom>
          <a:solidFill>
            <a:srgbClr val="F2F2F2"/>
          </a:solidFill>
          <a:ln w="12700">
            <a:solidFill>
              <a:srgbClr val="D0D0CE"/>
            </a:solidFill>
            <a:prstDash val="solid"/>
          </a:ln>
        </p:spPr>
      </p:sp>
      <p:sp>
        <p:nvSpPr>
          <p:cNvPr id="72" name="Text 60"/>
          <p:cNvSpPr txBox="1"/>
          <p:nvPr/>
        </p:nvSpPr>
        <p:spPr>
          <a:xfrm>
            <a:off x="10241280" y="3392424"/>
            <a:ext cx="1828800" cy="612648"/>
          </a:xfrm>
          <a:prstGeom prst="rect">
            <a:avLst/>
          </a:prstGeom>
          <a:noFill/>
          <a:ln/>
        </p:spPr>
        <p:txBody>
          <a:bodyPr wrap="square" lIns="0" tIns="0" rIns="0" bIns="0" rtlCol="0" anchor="ctr"/>
          <a:lstStyle/>
          <a:p>
            <a:pPr indent="0" marL="0">
              <a:buNone/>
            </a:pPr>
            <a:r>
              <a:rPr lang="en-US" sz="670" dirty="0">
                <a:solidFill>
                  <a:srgbClr val="000000"/>
                </a:solidFill>
                <a:latin typeface="Arial" pitchFamily="34" charset="0"/>
                <a:ea typeface="Arial" pitchFamily="34" charset="-122"/>
                <a:cs typeface="Arial" pitchFamily="34" charset="-120"/>
              </a:rPr>
              <a:t>Grind bought from contract makers (Exh. 5: high availability, low capex); we blend, pack and test in-house</a:t>
            </a:r>
            <a:endParaRPr lang="en-US" sz="670" dirty="0"/>
          </a:p>
        </p:txBody>
      </p:sp>
      <p:sp>
        <p:nvSpPr>
          <p:cNvPr id="73" name="Shape 61"/>
          <p:cNvSpPr/>
          <p:nvPr/>
        </p:nvSpPr>
        <p:spPr>
          <a:xfrm>
            <a:off x="9464040" y="4059936"/>
            <a:ext cx="713232" cy="612648"/>
          </a:xfrm>
          <a:prstGeom prst="rect">
            <a:avLst/>
          </a:prstGeom>
          <a:solidFill>
            <a:srgbClr val="53565A"/>
          </a:solidFill>
          <a:ln w="12700">
            <a:solidFill>
              <a:srgbClr val="53565A"/>
            </a:solidFill>
            <a:prstDash val="solid"/>
          </a:ln>
        </p:spPr>
      </p:sp>
      <p:sp>
        <p:nvSpPr>
          <p:cNvPr id="74" name="Text 62"/>
          <p:cNvSpPr txBox="1"/>
          <p:nvPr/>
        </p:nvSpPr>
        <p:spPr>
          <a:xfrm>
            <a:off x="9464040" y="4059936"/>
            <a:ext cx="713232" cy="612648"/>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RULE</a:t>
            </a:r>
            <a:endParaRPr lang="en-US" sz="760" dirty="0"/>
          </a:p>
          <a:p>
            <a:pPr algn="ctr" indent="0" marL="0">
              <a:buNone/>
            </a:pPr>
            <a:r>
              <a:rPr lang="en-US" sz="660" dirty="0">
                <a:solidFill>
                  <a:srgbClr val="FFFFFF"/>
                </a:solidFill>
                <a:latin typeface="Arial" pitchFamily="34" charset="0"/>
                <a:ea typeface="Arial" pitchFamily="34" charset="-122"/>
                <a:cs typeface="Arial" pitchFamily="34" charset="-120"/>
              </a:rPr>
              <a:t>Both</a:t>
            </a:r>
            <a:endParaRPr lang="en-US" sz="760" dirty="0"/>
          </a:p>
        </p:txBody>
      </p:sp>
      <p:sp>
        <p:nvSpPr>
          <p:cNvPr id="75" name="Shape 63"/>
          <p:cNvSpPr/>
          <p:nvPr/>
        </p:nvSpPr>
        <p:spPr>
          <a:xfrm>
            <a:off x="10195560" y="4059936"/>
            <a:ext cx="1901952" cy="612648"/>
          </a:xfrm>
          <a:prstGeom prst="rect">
            <a:avLst/>
          </a:prstGeom>
          <a:solidFill>
            <a:srgbClr val="F2F2F2"/>
          </a:solidFill>
          <a:ln w="12700">
            <a:solidFill>
              <a:srgbClr val="D0D0CE"/>
            </a:solidFill>
            <a:prstDash val="solid"/>
          </a:ln>
        </p:spPr>
      </p:sp>
      <p:sp>
        <p:nvSpPr>
          <p:cNvPr id="76" name="Text 64"/>
          <p:cNvSpPr txBox="1"/>
          <p:nvPr/>
        </p:nvSpPr>
        <p:spPr>
          <a:xfrm>
            <a:off x="10241280" y="4059936"/>
            <a:ext cx="1828800" cy="612648"/>
          </a:xfrm>
          <a:prstGeom prst="rect">
            <a:avLst/>
          </a:prstGeom>
          <a:noFill/>
          <a:ln/>
        </p:spPr>
        <p:txBody>
          <a:bodyPr wrap="square" lIns="0" tIns="0" rIns="0" bIns="0" rtlCol="0" anchor="ctr"/>
          <a:lstStyle/>
          <a:p>
            <a:pPr indent="0" marL="0">
              <a:buNone/>
            </a:pPr>
            <a:r>
              <a:rPr lang="en-US" sz="670" dirty="0">
                <a:solidFill>
                  <a:srgbClr val="000000"/>
                </a:solidFill>
                <a:latin typeface="Arial" pitchFamily="34" charset="0"/>
                <a:ea typeface="Arial" pitchFamily="34" charset="-122"/>
                <a:cs typeface="Arial" pitchFamily="34" charset="-120"/>
              </a:rPr>
              <a:t>Two vendors at spec before the launch gate (energy drink lesson)</a:t>
            </a:r>
            <a:endParaRPr lang="en-US" sz="670" dirty="0"/>
          </a:p>
        </p:txBody>
      </p:sp>
      <p:sp>
        <p:nvSpPr>
          <p:cNvPr id="77" name="Shape 65"/>
          <p:cNvSpPr/>
          <p:nvPr/>
        </p:nvSpPr>
        <p:spPr>
          <a:xfrm>
            <a:off x="0" y="5961888"/>
            <a:ext cx="12191695" cy="530352"/>
          </a:xfrm>
          <a:prstGeom prst="rect">
            <a:avLst/>
          </a:prstGeom>
          <a:solidFill>
            <a:srgbClr val="86BC25"/>
          </a:solidFill>
          <a:ln w="12700">
            <a:solidFill>
              <a:srgbClr val="86BC25"/>
            </a:solidFill>
            <a:prstDash val="solid"/>
          </a:ln>
        </p:spPr>
      </p:sp>
      <p:sp>
        <p:nvSpPr>
          <p:cNvPr id="78" name="Text 66"/>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What goes in the carton: </a:t>
            </a:r>
            <a:pPr algn="ctr" indent="0" marL="0">
              <a:buNone/>
            </a:pPr>
            <a:r>
              <a:rPr lang="en-US" sz="1250" dirty="0">
                <a:solidFill>
                  <a:srgbClr val="000000"/>
                </a:solidFill>
                <a:latin typeface="Arial" pitchFamily="34" charset="0"/>
                <a:ea typeface="Arial" pitchFamily="34" charset="-122"/>
                <a:cs typeface="Arial" pitchFamily="34" charset="-120"/>
              </a:rPr>
              <a:t>a warm drink from the sharbat brand they trust, and an everyday masala that proves its purity on the back.</a:t>
            </a:r>
            <a:endParaRPr lang="en-US" sz="1250" dirty="0"/>
          </a:p>
        </p:txBody>
      </p:sp>
      <p:sp>
        <p:nvSpPr>
          <p:cNvPr id="79" name="Text 67"/>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team SKU plan and Excel model (packs, MRPs, COGS, margins); Case Exhibits 2, 5, 6; team FGDs; Deloitte-FICCI (Oct 2024): 78% willing to pay a premium for healthy F&amp;B; The Week (May 2024); FSSAI Labelling and Display Regulations 2020. Concept art is fictional.</a:t>
            </a:r>
            <a:endParaRPr lang="en-US" sz="730" dirty="0"/>
          </a:p>
        </p:txBody>
      </p:sp>
      <p:sp>
        <p:nvSpPr>
          <p:cNvPr id="80" name="Text 68"/>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6. Consumer Evidence: What 11 Consumers Told Us</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Consumers trust Rasmitra for a winter drink but not for masala, and every group asked for a Rs 10-15 trial pack; four parts of the plan changed</a:t>
            </a:r>
            <a:endParaRPr lang="en-US" sz="1250" dirty="0"/>
          </a:p>
        </p:txBody>
      </p:sp>
      <p:sp>
        <p:nvSpPr>
          <p:cNvPr id="6" name="Text 4"/>
          <p:cNvSpPr txBox="1"/>
          <p:nvPr/>
        </p:nvSpPr>
        <p:spPr>
          <a:xfrm>
            <a:off x="109728" y="749808"/>
            <a:ext cx="8001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Who we spoke to</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9728" y="1005840"/>
          <a:ext cx="8001000" cy="914400"/>
        </p:xfrm>
        <a:graphic>
          <a:graphicData uri="http://schemas.openxmlformats.org/drawingml/2006/table">
            <a:tbl>
              <a:tblPr/>
              <a:tblGrid>
                <a:gridCol w="1234440"/>
                <a:gridCol w="2514600"/>
                <a:gridCol w="2240280"/>
                <a:gridCol w="1097280"/>
                <a:gridCol w="914400"/>
              </a:tblGrid>
              <a:tr h="228600">
                <a:tc>
                  <a:txBody>
                    <a:bodyPr/>
                    <a:lstStyle/>
                    <a:p>
                      <a:pPr indent="0" marL="0">
                        <a:buNone/>
                      </a:pPr>
                      <a:r>
                        <a:rPr lang="en-US" sz="800" b="1" dirty="0">
                          <a:solidFill>
                            <a:srgbClr val="FFFFFF"/>
                          </a:solidFill>
                          <a:latin typeface="Arial" pitchFamily="34" charset="0"/>
                          <a:ea typeface="Arial" pitchFamily="34" charset="-122"/>
                          <a:cs typeface="Arial" pitchFamily="34" charset="-120"/>
                        </a:rPr>
                        <a:t>Group</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Participants (age)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Who they are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Profiles covered</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Format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28600">
                <a:tc>
                  <a:txBody>
                    <a:bodyPr/>
                    <a:lstStyle/>
                    <a:p>
                      <a:pPr indent="0" marL="0">
                        <a:buNone/>
                      </a:pPr>
                      <a:r>
                        <a:rPr lang="en-US" sz="720" b="1" dirty="0">
                          <a:solidFill>
                            <a:srgbClr val="000000"/>
                          </a:solidFill>
                          <a:latin typeface="Arial" pitchFamily="34" charset="0"/>
                          <a:ea typeface="Arial" pitchFamily="34" charset="-122"/>
                          <a:cs typeface="Arial" pitchFamily="34" charset="-120"/>
                        </a:rPr>
                        <a:t>FGD 1: young working adults</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Pooja (29), Rahul (27), Anjali (25), Neha (22); Mayank (26), Sayan (23) also present</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Pooja buys for her household; Rahul shares a flat and orders on Q-com; Neha works in an office</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2 working professional; 4 young independent</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~10 min, Hinglish, moderated</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20" b="1" dirty="0">
                          <a:solidFill>
                            <a:srgbClr val="000000"/>
                          </a:solidFill>
                          <a:latin typeface="Arial" pitchFamily="34" charset="0"/>
                          <a:ea typeface="Arial" pitchFamily="34" charset="-122"/>
                          <a:cs typeface="Arial" pitchFamily="34" charset="-120"/>
                        </a:rPr>
                        <a:t>FGD 2: college students</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Aman (22, MBA, hostel), Riya (21, UG, PG), Karan (23, engg., hostel), Sneha (22, PG, own flat), Aditya (20, UG, hostel)</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Hostel students cannot cook; Riya and Sneha cook; Aditya and Riya use Blinkit and Zepto</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3 student / hostel; 4 young independent</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~10 min, college common room, moderated</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720" b="1" dirty="0">
                          <a:solidFill>
                            <a:srgbClr val="000000"/>
                          </a:solidFill>
                          <a:latin typeface="Arial" pitchFamily="34" charset="0"/>
                          <a:ea typeface="Arial" pitchFamily="34" charset="-122"/>
                          <a:cs typeface="Arial" pitchFamily="34" charset="-120"/>
                        </a:rPr>
                        <a:t>Not in the FGDs</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Homemaker 35-50; value-conscious kirana buyer 35-55</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Tested at the concept gate (n=200 per region) before spices scale</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Homemaker; value buyer</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20" dirty="0">
                          <a:solidFill>
                            <a:srgbClr val="000000"/>
                          </a:solidFill>
                          <a:latin typeface="Arial" pitchFamily="34" charset="0"/>
                          <a:ea typeface="Arial" pitchFamily="34" charset="-122"/>
                          <a:cs typeface="Arial" pitchFamily="34" charset="-120"/>
                        </a:rPr>
                        <a:t>Concept test, gate 2</a:t>
                      </a:r>
                      <a:endParaRPr lang="en-US" sz="72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8" name="Text 5"/>
          <p:cNvSpPr txBox="1"/>
          <p:nvPr/>
        </p:nvSpPr>
        <p:spPr>
          <a:xfrm>
            <a:off x="109728" y="2011680"/>
            <a:ext cx="8001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What we heard, and what it changed</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109728" y="2267712"/>
          <a:ext cx="8001000" cy="914400"/>
        </p:xfrm>
        <a:graphic>
          <a:graphicData uri="http://schemas.openxmlformats.org/drawingml/2006/table">
            <a:tbl>
              <a:tblPr/>
              <a:tblGrid>
                <a:gridCol w="914400"/>
                <a:gridCol w="2423160"/>
                <a:gridCol w="2423160"/>
                <a:gridCol w="2240280"/>
              </a:tblGrid>
              <a:tr h="310896">
                <a:tc>
                  <a:txBody>
                    <a:bodyPr/>
                    <a:lstStyle/>
                    <a:p>
                      <a:pPr indent="0" marL="0">
                        <a:buNone/>
                      </a:pPr>
                      <a:r>
                        <a:rPr lang="en-US" sz="800" b="1" dirty="0">
                          <a:solidFill>
                            <a:srgbClr val="FFFFFF"/>
                          </a:solidFill>
                          <a:latin typeface="Arial" pitchFamily="34" charset="0"/>
                          <a:ea typeface="Arial" pitchFamily="34" charset="-122"/>
                          <a:cs typeface="Arial" pitchFamily="34" charset="-120"/>
                        </a:rPr>
                        <a:t>Theme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FGD 1: working adults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FGD 2: students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we changed or confirmed</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Brand stretch</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"If they've always made sharbat, why would I buy garam masala from them?" (Pooja)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"For drinks, yes. Makes sense" (Aditya). Masala under another name "might feel more natural" (Sneha)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C0392B"/>
                          </a:solidFill>
                          <a:latin typeface="Arial" pitchFamily="34" charset="0"/>
                          <a:ea typeface="Arial" pitchFamily="34" charset="-122"/>
                          <a:cs typeface="Arial" pitchFamily="34" charset="-120"/>
                        </a:rPr>
                        <a:t>CHANGED: </a:t>
                      </a:r>
                      <a:pPr indent="0" marL="0">
                        <a:buNone/>
                      </a:pPr>
                      <a:r>
                        <a:rPr lang="en-US" sz="690" dirty="0">
                          <a:solidFill>
                            <a:srgbClr val="000000"/>
                          </a:solidFill>
                          <a:latin typeface="Arial" pitchFamily="34" charset="0"/>
                          <a:ea typeface="Arial" pitchFamily="34" charset="-122"/>
                          <a:cs typeface="Arial" pitchFamily="34" charset="-120"/>
                        </a:rPr>
                        <a:t>'Swaad' leads the spice pack; mother brand stays on premixes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Trial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"Small trial pack is better" (Pooja). "A small Rs 10 pouch" (Neha)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"Single sachet first", then a pack of ten (Riya, Aditya); free tasting on campus (Karan)</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CONFIRMED: </a:t>
                      </a:r>
                      <a:pPr indent="0" marL="0">
                        <a:buNone/>
                      </a:pPr>
                      <a:r>
                        <a:rPr lang="en-US" sz="690" dirty="0">
                          <a:solidFill>
                            <a:srgbClr val="000000"/>
                          </a:solidFill>
                          <a:latin typeface="Arial" pitchFamily="34" charset="0"/>
                          <a:ea typeface="Arial" pitchFamily="34" charset="-122"/>
                          <a:cs typeface="Arial" pitchFamily="34" charset="-120"/>
                        </a:rPr>
                        <a:t>Rs 10 trial packs before Rs 49/99; campus sampling added to BTL</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Premix product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Premixes "usually too sweet" (Pooja); "for travel or office" (Neha)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Ginger tea "especially in winter" (Riya); Rs 15 sachet "fine" (Aditya)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C0392B"/>
                          </a:solidFill>
                          <a:latin typeface="Arial" pitchFamily="34" charset="0"/>
                          <a:ea typeface="Arial" pitchFamily="34" charset="-122"/>
                          <a:cs typeface="Arial" pitchFamily="34" charset="-120"/>
                        </a:rPr>
                        <a:t>CHANGED: </a:t>
                      </a:r>
                      <a:pPr indent="0" marL="0">
                        <a:buNone/>
                      </a:pPr>
                      <a:r>
                        <a:rPr lang="en-US" sz="690" dirty="0">
                          <a:solidFill>
                            <a:srgbClr val="000000"/>
                          </a:solidFill>
                          <a:latin typeface="Arial" pitchFamily="34" charset="0"/>
                          <a:ea typeface="Arial" pitchFamily="34" charset="-122"/>
                          <a:cs typeface="Arial" pitchFamily="34" charset="-120"/>
                        </a:rPr>
                        <a:t>low-sugar ginger-lemon added; office, hostel and winter use</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Spices habit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Everest: "bas, aadat hai" (Pooja); would switch on a friend's word</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"Don't need another masala brand unless it's doing something better" (Sneha)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CONFIRMED: </a:t>
                      </a:r>
                      <a:pPr indent="0" marL="0">
                        <a:buNone/>
                      </a:pPr>
                      <a:r>
                        <a:rPr lang="en-US" sz="690" dirty="0">
                          <a:solidFill>
                            <a:srgbClr val="000000"/>
                          </a:solidFill>
                          <a:latin typeface="Arial" pitchFamily="34" charset="0"/>
                          <a:ea typeface="Arial" pitchFamily="34" charset="-122"/>
                          <a:cs typeface="Arial" pitchFamily="34" charset="-120"/>
                        </a:rPr>
                        <a:t>plan only 3% share; lead on lab-tested purity; kill if repeat &lt; 25%</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Channel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"I discover products online, but I don't always purchase them there" (Neha)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Won't "open Blinkit for one sachet" (Aman); campus store first (Karan)</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CONFIRMED: </a:t>
                      </a:r>
                      <a:pPr indent="0" marL="0">
                        <a:buNone/>
                      </a:pPr>
                      <a:r>
                        <a:rPr lang="en-US" sz="690" dirty="0">
                          <a:solidFill>
                            <a:srgbClr val="000000"/>
                          </a:solidFill>
                          <a:latin typeface="Arial" pitchFamily="34" charset="0"/>
                          <a:ea typeface="Arial" pitchFamily="34" charset="-122"/>
                          <a:cs typeface="Arial" pitchFamily="34" charset="-120"/>
                        </a:rPr>
                        <a:t>kirana and campus for trial; Q-com for regular packs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780" b="1" dirty="0">
                          <a:solidFill>
                            <a:srgbClr val="000000"/>
                          </a:solidFill>
                          <a:latin typeface="Arial" pitchFamily="34" charset="0"/>
                          <a:ea typeface="Arial" pitchFamily="34" charset="-122"/>
                          <a:cs typeface="Arial" pitchFamily="34" charset="-120"/>
                        </a:rPr>
                        <a:t>Ready-to-cook</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First pick for Rahul and Anjali; Rs 30 "I'd definitely try" (Anjali)</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80" i="1" dirty="0">
                          <a:solidFill>
                            <a:srgbClr val="000000"/>
                          </a:solidFill>
                          <a:latin typeface="Arial" pitchFamily="34" charset="0"/>
                          <a:ea typeface="Arial" pitchFamily="34" charset="-122"/>
                          <a:cs typeface="Arial" pitchFamily="34" charset="-120"/>
                        </a:rPr>
                        <a:t>Riya and Aman pick it, but "not everyone has a kitchen" (Riya)</a:t>
                      </a:r>
                      <a:endParaRPr lang="en-US" sz="6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C0392B"/>
                          </a:solidFill>
                          <a:latin typeface="Arial" pitchFamily="34" charset="0"/>
                          <a:ea typeface="Arial" pitchFamily="34" charset="-122"/>
                          <a:cs typeface="Arial" pitchFamily="34" charset="-120"/>
                        </a:rPr>
                        <a:t>CHANGED: </a:t>
                      </a:r>
                      <a:pPr indent="0" marL="0">
                        <a:buNone/>
                      </a:pPr>
                      <a:r>
                        <a:rPr lang="en-US" sz="690" dirty="0">
                          <a:solidFill>
                            <a:srgbClr val="000000"/>
                          </a:solidFill>
                          <a:latin typeface="Arial" pitchFamily="34" charset="0"/>
                          <a:ea typeface="Arial" pitchFamily="34" charset="-122"/>
                          <a:cs typeface="Arial" pitchFamily="34" charset="-120"/>
                        </a:rPr>
                        <a:t>RTC moves ahead of pickles for the FY23 gate</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0" name="Text 6"/>
          <p:cNvSpPr txBox="1"/>
          <p:nvPr/>
        </p:nvSpPr>
        <p:spPr>
          <a:xfrm>
            <a:off x="109728" y="4526280"/>
            <a:ext cx="8001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Price and pack tests</a:t>
            </a:r>
            <a:endParaRPr lang="en-US" sz="11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109728" y="4782312"/>
          <a:ext cx="8001000" cy="914400"/>
        </p:xfrm>
        <a:graphic>
          <a:graphicData uri="http://schemas.openxmlformats.org/drawingml/2006/table">
            <a:tbl>
              <a:tblPr/>
              <a:tblGrid>
                <a:gridCol w="1417320"/>
                <a:gridCol w="1280160"/>
                <a:gridCol w="3200400"/>
                <a:gridCol w="2103120"/>
              </a:tblGrid>
              <a:tr h="228600">
                <a:tc>
                  <a:txBody>
                    <a:bodyPr/>
                    <a:lstStyle/>
                    <a:p>
                      <a:pPr indent="0" marL="0">
                        <a:buNone/>
                      </a:pPr>
                      <a:r>
                        <a:rPr lang="en-US" sz="800" b="1" dirty="0">
                          <a:solidFill>
                            <a:srgbClr val="FFFFFF"/>
                          </a:solidFill>
                          <a:latin typeface="Arial" pitchFamily="34" charset="0"/>
                          <a:ea typeface="Arial" pitchFamily="34" charset="-122"/>
                          <a:cs typeface="Arial" pitchFamily="34" charset="-120"/>
                        </a:rPr>
                        <a:t>Product tested</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Price put to the group</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they said</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Read-across to our plan</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28600">
                <a:tc>
                  <a:txBody>
                    <a:bodyPr/>
                    <a:lstStyle/>
                    <a:p>
                      <a:pPr indent="0" marL="0">
                        <a:buNone/>
                      </a:pPr>
                      <a:r>
                        <a:rPr lang="en-US" sz="690" b="1" dirty="0">
                          <a:solidFill>
                            <a:srgbClr val="000000"/>
                          </a:solidFill>
                          <a:latin typeface="Arial" pitchFamily="34" charset="0"/>
                          <a:ea typeface="Arial" pitchFamily="34" charset="-122"/>
                          <a:cs typeface="Arial" pitchFamily="34" charset="-120"/>
                        </a:rPr>
                        <a:t>Ginger tea premix sachet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dirty="0">
                          <a:solidFill>
                            <a:srgbClr val="000000"/>
                          </a:solidFill>
                          <a:latin typeface="Arial" pitchFamily="34" charset="0"/>
                          <a:ea typeface="Arial" pitchFamily="34" charset="-122"/>
                          <a:cs typeface="Arial" pitchFamily="34" charset="-120"/>
                        </a:rPr>
                        <a:t>Rs 15 single sachet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i="1" dirty="0">
                          <a:solidFill>
                            <a:srgbClr val="000000"/>
                          </a:solidFill>
                          <a:latin typeface="Arial" pitchFamily="34" charset="0"/>
                          <a:ea typeface="Arial" pitchFamily="34" charset="-122"/>
                          <a:cs typeface="Arial" pitchFamily="34" charset="-120"/>
                        </a:rPr>
                        <a:t>"Fifteen is fine" (Aditya); street chai is Rs 10-15; one sachet first, then a pack of ten</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Rs 10 sachet and Rs 99 10-pack sit at or below this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690" b="1" dirty="0">
                          <a:solidFill>
                            <a:srgbClr val="000000"/>
                          </a:solidFill>
                          <a:latin typeface="Arial" pitchFamily="34" charset="0"/>
                          <a:ea typeface="Arial" pitchFamily="34" charset="-122"/>
                          <a:cs typeface="Arial" pitchFamily="34" charset="-120"/>
                        </a:rPr>
                        <a:t>Masala trial pack</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dirty="0">
                          <a:solidFill>
                            <a:srgbClr val="000000"/>
                          </a:solidFill>
                          <a:latin typeface="Arial" pitchFamily="34" charset="0"/>
                          <a:ea typeface="Arial" pitchFamily="34" charset="-122"/>
                          <a:cs typeface="Arial" pitchFamily="34" charset="-120"/>
                        </a:rPr>
                        <a:t>Rs 10 / Rs 20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i="1" dirty="0">
                          <a:solidFill>
                            <a:srgbClr val="000000"/>
                          </a:solidFill>
                          <a:latin typeface="Arial" pitchFamily="34" charset="0"/>
                          <a:ea typeface="Arial" pitchFamily="34" charset="-122"/>
                          <a:cs typeface="Arial" pitchFamily="34" charset="-120"/>
                        </a:rPr>
                        <a:t>Rs 10 "fine for trying" (Pooja); Sneha picks masala at Rs 20 "I'll actually use it"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Rs 10 trial pack confirmed</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690" b="1" dirty="0">
                          <a:solidFill>
                            <a:srgbClr val="000000"/>
                          </a:solidFill>
                          <a:latin typeface="Arial" pitchFamily="34" charset="0"/>
                          <a:ea typeface="Arial" pitchFamily="34" charset="-122"/>
                          <a:cs typeface="Arial" pitchFamily="34" charset="-120"/>
                        </a:rPr>
                        <a:t>RTC paneer gravy, 2 servings</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dirty="0">
                          <a:solidFill>
                            <a:srgbClr val="000000"/>
                          </a:solidFill>
                          <a:latin typeface="Arial" pitchFamily="34" charset="0"/>
                          <a:ea typeface="Arial" pitchFamily="34" charset="-122"/>
                          <a:cs typeface="Arial" pitchFamily="34" charset="-120"/>
                        </a:rPr>
                        <a:t>Rs 50 / 49, then Rs 30</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i="1" dirty="0">
                          <a:solidFill>
                            <a:srgbClr val="000000"/>
                          </a:solidFill>
                          <a:latin typeface="Arial" pitchFamily="34" charset="0"/>
                          <a:ea typeface="Arial" pitchFamily="34" charset="-122"/>
                          <a:cs typeface="Arial" pitchFamily="34" charset="-120"/>
                        </a:rPr>
                        <a:t>Rs 50 fine only if paneer and water; Rs 30 "try once"; Aman would rather order</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dirty="0">
                          <a:solidFill>
                            <a:srgbClr val="000000"/>
                          </a:solidFill>
                          <a:latin typeface="Arial" pitchFamily="34" charset="0"/>
                          <a:ea typeface="Arial" pitchFamily="34" charset="-122"/>
                          <a:cs typeface="Arial" pitchFamily="34" charset="-120"/>
                        </a:rPr>
                        <a:t>RTC option: Rs 30 trial, Rs 49-50 regular</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28600">
                <a:tc>
                  <a:txBody>
                    <a:bodyPr/>
                    <a:lstStyle/>
                    <a:p>
                      <a:pPr indent="0" marL="0">
                        <a:buNone/>
                      </a:pPr>
                      <a:r>
                        <a:rPr lang="en-US" sz="690" b="1" dirty="0">
                          <a:solidFill>
                            <a:srgbClr val="000000"/>
                          </a:solidFill>
                          <a:latin typeface="Arial" pitchFamily="34" charset="0"/>
                          <a:ea typeface="Arial" pitchFamily="34" charset="-122"/>
                          <a:cs typeface="Arial" pitchFamily="34" charset="-120"/>
                        </a:rPr>
                        <a:t>Channel price gap</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dirty="0">
                          <a:solidFill>
                            <a:srgbClr val="000000"/>
                          </a:solidFill>
                          <a:latin typeface="Arial" pitchFamily="34" charset="0"/>
                          <a:ea typeface="Arial" pitchFamily="34" charset="-122"/>
                          <a:cs typeface="Arial" pitchFamily="34" charset="-120"/>
                        </a:rPr>
                        <a:t>Rs 40 kirana vs Rs 35 Blinkit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i="1" dirty="0">
                          <a:solidFill>
                            <a:srgbClr val="000000"/>
                          </a:solidFill>
                          <a:latin typeface="Arial" pitchFamily="34" charset="0"/>
                          <a:ea typeface="Arial" pitchFamily="34" charset="-122"/>
                          <a:cs typeface="Arial" pitchFamily="34" charset="-120"/>
                        </a:rPr>
                        <a:t>Depends on the basket; campus store wins for one sachet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690" b="1" dirty="0">
                          <a:solidFill>
                            <a:srgbClr val="046A38"/>
                          </a:solidFill>
                          <a:latin typeface="Arial" pitchFamily="34" charset="0"/>
                          <a:ea typeface="Arial" pitchFamily="34" charset="-122"/>
                          <a:cs typeface="Arial" pitchFamily="34" charset="-120"/>
                        </a:rPr>
                        <a:t>Per-gram parity is enough; no Q-com discount</a:t>
                      </a:r>
                      <a:endParaRPr lang="en-US" sz="69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2" name="Text 7"/>
          <p:cNvSpPr txBox="1"/>
          <p:nvPr/>
        </p:nvSpPr>
        <p:spPr>
          <a:xfrm>
            <a:off x="8275320" y="7498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Proof: discussion photos</a:t>
            </a:r>
            <a:endParaRPr lang="en-US" sz="1100" dirty="0"/>
          </a:p>
        </p:txBody>
      </p:sp>
      <p:pic>
        <p:nvPicPr>
          <p:cNvPr id="13" name="Image 0" descr="preencoded.png">    </p:cNvPr>
          <p:cNvPicPr>
            <a:picLocks noChangeAspect="1"/>
          </p:cNvPicPr>
          <p:nvPr/>
        </p:nvPicPr>
        <p:blipFill>
          <a:blip r:embed="rId1"/>
          <a:srcRect l="0" r="0" t="0" b="0"/>
          <a:stretch/>
        </p:blipFill>
        <p:spPr>
          <a:xfrm>
            <a:off x="8275320" y="1005840"/>
            <a:ext cx="1892808" cy="1234440"/>
          </a:xfrm>
          <a:prstGeom prst="rect">
            <a:avLst/>
          </a:prstGeom>
        </p:spPr>
      </p:pic>
      <p:pic>
        <p:nvPicPr>
          <p:cNvPr id="14" name="Image 1" descr="preencoded.png">    </p:cNvPr>
          <p:cNvPicPr>
            <a:picLocks noChangeAspect="1"/>
          </p:cNvPicPr>
          <p:nvPr/>
        </p:nvPicPr>
        <p:blipFill>
          <a:blip r:embed="rId2"/>
          <a:srcRect l="0" r="0" t="0" b="0"/>
          <a:stretch/>
        </p:blipFill>
        <p:spPr>
          <a:xfrm>
            <a:off x="10222992" y="1005840"/>
            <a:ext cx="1892808" cy="1234440"/>
          </a:xfrm>
          <a:prstGeom prst="rect">
            <a:avLst/>
          </a:prstGeom>
        </p:spPr>
      </p:pic>
      <p:sp>
        <p:nvSpPr>
          <p:cNvPr id="15" name="Shape 8"/>
          <p:cNvSpPr/>
          <p:nvPr/>
        </p:nvSpPr>
        <p:spPr>
          <a:xfrm>
            <a:off x="8275320" y="2057400"/>
            <a:ext cx="1892808" cy="182880"/>
          </a:xfrm>
          <a:prstGeom prst="rect">
            <a:avLst/>
          </a:prstGeom>
          <a:solidFill>
            <a:srgbClr val="000000">
              <a:alpha val="75000"/>
            </a:srgbClr>
          </a:solidFill>
          <a:ln w="12700">
            <a:solidFill>
              <a:srgbClr val="000000">
                <a:alpha val="75000"/>
              </a:srgbClr>
            </a:solidFill>
            <a:prstDash val="solid"/>
          </a:ln>
        </p:spPr>
      </p:sp>
      <p:sp>
        <p:nvSpPr>
          <p:cNvPr id="16" name="Text 9"/>
          <p:cNvSpPr txBox="1"/>
          <p:nvPr/>
        </p:nvSpPr>
        <p:spPr>
          <a:xfrm>
            <a:off x="8321040" y="2057400"/>
            <a:ext cx="1828800" cy="182880"/>
          </a:xfrm>
          <a:prstGeom prst="rect">
            <a:avLst/>
          </a:prstGeom>
          <a:noFill/>
          <a:ln/>
        </p:spPr>
        <p:txBody>
          <a:bodyPr wrap="square" lIns="0" tIns="0" rIns="0" bIns="0" rtlCol="0" anchor="ctr"/>
          <a:lstStyle/>
          <a:p>
            <a:pPr indent="0" marL="0">
              <a:buNone/>
            </a:pPr>
            <a:r>
              <a:rPr lang="en-US" sz="700" b="1" dirty="0">
                <a:solidFill>
                  <a:srgbClr val="FFFFFF"/>
                </a:solidFill>
                <a:latin typeface="Arial" pitchFamily="34" charset="0"/>
                <a:ea typeface="Arial" pitchFamily="34" charset="-122"/>
                <a:cs typeface="Arial" pitchFamily="34" charset="-120"/>
              </a:rPr>
              <a:t>FGD 1: working adults</a:t>
            </a:r>
            <a:endParaRPr lang="en-US" sz="700" dirty="0"/>
          </a:p>
        </p:txBody>
      </p:sp>
      <p:sp>
        <p:nvSpPr>
          <p:cNvPr id="17" name="Shape 10"/>
          <p:cNvSpPr/>
          <p:nvPr/>
        </p:nvSpPr>
        <p:spPr>
          <a:xfrm>
            <a:off x="10222992" y="2057400"/>
            <a:ext cx="1892808" cy="182880"/>
          </a:xfrm>
          <a:prstGeom prst="rect">
            <a:avLst/>
          </a:prstGeom>
          <a:solidFill>
            <a:srgbClr val="000000">
              <a:alpha val="75000"/>
            </a:srgbClr>
          </a:solidFill>
          <a:ln w="12700">
            <a:solidFill>
              <a:srgbClr val="000000">
                <a:alpha val="75000"/>
              </a:srgbClr>
            </a:solidFill>
            <a:prstDash val="solid"/>
          </a:ln>
        </p:spPr>
      </p:sp>
      <p:sp>
        <p:nvSpPr>
          <p:cNvPr id="18" name="Text 11"/>
          <p:cNvSpPr txBox="1"/>
          <p:nvPr/>
        </p:nvSpPr>
        <p:spPr>
          <a:xfrm>
            <a:off x="10268712" y="2057400"/>
            <a:ext cx="1828800" cy="182880"/>
          </a:xfrm>
          <a:prstGeom prst="rect">
            <a:avLst/>
          </a:prstGeom>
          <a:noFill/>
          <a:ln/>
        </p:spPr>
        <p:txBody>
          <a:bodyPr wrap="square" lIns="0" tIns="0" rIns="0" bIns="0" rtlCol="0" anchor="ctr"/>
          <a:lstStyle/>
          <a:p>
            <a:pPr indent="0" marL="0">
              <a:buNone/>
            </a:pPr>
            <a:r>
              <a:rPr lang="en-US" sz="700" b="1" dirty="0">
                <a:solidFill>
                  <a:srgbClr val="FFFFFF"/>
                </a:solidFill>
                <a:latin typeface="Arial" pitchFamily="34" charset="0"/>
                <a:ea typeface="Arial" pitchFamily="34" charset="-122"/>
                <a:cs typeface="Arial" pitchFamily="34" charset="-120"/>
              </a:rPr>
              <a:t>FGD 2: students</a:t>
            </a:r>
            <a:endParaRPr lang="en-US" sz="700" dirty="0"/>
          </a:p>
        </p:txBody>
      </p:sp>
      <p:sp>
        <p:nvSpPr>
          <p:cNvPr id="19" name="Text 12"/>
          <p:cNvSpPr txBox="1"/>
          <p:nvPr/>
        </p:nvSpPr>
        <p:spPr>
          <a:xfrm>
            <a:off x="8275320" y="230428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Pick one to try (9 answered)</a:t>
            </a:r>
            <a:endParaRPr lang="en-US" sz="1100" dirty="0"/>
          </a:p>
        </p:txBody>
      </p:sp>
      <p:graphicFrame>
        <p:nvGraphicFramePr>
          <p:cNvPr id="20" name="Chart 0" descr=""/>
          <p:cNvGraphicFramePr/>
          <p:nvPr/>
        </p:nvGraphicFramePr>
        <p:xfrm>
          <a:off x="8275320" y="2514600"/>
          <a:ext cx="3840480" cy="1417320"/>
        </p:xfrm>
        <a:graphic xmlns:a="http://schemas.openxmlformats.org/drawingml/2006/main">
          <a:graphicData uri="http://schemas.openxmlformats.org/drawingml/2006/chart">
            <c:chart xmlns:c="http://schemas.openxmlformats.org/drawingml/2006/chart" r:id="rId3"/>
          </a:graphicData>
        </a:graphic>
      </p:graphicFrame>
      <p:sp>
        <p:nvSpPr>
          <p:cNvPr id="21" name="Text 13"/>
          <p:cNvSpPr txBox="1"/>
          <p:nvPr/>
        </p:nvSpPr>
        <p:spPr>
          <a:xfrm>
            <a:off x="8275320" y="39502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What drives repeat purchase</a:t>
            </a:r>
            <a:endParaRPr lang="en-US" sz="1100" dirty="0"/>
          </a:p>
        </p:txBody>
      </p:sp>
      <p:sp>
        <p:nvSpPr>
          <p:cNvPr id="22" name="Shape 14"/>
          <p:cNvSpPr/>
          <p:nvPr/>
        </p:nvSpPr>
        <p:spPr>
          <a:xfrm>
            <a:off x="8275320" y="4224528"/>
            <a:ext cx="283464" cy="283464"/>
          </a:xfrm>
          <a:prstGeom prst="ellipse">
            <a:avLst/>
          </a:prstGeom>
          <a:solidFill>
            <a:srgbClr val="26890D"/>
          </a:solidFill>
          <a:ln w="12700">
            <a:solidFill>
              <a:srgbClr val="26890D"/>
            </a:solidFill>
            <a:prstDash val="solid"/>
          </a:ln>
        </p:spPr>
      </p:sp>
      <p:pic>
        <p:nvPicPr>
          <p:cNvPr id="23" name="Image 2" descr="preencoded.png">    </p:cNvPr>
          <p:cNvPicPr>
            <a:picLocks noChangeAspect="1"/>
          </p:cNvPicPr>
          <p:nvPr/>
        </p:nvPicPr>
        <p:blipFill>
          <a:blip r:embed="rId4"/>
          <a:stretch>
            <a:fillRect/>
          </a:stretch>
        </p:blipFill>
        <p:spPr>
          <a:xfrm>
            <a:off x="8337682" y="4286890"/>
            <a:ext cx="158740" cy="158740"/>
          </a:xfrm>
          <a:prstGeom prst="rect">
            <a:avLst/>
          </a:prstGeom>
        </p:spPr>
      </p:pic>
      <p:sp>
        <p:nvSpPr>
          <p:cNvPr id="24" name="Text 15"/>
          <p:cNvSpPr txBox="1"/>
          <p:nvPr/>
        </p:nvSpPr>
        <p:spPr>
          <a:xfrm>
            <a:off x="8613648" y="4206240"/>
            <a:ext cx="3502152" cy="320040"/>
          </a:xfrm>
          <a:prstGeom prst="rect">
            <a:avLst/>
          </a:prstGeom>
          <a:noFill/>
          <a:ln/>
        </p:spPr>
        <p:txBody>
          <a:bodyPr wrap="square" lIns="0" tIns="0" rIns="0" bIns="0" rtlCol="0" anchor="ctr"/>
          <a:lstStyle/>
          <a:p>
            <a:pPr indent="0" marL="0">
              <a:buNone/>
            </a:pPr>
            <a:r>
              <a:rPr lang="en-US" sz="690" b="1" dirty="0">
                <a:solidFill>
                  <a:srgbClr val="000000"/>
                </a:solidFill>
                <a:latin typeface="Arial" pitchFamily="34" charset="0"/>
                <a:ea typeface="Arial" pitchFamily="34" charset="-122"/>
                <a:cs typeface="Arial" pitchFamily="34" charset="-120"/>
              </a:rPr>
              <a:t>Taste first: </a:t>
            </a:r>
            <a:pPr indent="0" marL="0">
              <a:buNone/>
            </a:pPr>
            <a:r>
              <a:rPr lang="en-US" sz="690" i="1" dirty="0">
                <a:solidFill>
                  <a:srgbClr val="53565A"/>
                </a:solidFill>
                <a:latin typeface="Arial" pitchFamily="34" charset="0"/>
                <a:ea typeface="Arial" pitchFamily="34" charset="-122"/>
                <a:cs typeface="Arial" pitchFamily="34" charset="-120"/>
              </a:rPr>
              <a:t>"If the taste is bad, even free... why would I buy again?" (Pooja)</a:t>
            </a:r>
            <a:endParaRPr lang="en-US" sz="690" dirty="0"/>
          </a:p>
        </p:txBody>
      </p:sp>
      <p:sp>
        <p:nvSpPr>
          <p:cNvPr id="25" name="Shape 16"/>
          <p:cNvSpPr/>
          <p:nvPr/>
        </p:nvSpPr>
        <p:spPr>
          <a:xfrm>
            <a:off x="8275320" y="4562856"/>
            <a:ext cx="283464" cy="283464"/>
          </a:xfrm>
          <a:prstGeom prst="ellipse">
            <a:avLst/>
          </a:prstGeom>
          <a:solidFill>
            <a:srgbClr val="0097A9"/>
          </a:solidFill>
          <a:ln w="12700">
            <a:solidFill>
              <a:srgbClr val="0097A9"/>
            </a:solidFill>
            <a:prstDash val="solid"/>
          </a:ln>
        </p:spPr>
      </p:sp>
      <p:pic>
        <p:nvPicPr>
          <p:cNvPr id="26" name="Image 3" descr="preencoded.png">    </p:cNvPr>
          <p:cNvPicPr>
            <a:picLocks noChangeAspect="1"/>
          </p:cNvPicPr>
          <p:nvPr/>
        </p:nvPicPr>
        <p:blipFill>
          <a:blip r:embed="rId5"/>
          <a:stretch>
            <a:fillRect/>
          </a:stretch>
        </p:blipFill>
        <p:spPr>
          <a:xfrm>
            <a:off x="8337682" y="4625218"/>
            <a:ext cx="158740" cy="158740"/>
          </a:xfrm>
          <a:prstGeom prst="rect">
            <a:avLst/>
          </a:prstGeom>
        </p:spPr>
      </p:pic>
      <p:sp>
        <p:nvSpPr>
          <p:cNvPr id="27" name="Text 17"/>
          <p:cNvSpPr txBox="1"/>
          <p:nvPr/>
        </p:nvSpPr>
        <p:spPr>
          <a:xfrm>
            <a:off x="8613648" y="4544568"/>
            <a:ext cx="3502152" cy="320040"/>
          </a:xfrm>
          <a:prstGeom prst="rect">
            <a:avLst/>
          </a:prstGeom>
          <a:noFill/>
          <a:ln/>
        </p:spPr>
        <p:txBody>
          <a:bodyPr wrap="square" lIns="0" tIns="0" rIns="0" bIns="0" rtlCol="0" anchor="ctr"/>
          <a:lstStyle/>
          <a:p>
            <a:pPr indent="0" marL="0">
              <a:buNone/>
            </a:pPr>
            <a:r>
              <a:rPr lang="en-US" sz="690" b="1" dirty="0">
                <a:solidFill>
                  <a:srgbClr val="000000"/>
                </a:solidFill>
                <a:latin typeface="Arial" pitchFamily="34" charset="0"/>
                <a:ea typeface="Arial" pitchFamily="34" charset="-122"/>
                <a:cs typeface="Arial" pitchFamily="34" charset="-120"/>
              </a:rPr>
              <a:t>Consistency: </a:t>
            </a:r>
            <a:pPr indent="0" marL="0">
              <a:buNone/>
            </a:pPr>
            <a:r>
              <a:rPr lang="en-US" sz="690" i="1" dirty="0">
                <a:solidFill>
                  <a:srgbClr val="53565A"/>
                </a:solidFill>
                <a:latin typeface="Arial" pitchFamily="34" charset="0"/>
                <a:ea typeface="Arial" pitchFamily="34" charset="-122"/>
                <a:cs typeface="Arial" pitchFamily="34" charset="-120"/>
              </a:rPr>
              <a:t>"The next one tastes different" (Neha)</a:t>
            </a:r>
            <a:endParaRPr lang="en-US" sz="690" dirty="0"/>
          </a:p>
        </p:txBody>
      </p:sp>
      <p:sp>
        <p:nvSpPr>
          <p:cNvPr id="28" name="Shape 18"/>
          <p:cNvSpPr/>
          <p:nvPr/>
        </p:nvSpPr>
        <p:spPr>
          <a:xfrm>
            <a:off x="8275320" y="4901184"/>
            <a:ext cx="283464" cy="283464"/>
          </a:xfrm>
          <a:prstGeom prst="ellipse">
            <a:avLst/>
          </a:prstGeom>
          <a:solidFill>
            <a:srgbClr val="26890D"/>
          </a:solidFill>
          <a:ln w="12700">
            <a:solidFill>
              <a:srgbClr val="26890D"/>
            </a:solidFill>
            <a:prstDash val="solid"/>
          </a:ln>
        </p:spPr>
      </p:sp>
      <p:pic>
        <p:nvPicPr>
          <p:cNvPr id="29" name="Image 4" descr="preencoded.png">    </p:cNvPr>
          <p:cNvPicPr>
            <a:picLocks noChangeAspect="1"/>
          </p:cNvPicPr>
          <p:nvPr/>
        </p:nvPicPr>
        <p:blipFill>
          <a:blip r:embed="rId6"/>
          <a:stretch>
            <a:fillRect/>
          </a:stretch>
        </p:blipFill>
        <p:spPr>
          <a:xfrm>
            <a:off x="8337682" y="4963546"/>
            <a:ext cx="158740" cy="158740"/>
          </a:xfrm>
          <a:prstGeom prst="rect">
            <a:avLst/>
          </a:prstGeom>
        </p:spPr>
      </p:pic>
      <p:sp>
        <p:nvSpPr>
          <p:cNvPr id="30" name="Text 19"/>
          <p:cNvSpPr txBox="1"/>
          <p:nvPr/>
        </p:nvSpPr>
        <p:spPr>
          <a:xfrm>
            <a:off x="8613648" y="4882896"/>
            <a:ext cx="3502152" cy="320040"/>
          </a:xfrm>
          <a:prstGeom prst="rect">
            <a:avLst/>
          </a:prstGeom>
          <a:noFill/>
          <a:ln/>
        </p:spPr>
        <p:txBody>
          <a:bodyPr wrap="square" lIns="0" tIns="0" rIns="0" bIns="0" rtlCol="0" anchor="ctr"/>
          <a:lstStyle/>
          <a:p>
            <a:pPr indent="0" marL="0">
              <a:buNone/>
            </a:pPr>
            <a:r>
              <a:rPr lang="en-US" sz="690" b="1" dirty="0">
                <a:solidFill>
                  <a:srgbClr val="000000"/>
                </a:solidFill>
                <a:latin typeface="Arial" pitchFamily="34" charset="0"/>
                <a:ea typeface="Arial" pitchFamily="34" charset="-122"/>
                <a:cs typeface="Arial" pitchFamily="34" charset="-120"/>
              </a:rPr>
              <a:t>Availability: </a:t>
            </a:r>
            <a:pPr indent="0" marL="0">
              <a:buNone/>
            </a:pPr>
            <a:r>
              <a:rPr lang="en-US" sz="690" i="1" dirty="0">
                <a:solidFill>
                  <a:srgbClr val="53565A"/>
                </a:solidFill>
                <a:latin typeface="Arial" pitchFamily="34" charset="0"/>
                <a:ea typeface="Arial" pitchFamily="34" charset="-122"/>
                <a:cs typeface="Arial" pitchFamily="34" charset="-120"/>
              </a:rPr>
              <a:t>"If I can't find it again, I'll forget about it" (Anjali)</a:t>
            </a:r>
            <a:endParaRPr lang="en-US" sz="690" dirty="0"/>
          </a:p>
        </p:txBody>
      </p:sp>
      <p:sp>
        <p:nvSpPr>
          <p:cNvPr id="31" name="Shape 20"/>
          <p:cNvSpPr/>
          <p:nvPr/>
        </p:nvSpPr>
        <p:spPr>
          <a:xfrm>
            <a:off x="8275320" y="5239512"/>
            <a:ext cx="283464" cy="283464"/>
          </a:xfrm>
          <a:prstGeom prst="ellipse">
            <a:avLst/>
          </a:prstGeom>
          <a:solidFill>
            <a:srgbClr val="0097A9"/>
          </a:solidFill>
          <a:ln w="12700">
            <a:solidFill>
              <a:srgbClr val="0097A9"/>
            </a:solidFill>
            <a:prstDash val="solid"/>
          </a:ln>
        </p:spPr>
      </p:sp>
      <p:pic>
        <p:nvPicPr>
          <p:cNvPr id="32" name="Image 5" descr="preencoded.png">    </p:cNvPr>
          <p:cNvPicPr>
            <a:picLocks noChangeAspect="1"/>
          </p:cNvPicPr>
          <p:nvPr/>
        </p:nvPicPr>
        <p:blipFill>
          <a:blip r:embed="rId7"/>
          <a:stretch>
            <a:fillRect/>
          </a:stretch>
        </p:blipFill>
        <p:spPr>
          <a:xfrm>
            <a:off x="8337682" y="5301874"/>
            <a:ext cx="158740" cy="158740"/>
          </a:xfrm>
          <a:prstGeom prst="rect">
            <a:avLst/>
          </a:prstGeom>
        </p:spPr>
      </p:pic>
      <p:sp>
        <p:nvSpPr>
          <p:cNvPr id="33" name="Text 21"/>
          <p:cNvSpPr txBox="1"/>
          <p:nvPr/>
        </p:nvSpPr>
        <p:spPr>
          <a:xfrm>
            <a:off x="8613648" y="5221224"/>
            <a:ext cx="3502152" cy="320040"/>
          </a:xfrm>
          <a:prstGeom prst="rect">
            <a:avLst/>
          </a:prstGeom>
          <a:noFill/>
          <a:ln/>
        </p:spPr>
        <p:txBody>
          <a:bodyPr wrap="square" lIns="0" tIns="0" rIns="0" bIns="0" rtlCol="0" anchor="ctr"/>
          <a:lstStyle/>
          <a:p>
            <a:pPr indent="0" marL="0">
              <a:buNone/>
            </a:pPr>
            <a:r>
              <a:rPr lang="en-US" sz="690" b="1" dirty="0">
                <a:solidFill>
                  <a:srgbClr val="000000"/>
                </a:solidFill>
                <a:latin typeface="Arial" pitchFamily="34" charset="0"/>
                <a:ea typeface="Arial" pitchFamily="34" charset="-122"/>
                <a:cs typeface="Arial" pitchFamily="34" charset="-120"/>
              </a:rPr>
              <a:t>Real convenience: </a:t>
            </a:r>
            <a:pPr indent="0" marL="0">
              <a:buNone/>
            </a:pPr>
            <a:r>
              <a:rPr lang="en-US" sz="690" i="1" dirty="0">
                <a:solidFill>
                  <a:srgbClr val="53565A"/>
                </a:solidFill>
                <a:latin typeface="Arial" pitchFamily="34" charset="0"/>
                <a:ea typeface="Arial" pitchFamily="34" charset="-122"/>
                <a:cs typeface="Arial" pitchFamily="34" charset="-120"/>
              </a:rPr>
              <a:t>Under 10 minutes or it is not convenience (FGD 2)</a:t>
            </a:r>
            <a:endParaRPr lang="en-US" sz="690" dirty="0"/>
          </a:p>
        </p:txBody>
      </p:sp>
      <p:sp>
        <p:nvSpPr>
          <p:cNvPr id="34" name="Text 22"/>
          <p:cNvSpPr txBox="1"/>
          <p:nvPr/>
        </p:nvSpPr>
        <p:spPr>
          <a:xfrm>
            <a:off x="8275320" y="5559552"/>
            <a:ext cx="3840480" cy="347472"/>
          </a:xfrm>
          <a:prstGeom prst="rect">
            <a:avLst/>
          </a:prstGeom>
          <a:noFill/>
          <a:ln/>
        </p:spPr>
        <p:txBody>
          <a:bodyPr wrap="square" lIns="0" tIns="0" rIns="0" bIns="0" rtlCol="0" anchor="ctr"/>
          <a:lstStyle/>
          <a:p>
            <a:pPr indent="0" marL="0">
              <a:buNone/>
            </a:pPr>
            <a:r>
              <a:rPr lang="en-US" sz="660" i="1" dirty="0">
                <a:solidFill>
                  <a:srgbClr val="53565A"/>
                </a:solidFill>
                <a:latin typeface="Arial" pitchFamily="34" charset="0"/>
                <a:ea typeface="Arial" pitchFamily="34" charset="-122"/>
                <a:cs typeface="Arial" pitchFamily="34" charset="-120"/>
              </a:rPr>
              <a:t>Directional only: 11 consumers, 9 active voices, aged 20-29, urban. Older homemakers and value buyers, who drive spices volume, are tested at gate 2.</a:t>
            </a:r>
            <a:endParaRPr lang="en-US" sz="660" dirty="0"/>
          </a:p>
        </p:txBody>
      </p:sp>
      <p:sp>
        <p:nvSpPr>
          <p:cNvPr id="35" name="Shape 23"/>
          <p:cNvSpPr/>
          <p:nvPr/>
        </p:nvSpPr>
        <p:spPr>
          <a:xfrm>
            <a:off x="0" y="5961888"/>
            <a:ext cx="12191695" cy="530352"/>
          </a:xfrm>
          <a:prstGeom prst="rect">
            <a:avLst/>
          </a:prstGeom>
          <a:solidFill>
            <a:srgbClr val="86BC25"/>
          </a:solidFill>
          <a:ln w="12700">
            <a:solidFill>
              <a:srgbClr val="86BC25"/>
            </a:solidFill>
            <a:prstDash val="solid"/>
          </a:ln>
        </p:spPr>
      </p:sp>
      <p:sp>
        <p:nvSpPr>
          <p:cNvPr id="36" name="Text 24"/>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The name sells the winter drink, not the masala: </a:t>
            </a:r>
            <a:pPr algn="ctr" indent="0" marL="0">
              <a:buNone/>
            </a:pPr>
            <a:r>
              <a:rPr lang="en-US" sz="1250" dirty="0">
                <a:solidFill>
                  <a:srgbClr val="000000"/>
                </a:solidFill>
                <a:latin typeface="Arial" pitchFamily="34" charset="0"/>
                <a:ea typeface="Arial" pitchFamily="34" charset="-122"/>
                <a:cs typeface="Arial" pitchFamily="34" charset="-120"/>
              </a:rPr>
              <a:t>premixes launch under Rasmitra; spices lead with 'Swaad' and prove themselves through Rs 10 trial packs.</a:t>
            </a:r>
            <a:endParaRPr lang="en-US" sz="1250" dirty="0"/>
          </a:p>
        </p:txBody>
      </p:sp>
      <p:sp>
        <p:nvSpPr>
          <p:cNvPr id="37" name="Text 25"/>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team FGD transcripts (FGD 1: young working adults; FGD 2: college students); independent consumers recruited by the team. Quotes lightly edited from Hinglish; names as given by participants.</a:t>
            </a:r>
            <a:endParaRPr lang="en-US" sz="730" dirty="0"/>
          </a:p>
        </p:txBody>
      </p:sp>
      <p:sp>
        <p:nvSpPr>
          <p:cNvPr id="38" name="Text 26"/>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7. Go-to-Market: Who Buys, Where and at What Price</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Trial happens in the kirana and on campus, discovery on quick-commerce, and every channel sells at the same price per gram</a:t>
            </a:r>
            <a:endParaRPr lang="en-US" sz="1250" dirty="0"/>
          </a:p>
        </p:txBody>
      </p:sp>
      <p:sp>
        <p:nvSpPr>
          <p:cNvPr id="6" name="Text 4"/>
          <p:cNvSpPr txBox="1"/>
          <p:nvPr/>
        </p:nvSpPr>
        <p:spPr>
          <a:xfrm>
            <a:off x="109728" y="749808"/>
            <a:ext cx="30175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Five target buyers</a:t>
            </a:r>
            <a:endParaRPr lang="en-US" sz="1100" dirty="0"/>
          </a:p>
        </p:txBody>
      </p:sp>
      <p:sp>
        <p:nvSpPr>
          <p:cNvPr id="7" name="Shape 5"/>
          <p:cNvSpPr/>
          <p:nvPr/>
        </p:nvSpPr>
        <p:spPr>
          <a:xfrm>
            <a:off x="109728" y="1005840"/>
            <a:ext cx="3017520" cy="539496"/>
          </a:xfrm>
          <a:prstGeom prst="rect">
            <a:avLst/>
          </a:prstGeom>
          <a:solidFill>
            <a:srgbClr val="F2F2F2"/>
          </a:solidFill>
          <a:ln w="12700">
            <a:solidFill>
              <a:srgbClr val="D0D0CE"/>
            </a:solidFill>
            <a:prstDash val="solid"/>
          </a:ln>
        </p:spPr>
      </p:sp>
      <p:sp>
        <p:nvSpPr>
          <p:cNvPr id="8" name="Shape 6"/>
          <p:cNvSpPr/>
          <p:nvPr/>
        </p:nvSpPr>
        <p:spPr>
          <a:xfrm>
            <a:off x="155448" y="1097280"/>
            <a:ext cx="347472" cy="347472"/>
          </a:xfrm>
          <a:prstGeom prst="ellipse">
            <a:avLst/>
          </a:prstGeom>
          <a:solidFill>
            <a:srgbClr val="26890D"/>
          </a:solidFill>
          <a:ln w="12700">
            <a:solidFill>
              <a:srgbClr val="26890D"/>
            </a:solidFill>
            <a:prstDash val="solid"/>
          </a:ln>
        </p:spPr>
      </p:sp>
      <p:pic>
        <p:nvPicPr>
          <p:cNvPr id="9" name="Image 0" descr="preencoded.png">    </p:cNvPr>
          <p:cNvPicPr>
            <a:picLocks noChangeAspect="1"/>
          </p:cNvPicPr>
          <p:nvPr/>
        </p:nvPicPr>
        <p:blipFill>
          <a:blip r:embed="rId1"/>
          <a:stretch>
            <a:fillRect/>
          </a:stretch>
        </p:blipFill>
        <p:spPr>
          <a:xfrm>
            <a:off x="231892" y="1173724"/>
            <a:ext cx="194584" cy="194584"/>
          </a:xfrm>
          <a:prstGeom prst="rect">
            <a:avLst/>
          </a:prstGeom>
        </p:spPr>
      </p:pic>
      <p:sp>
        <p:nvSpPr>
          <p:cNvPr id="10" name="Text 7"/>
          <p:cNvSpPr txBox="1"/>
          <p:nvPr/>
        </p:nvSpPr>
        <p:spPr>
          <a:xfrm>
            <a:off x="566928" y="1005840"/>
            <a:ext cx="2532888" cy="539496"/>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Homemaker, 35-50</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Spices bought on habit; switches on purity and word of mouth</a:t>
            </a:r>
            <a:endParaRPr lang="en-US" sz="700" dirty="0"/>
          </a:p>
          <a:p>
            <a:pPr indent="0" marL="0">
              <a:buNone/>
            </a:pPr>
            <a:r>
              <a:rPr lang="en-US" sz="700" b="1" dirty="0">
                <a:solidFill>
                  <a:srgbClr val="046A38"/>
                </a:solidFill>
                <a:latin typeface="Arial" pitchFamily="34" charset="0"/>
                <a:ea typeface="Arial" pitchFamily="34" charset="-122"/>
                <a:cs typeface="Arial" pitchFamily="34" charset="-120"/>
              </a:rPr>
              <a:t>Rs 49 spice pouch | kirana</a:t>
            </a:r>
            <a:endParaRPr lang="en-US" sz="700" dirty="0"/>
          </a:p>
        </p:txBody>
      </p:sp>
      <p:sp>
        <p:nvSpPr>
          <p:cNvPr id="11" name="Shape 8"/>
          <p:cNvSpPr/>
          <p:nvPr/>
        </p:nvSpPr>
        <p:spPr>
          <a:xfrm>
            <a:off x="109728" y="1591056"/>
            <a:ext cx="3017520" cy="539496"/>
          </a:xfrm>
          <a:prstGeom prst="rect">
            <a:avLst/>
          </a:prstGeom>
          <a:solidFill>
            <a:srgbClr val="F2F2F2"/>
          </a:solidFill>
          <a:ln w="12700">
            <a:solidFill>
              <a:srgbClr val="D0D0CE"/>
            </a:solidFill>
            <a:prstDash val="solid"/>
          </a:ln>
        </p:spPr>
      </p:sp>
      <p:sp>
        <p:nvSpPr>
          <p:cNvPr id="12" name="Shape 9"/>
          <p:cNvSpPr/>
          <p:nvPr/>
        </p:nvSpPr>
        <p:spPr>
          <a:xfrm>
            <a:off x="155448" y="1682496"/>
            <a:ext cx="347472" cy="347472"/>
          </a:xfrm>
          <a:prstGeom prst="ellipse">
            <a:avLst/>
          </a:prstGeom>
          <a:solidFill>
            <a:srgbClr val="26890D"/>
          </a:solidFill>
          <a:ln w="12700">
            <a:solidFill>
              <a:srgbClr val="26890D"/>
            </a:solidFill>
            <a:prstDash val="solid"/>
          </a:ln>
        </p:spPr>
      </p:sp>
      <p:pic>
        <p:nvPicPr>
          <p:cNvPr id="13" name="Image 1" descr="preencoded.png">    </p:cNvPr>
          <p:cNvPicPr>
            <a:picLocks noChangeAspect="1"/>
          </p:cNvPicPr>
          <p:nvPr/>
        </p:nvPicPr>
        <p:blipFill>
          <a:blip r:embed="rId2"/>
          <a:stretch>
            <a:fillRect/>
          </a:stretch>
        </p:blipFill>
        <p:spPr>
          <a:xfrm>
            <a:off x="231892" y="1758940"/>
            <a:ext cx="194584" cy="194584"/>
          </a:xfrm>
          <a:prstGeom prst="rect">
            <a:avLst/>
          </a:prstGeom>
        </p:spPr>
      </p:pic>
      <p:sp>
        <p:nvSpPr>
          <p:cNvPr id="14" name="Text 10"/>
          <p:cNvSpPr txBox="1"/>
          <p:nvPr/>
        </p:nvSpPr>
        <p:spPr>
          <a:xfrm>
            <a:off x="566928" y="1591056"/>
            <a:ext cx="2532888" cy="539496"/>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Value kirana buyer, 35-55</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Rs 10-20 packs; listens to the retailer</a:t>
            </a:r>
            <a:endParaRPr lang="en-US" sz="700" dirty="0"/>
          </a:p>
          <a:p>
            <a:pPr indent="0" marL="0">
              <a:buNone/>
            </a:pPr>
            <a:r>
              <a:rPr lang="en-US" sz="700" b="1" dirty="0">
                <a:solidFill>
                  <a:srgbClr val="046A38"/>
                </a:solidFill>
                <a:latin typeface="Arial" pitchFamily="34" charset="0"/>
                <a:ea typeface="Arial" pitchFamily="34" charset="-122"/>
                <a:cs typeface="Arial" pitchFamily="34" charset="-120"/>
              </a:rPr>
              <a:t>Rs 10 trial | kirana</a:t>
            </a:r>
            <a:endParaRPr lang="en-US" sz="700" dirty="0"/>
          </a:p>
        </p:txBody>
      </p:sp>
      <p:sp>
        <p:nvSpPr>
          <p:cNvPr id="15" name="Shape 11"/>
          <p:cNvSpPr/>
          <p:nvPr/>
        </p:nvSpPr>
        <p:spPr>
          <a:xfrm>
            <a:off x="109728" y="2176272"/>
            <a:ext cx="3017520" cy="539496"/>
          </a:xfrm>
          <a:prstGeom prst="rect">
            <a:avLst/>
          </a:prstGeom>
          <a:solidFill>
            <a:srgbClr val="F2F2F2"/>
          </a:solidFill>
          <a:ln w="12700">
            <a:solidFill>
              <a:srgbClr val="D0D0CE"/>
            </a:solidFill>
            <a:prstDash val="solid"/>
          </a:ln>
        </p:spPr>
      </p:sp>
      <p:sp>
        <p:nvSpPr>
          <p:cNvPr id="16" name="Shape 12"/>
          <p:cNvSpPr/>
          <p:nvPr/>
        </p:nvSpPr>
        <p:spPr>
          <a:xfrm>
            <a:off x="155448" y="2267712"/>
            <a:ext cx="347472" cy="347472"/>
          </a:xfrm>
          <a:prstGeom prst="ellipse">
            <a:avLst/>
          </a:prstGeom>
          <a:solidFill>
            <a:srgbClr val="0097A9"/>
          </a:solidFill>
          <a:ln w="12700">
            <a:solidFill>
              <a:srgbClr val="0097A9"/>
            </a:solidFill>
            <a:prstDash val="solid"/>
          </a:ln>
        </p:spPr>
      </p:sp>
      <p:pic>
        <p:nvPicPr>
          <p:cNvPr id="17" name="Image 2" descr="preencoded.png">    </p:cNvPr>
          <p:cNvPicPr>
            <a:picLocks noChangeAspect="1"/>
          </p:cNvPicPr>
          <p:nvPr/>
        </p:nvPicPr>
        <p:blipFill>
          <a:blip r:embed="rId3"/>
          <a:stretch>
            <a:fillRect/>
          </a:stretch>
        </p:blipFill>
        <p:spPr>
          <a:xfrm>
            <a:off x="231892" y="2344156"/>
            <a:ext cx="194584" cy="194584"/>
          </a:xfrm>
          <a:prstGeom prst="rect">
            <a:avLst/>
          </a:prstGeom>
        </p:spPr>
      </p:pic>
      <p:sp>
        <p:nvSpPr>
          <p:cNvPr id="18" name="Text 13"/>
          <p:cNvSpPr txBox="1"/>
          <p:nvPr/>
        </p:nvSpPr>
        <p:spPr>
          <a:xfrm>
            <a:off x="566928" y="2176272"/>
            <a:ext cx="2532888" cy="539496"/>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Student / hostel, 19-24</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Ginger tea in winter; one sachet at a time</a:t>
            </a:r>
            <a:endParaRPr lang="en-US" sz="700" dirty="0"/>
          </a:p>
          <a:p>
            <a:pPr indent="0" marL="0">
              <a:buNone/>
            </a:pPr>
            <a:r>
              <a:rPr lang="en-US" sz="700" b="1" dirty="0">
                <a:solidFill>
                  <a:srgbClr val="046A38"/>
                </a:solidFill>
                <a:latin typeface="Arial" pitchFamily="34" charset="0"/>
                <a:ea typeface="Arial" pitchFamily="34" charset="-122"/>
                <a:cs typeface="Arial" pitchFamily="34" charset="-120"/>
              </a:rPr>
              <a:t>Rs 10 sachet | campus store</a:t>
            </a:r>
            <a:endParaRPr lang="en-US" sz="700" dirty="0"/>
          </a:p>
        </p:txBody>
      </p:sp>
      <p:sp>
        <p:nvSpPr>
          <p:cNvPr id="19" name="Shape 14"/>
          <p:cNvSpPr/>
          <p:nvPr/>
        </p:nvSpPr>
        <p:spPr>
          <a:xfrm>
            <a:off x="109728" y="2761488"/>
            <a:ext cx="3017520" cy="539496"/>
          </a:xfrm>
          <a:prstGeom prst="rect">
            <a:avLst/>
          </a:prstGeom>
          <a:solidFill>
            <a:srgbClr val="F2F2F2"/>
          </a:solidFill>
          <a:ln w="12700">
            <a:solidFill>
              <a:srgbClr val="D0D0CE"/>
            </a:solidFill>
            <a:prstDash val="solid"/>
          </a:ln>
        </p:spPr>
      </p:sp>
      <p:sp>
        <p:nvSpPr>
          <p:cNvPr id="20" name="Shape 15"/>
          <p:cNvSpPr/>
          <p:nvPr/>
        </p:nvSpPr>
        <p:spPr>
          <a:xfrm>
            <a:off x="155448" y="2852928"/>
            <a:ext cx="347472" cy="347472"/>
          </a:xfrm>
          <a:prstGeom prst="ellipse">
            <a:avLst/>
          </a:prstGeom>
          <a:solidFill>
            <a:srgbClr val="0097A9"/>
          </a:solidFill>
          <a:ln w="12700">
            <a:solidFill>
              <a:srgbClr val="0097A9"/>
            </a:solidFill>
            <a:prstDash val="solid"/>
          </a:ln>
        </p:spPr>
      </p:sp>
      <p:pic>
        <p:nvPicPr>
          <p:cNvPr id="21" name="Image 3" descr="preencoded.png">    </p:cNvPr>
          <p:cNvPicPr>
            <a:picLocks noChangeAspect="1"/>
          </p:cNvPicPr>
          <p:nvPr/>
        </p:nvPicPr>
        <p:blipFill>
          <a:blip r:embed="rId4"/>
          <a:stretch>
            <a:fillRect/>
          </a:stretch>
        </p:blipFill>
        <p:spPr>
          <a:xfrm>
            <a:off x="231892" y="2929372"/>
            <a:ext cx="194584" cy="194584"/>
          </a:xfrm>
          <a:prstGeom prst="rect">
            <a:avLst/>
          </a:prstGeom>
        </p:spPr>
      </p:pic>
      <p:sp>
        <p:nvSpPr>
          <p:cNvPr id="22" name="Text 16"/>
          <p:cNvSpPr txBox="1"/>
          <p:nvPr/>
        </p:nvSpPr>
        <p:spPr>
          <a:xfrm>
            <a:off x="566928" y="2761488"/>
            <a:ext cx="2532888" cy="539496"/>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Young independent, 23-30</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Finds on reels and Q-com, buys nearby</a:t>
            </a:r>
            <a:endParaRPr lang="en-US" sz="700" dirty="0"/>
          </a:p>
          <a:p>
            <a:pPr indent="0" marL="0">
              <a:buNone/>
            </a:pPr>
            <a:r>
              <a:rPr lang="en-US" sz="700" b="1" dirty="0">
                <a:solidFill>
                  <a:srgbClr val="046A38"/>
                </a:solidFill>
                <a:latin typeface="Arial" pitchFamily="34" charset="0"/>
                <a:ea typeface="Arial" pitchFamily="34" charset="-122"/>
                <a:cs typeface="Arial" pitchFamily="34" charset="-120"/>
              </a:rPr>
              <a:t>Rs 99 pack | Q-com, kirana</a:t>
            </a:r>
            <a:endParaRPr lang="en-US" sz="700" dirty="0"/>
          </a:p>
        </p:txBody>
      </p:sp>
      <p:sp>
        <p:nvSpPr>
          <p:cNvPr id="23" name="Shape 17"/>
          <p:cNvSpPr/>
          <p:nvPr/>
        </p:nvSpPr>
        <p:spPr>
          <a:xfrm>
            <a:off x="109728" y="3346704"/>
            <a:ext cx="3017520" cy="539496"/>
          </a:xfrm>
          <a:prstGeom prst="rect">
            <a:avLst/>
          </a:prstGeom>
          <a:solidFill>
            <a:srgbClr val="F2F2F2"/>
          </a:solidFill>
          <a:ln w="12700">
            <a:solidFill>
              <a:srgbClr val="D0D0CE"/>
            </a:solidFill>
            <a:prstDash val="solid"/>
          </a:ln>
        </p:spPr>
      </p:sp>
      <p:sp>
        <p:nvSpPr>
          <p:cNvPr id="24" name="Shape 18"/>
          <p:cNvSpPr/>
          <p:nvPr/>
        </p:nvSpPr>
        <p:spPr>
          <a:xfrm>
            <a:off x="155448" y="3438144"/>
            <a:ext cx="347472" cy="347472"/>
          </a:xfrm>
          <a:prstGeom prst="ellipse">
            <a:avLst/>
          </a:prstGeom>
          <a:solidFill>
            <a:srgbClr val="0097A9"/>
          </a:solidFill>
          <a:ln w="12700">
            <a:solidFill>
              <a:srgbClr val="0097A9"/>
            </a:solidFill>
            <a:prstDash val="solid"/>
          </a:ln>
        </p:spPr>
      </p:sp>
      <p:pic>
        <p:nvPicPr>
          <p:cNvPr id="25" name="Image 4" descr="preencoded.png">    </p:cNvPr>
          <p:cNvPicPr>
            <a:picLocks noChangeAspect="1"/>
          </p:cNvPicPr>
          <p:nvPr/>
        </p:nvPicPr>
        <p:blipFill>
          <a:blip r:embed="rId5"/>
          <a:stretch>
            <a:fillRect/>
          </a:stretch>
        </p:blipFill>
        <p:spPr>
          <a:xfrm>
            <a:off x="231892" y="3514588"/>
            <a:ext cx="194584" cy="194584"/>
          </a:xfrm>
          <a:prstGeom prst="rect">
            <a:avLst/>
          </a:prstGeom>
        </p:spPr>
      </p:pic>
      <p:sp>
        <p:nvSpPr>
          <p:cNvPr id="26" name="Text 19"/>
          <p:cNvSpPr txBox="1"/>
          <p:nvPr/>
        </p:nvSpPr>
        <p:spPr>
          <a:xfrm>
            <a:off x="566928" y="3346704"/>
            <a:ext cx="2532888" cy="539496"/>
          </a:xfrm>
          <a:prstGeom prst="rect">
            <a:avLst/>
          </a:prstGeom>
          <a:noFill/>
          <a:ln/>
        </p:spPr>
        <p:txBody>
          <a:bodyPr wrap="square" lIns="0" tIns="0" rIns="0" bIns="0" rtlCol="0" anchor="ctr"/>
          <a:lstStyle/>
          <a:p>
            <a:pPr indent="0" marL="0">
              <a:buNone/>
            </a:pPr>
            <a:r>
              <a:rPr lang="en-US" sz="700" b="1" dirty="0">
                <a:solidFill>
                  <a:srgbClr val="000000"/>
                </a:solidFill>
                <a:latin typeface="Arial" pitchFamily="34" charset="0"/>
                <a:ea typeface="Arial" pitchFamily="34" charset="-122"/>
                <a:cs typeface="Arial" pitchFamily="34" charset="-120"/>
              </a:rPr>
              <a:t>Working professional, 27-38</a:t>
            </a:r>
            <a:endParaRPr lang="en-US" sz="700" dirty="0"/>
          </a:p>
          <a:p>
            <a:pPr indent="0" marL="0">
              <a:buNone/>
            </a:pPr>
            <a:r>
              <a:rPr lang="en-US" sz="700" dirty="0">
                <a:solidFill>
                  <a:srgbClr val="53565A"/>
                </a:solidFill>
                <a:latin typeface="Arial" pitchFamily="34" charset="0"/>
                <a:ea typeface="Arial" pitchFamily="34" charset="-122"/>
                <a:cs typeface="Arial" pitchFamily="34" charset="-120"/>
              </a:rPr>
              <a:t>Low-sugar premix for the office</a:t>
            </a:r>
            <a:endParaRPr lang="en-US" sz="700" dirty="0"/>
          </a:p>
          <a:p>
            <a:pPr indent="0" marL="0">
              <a:buNone/>
            </a:pPr>
            <a:r>
              <a:rPr lang="en-US" sz="700" b="1" dirty="0">
                <a:solidFill>
                  <a:srgbClr val="046A38"/>
                </a:solidFill>
                <a:latin typeface="Arial" pitchFamily="34" charset="0"/>
                <a:ea typeface="Arial" pitchFamily="34" charset="-122"/>
                <a:cs typeface="Arial" pitchFamily="34" charset="-120"/>
              </a:rPr>
              <a:t>Rs 99 low-sugar | MT, Q-com</a:t>
            </a:r>
            <a:endParaRPr lang="en-US" sz="700" dirty="0"/>
          </a:p>
        </p:txBody>
      </p:sp>
      <p:sp>
        <p:nvSpPr>
          <p:cNvPr id="27" name="Text 20"/>
          <p:cNvSpPr txBox="1"/>
          <p:nvPr/>
        </p:nvSpPr>
        <p:spPr>
          <a:xfrm>
            <a:off x="3291840" y="749808"/>
            <a:ext cx="54864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Channel architecture: how GT and quick-commerce coexist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91840" y="1005840"/>
          <a:ext cx="5486400" cy="914400"/>
        </p:xfrm>
        <a:graphic>
          <a:graphicData uri="http://schemas.openxmlformats.org/drawingml/2006/table">
            <a:tbl>
              <a:tblPr/>
              <a:tblGrid>
                <a:gridCol w="1234440"/>
                <a:gridCol w="1325880"/>
                <a:gridCol w="1600200"/>
                <a:gridCol w="132588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Lever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General trade (78.5%)</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Quick-commerce (10.9%)</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Modern trade (10.6%)</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Role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Trial and volume, Regions 1-4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Discovery, metros, students/PGs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Visibility, winter gondolas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Packs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Rs 10 trial + Rs 49/99 regular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Rs 49/99 regular only; no trial packs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Regular packs; winter bundles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Price rule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MRP per gram is the anchor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Per-gram price within +/-5% of GT, platform discounts included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Per-gram parity</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Who services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390 distributors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Same distributors to dark stores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Distributor / key accounts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Partner margin / trade spend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25% / 6.5% (Exh. 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38% / 24% (Exh. 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28% / 14% (Exh. 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Credit days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21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32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45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Contribution, regular pack</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b="1" dirty="0">
                          <a:solidFill>
                            <a:srgbClr val="046A38"/>
                          </a:solidFill>
                          <a:latin typeface="Arial" pitchFamily="34" charset="0"/>
                          <a:ea typeface="Arial" pitchFamily="34" charset="-122"/>
                          <a:cs typeface="Arial" pitchFamily="34" charset="-120"/>
                        </a:rPr>
                        <a:t>27-33%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b="1" dirty="0">
                          <a:solidFill>
                            <a:srgbClr val="C0392B"/>
                          </a:solidFill>
                          <a:latin typeface="Arial" pitchFamily="34" charset="0"/>
                          <a:ea typeface="Arial" pitchFamily="34" charset="-122"/>
                          <a:cs typeface="Arial" pitchFamily="34" charset="-120"/>
                        </a:rPr>
                        <a:t>-8% to +1%: brand channel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15-22%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29" name="Text 21"/>
          <p:cNvSpPr txBox="1"/>
          <p:nvPr/>
        </p:nvSpPr>
        <p:spPr>
          <a:xfrm>
            <a:off x="8961120" y="749808"/>
            <a:ext cx="31546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FY24 new-line sales by channel</a:t>
            </a:r>
            <a:endParaRPr lang="en-US" sz="1100" dirty="0"/>
          </a:p>
        </p:txBody>
      </p:sp>
      <p:graphicFrame>
        <p:nvGraphicFramePr>
          <p:cNvPr id="30" name="Chart 0" descr=""/>
          <p:cNvGraphicFramePr/>
          <p:nvPr/>
        </p:nvGraphicFramePr>
        <p:xfrm>
          <a:off x="8961120" y="960120"/>
          <a:ext cx="1783080" cy="1783080"/>
        </p:xfrm>
        <a:graphic xmlns:a="http://schemas.openxmlformats.org/drawingml/2006/main">
          <a:graphicData uri="http://schemas.openxmlformats.org/drawingml/2006/chart">
            <c:chart xmlns:c="http://schemas.openxmlformats.org/drawingml/2006/chart" r:id="rId6"/>
          </a:graphicData>
        </a:graphic>
      </p:graphicFrame>
      <p:sp>
        <p:nvSpPr>
          <p:cNvPr id="31" name="Text 22"/>
          <p:cNvSpPr txBox="1"/>
          <p:nvPr/>
        </p:nvSpPr>
        <p:spPr>
          <a:xfrm>
            <a:off x="9326880" y="1691640"/>
            <a:ext cx="1051560" cy="310896"/>
          </a:xfrm>
          <a:prstGeom prst="rect">
            <a:avLst/>
          </a:prstGeom>
          <a:noFill/>
          <a:ln/>
        </p:spPr>
        <p:txBody>
          <a:bodyPr wrap="square" lIns="0" tIns="0" rIns="0" bIns="0" rtlCol="0" anchor="ctr"/>
          <a:lstStyle/>
          <a:p>
            <a:pPr algn="ctr" indent="0" marL="0">
              <a:buNone/>
            </a:pPr>
            <a:r>
              <a:rPr lang="en-US" sz="900" b="1" dirty="0">
                <a:solidFill>
                  <a:srgbClr val="000000"/>
                </a:solidFill>
                <a:latin typeface="Arial" pitchFamily="34" charset="0"/>
                <a:ea typeface="Arial" pitchFamily="34" charset="-122"/>
                <a:cs typeface="Arial" pitchFamily="34" charset="-120"/>
              </a:rPr>
              <a:t>Rs 108.5 Cr</a:t>
            </a:r>
            <a:endParaRPr lang="en-US" sz="900" dirty="0"/>
          </a:p>
        </p:txBody>
      </p:sp>
      <p:sp>
        <p:nvSpPr>
          <p:cNvPr id="32" name="Shape 23"/>
          <p:cNvSpPr/>
          <p:nvPr/>
        </p:nvSpPr>
        <p:spPr>
          <a:xfrm>
            <a:off x="10835640" y="1188720"/>
            <a:ext cx="137160" cy="137160"/>
          </a:xfrm>
          <a:prstGeom prst="rect">
            <a:avLst/>
          </a:prstGeom>
          <a:solidFill>
            <a:srgbClr val="046A38"/>
          </a:solidFill>
          <a:ln w="12700">
            <a:solidFill>
              <a:srgbClr val="046A38"/>
            </a:solidFill>
            <a:prstDash val="solid"/>
          </a:ln>
        </p:spPr>
      </p:sp>
      <p:sp>
        <p:nvSpPr>
          <p:cNvPr id="33" name="Text 24"/>
          <p:cNvSpPr txBox="1"/>
          <p:nvPr/>
        </p:nvSpPr>
        <p:spPr>
          <a:xfrm>
            <a:off x="11018520" y="1133856"/>
            <a:ext cx="1097280" cy="246888"/>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78.5%  General trade</a:t>
            </a:r>
            <a:endParaRPr lang="en-US" sz="700" dirty="0"/>
          </a:p>
        </p:txBody>
      </p:sp>
      <p:sp>
        <p:nvSpPr>
          <p:cNvPr id="34" name="Shape 25"/>
          <p:cNvSpPr/>
          <p:nvPr/>
        </p:nvSpPr>
        <p:spPr>
          <a:xfrm>
            <a:off x="10835640" y="1463040"/>
            <a:ext cx="137160" cy="137160"/>
          </a:xfrm>
          <a:prstGeom prst="rect">
            <a:avLst/>
          </a:prstGeom>
          <a:solidFill>
            <a:srgbClr val="86BC25"/>
          </a:solidFill>
          <a:ln w="12700">
            <a:solidFill>
              <a:srgbClr val="86BC25"/>
            </a:solidFill>
            <a:prstDash val="solid"/>
          </a:ln>
        </p:spPr>
      </p:sp>
      <p:sp>
        <p:nvSpPr>
          <p:cNvPr id="35" name="Text 26"/>
          <p:cNvSpPr txBox="1"/>
          <p:nvPr/>
        </p:nvSpPr>
        <p:spPr>
          <a:xfrm>
            <a:off x="11018520" y="1408176"/>
            <a:ext cx="1097280" cy="246888"/>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10.9%  Quick-commerce</a:t>
            </a:r>
            <a:endParaRPr lang="en-US" sz="700" dirty="0"/>
          </a:p>
        </p:txBody>
      </p:sp>
      <p:sp>
        <p:nvSpPr>
          <p:cNvPr id="36" name="Shape 27"/>
          <p:cNvSpPr/>
          <p:nvPr/>
        </p:nvSpPr>
        <p:spPr>
          <a:xfrm>
            <a:off x="10835640" y="1737360"/>
            <a:ext cx="137160" cy="137160"/>
          </a:xfrm>
          <a:prstGeom prst="rect">
            <a:avLst/>
          </a:prstGeom>
          <a:solidFill>
            <a:srgbClr val="53565A"/>
          </a:solidFill>
          <a:ln w="12700">
            <a:solidFill>
              <a:srgbClr val="53565A"/>
            </a:solidFill>
            <a:prstDash val="solid"/>
          </a:ln>
        </p:spPr>
      </p:sp>
      <p:sp>
        <p:nvSpPr>
          <p:cNvPr id="37" name="Text 28"/>
          <p:cNvSpPr txBox="1"/>
          <p:nvPr/>
        </p:nvSpPr>
        <p:spPr>
          <a:xfrm>
            <a:off x="11018520" y="1682496"/>
            <a:ext cx="1097280" cy="246888"/>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10.6%  Modern trade</a:t>
            </a:r>
            <a:endParaRPr lang="en-US" sz="700" dirty="0"/>
          </a:p>
        </p:txBody>
      </p:sp>
      <p:sp>
        <p:nvSpPr>
          <p:cNvPr id="38" name="Text 29"/>
          <p:cNvSpPr txBox="1"/>
          <p:nvPr/>
        </p:nvSpPr>
        <p:spPr>
          <a:xfrm>
            <a:off x="8961120" y="2724912"/>
            <a:ext cx="3154680" cy="274320"/>
          </a:xfrm>
          <a:prstGeom prst="rect">
            <a:avLst/>
          </a:prstGeom>
          <a:noFill/>
          <a:ln/>
        </p:spPr>
        <p:txBody>
          <a:bodyPr wrap="square" lIns="0" tIns="0" rIns="0" bIns="0" rtlCol="0" anchor="ctr"/>
          <a:lstStyle/>
          <a:p>
            <a:pPr indent="0" marL="0">
              <a:buNone/>
            </a:pPr>
            <a:r>
              <a:rPr lang="en-US" sz="680" i="1" dirty="0">
                <a:solidFill>
                  <a:srgbClr val="53565A"/>
                </a:solidFill>
                <a:latin typeface="Arial" pitchFamily="34" charset="0"/>
                <a:ea typeface="Arial" pitchFamily="34" charset="-122"/>
                <a:cs typeface="Arial" pitchFamily="34" charset="-120"/>
              </a:rPr>
              <a:t>Exhibit 6: 79% through GT fixes the jam failure (MT-only, no pull).</a:t>
            </a:r>
            <a:endParaRPr lang="en-US" sz="680" dirty="0"/>
          </a:p>
        </p:txBody>
      </p:sp>
      <p:sp>
        <p:nvSpPr>
          <p:cNvPr id="39" name="Text 30"/>
          <p:cNvSpPr txBox="1"/>
          <p:nvPr/>
        </p:nvSpPr>
        <p:spPr>
          <a:xfrm>
            <a:off x="109728" y="3977640"/>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Distribution expansion: numeric distribution</a:t>
            </a:r>
            <a:endParaRPr lang="en-US" sz="1100" dirty="0"/>
          </a:p>
        </p:txBody>
      </p:sp>
      <p:graphicFrame>
        <p:nvGraphicFramePr>
          <p:cNvPr id="40" name="Chart 1" descr=""/>
          <p:cNvGraphicFramePr/>
          <p:nvPr/>
        </p:nvGraphicFramePr>
        <p:xfrm>
          <a:off x="109728" y="4187952"/>
          <a:ext cx="3931920" cy="1737360"/>
        </p:xfrm>
        <a:graphic xmlns:a="http://schemas.openxmlformats.org/drawingml/2006/main">
          <a:graphicData uri="http://schemas.openxmlformats.org/drawingml/2006/chart">
            <c:chart xmlns:c="http://schemas.openxmlformats.org/drawingml/2006/chart" r:id="rId7"/>
          </a:graphicData>
        </a:graphic>
      </p:graphicFrame>
      <p:sp>
        <p:nvSpPr>
          <p:cNvPr id="41" name="Text 31"/>
          <p:cNvSpPr txBox="1"/>
          <p:nvPr/>
        </p:nvSpPr>
        <p:spPr>
          <a:xfrm>
            <a:off x="4206240" y="3108960"/>
            <a:ext cx="45720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One price per gram, everywhere</a:t>
            </a:r>
            <a:endParaRPr lang="en-US" sz="1100" dirty="0"/>
          </a:p>
        </p:txBody>
      </p:sp>
      <p:sp>
        <p:nvSpPr>
          <p:cNvPr id="42" name="Shape 32"/>
          <p:cNvSpPr/>
          <p:nvPr/>
        </p:nvSpPr>
        <p:spPr>
          <a:xfrm>
            <a:off x="4206240" y="3364992"/>
            <a:ext cx="1463040" cy="1143000"/>
          </a:xfrm>
          <a:prstGeom prst="rect">
            <a:avLst/>
          </a:prstGeom>
          <a:solidFill>
            <a:srgbClr val="FFFFFF"/>
          </a:solidFill>
          <a:ln w="12700">
            <a:solidFill>
              <a:srgbClr val="046A38"/>
            </a:solidFill>
            <a:prstDash val="solid"/>
          </a:ln>
        </p:spPr>
      </p:sp>
      <p:sp>
        <p:nvSpPr>
          <p:cNvPr id="43" name="Shape 33"/>
          <p:cNvSpPr/>
          <p:nvPr/>
        </p:nvSpPr>
        <p:spPr>
          <a:xfrm>
            <a:off x="4754880" y="3410712"/>
            <a:ext cx="365760" cy="365760"/>
          </a:xfrm>
          <a:prstGeom prst="ellipse">
            <a:avLst/>
          </a:prstGeom>
          <a:solidFill>
            <a:srgbClr val="046A38"/>
          </a:solidFill>
          <a:ln w="12700">
            <a:solidFill>
              <a:srgbClr val="046A38"/>
            </a:solidFill>
            <a:prstDash val="solid"/>
          </a:ln>
        </p:spPr>
      </p:sp>
      <p:pic>
        <p:nvPicPr>
          <p:cNvPr id="44" name="Image 5" descr="preencoded.png">    </p:cNvPr>
          <p:cNvPicPr>
            <a:picLocks noChangeAspect="1"/>
          </p:cNvPicPr>
          <p:nvPr/>
        </p:nvPicPr>
        <p:blipFill>
          <a:blip r:embed="rId8"/>
          <a:stretch>
            <a:fillRect/>
          </a:stretch>
        </p:blipFill>
        <p:spPr>
          <a:xfrm>
            <a:off x="4835347" y="3491179"/>
            <a:ext cx="204826" cy="204826"/>
          </a:xfrm>
          <a:prstGeom prst="rect">
            <a:avLst/>
          </a:prstGeom>
        </p:spPr>
      </p:pic>
      <p:sp>
        <p:nvSpPr>
          <p:cNvPr id="45" name="Text 34"/>
          <p:cNvSpPr txBox="1"/>
          <p:nvPr/>
        </p:nvSpPr>
        <p:spPr>
          <a:xfrm>
            <a:off x="4251960" y="3794760"/>
            <a:ext cx="1371600" cy="685800"/>
          </a:xfrm>
          <a:prstGeom prst="rect">
            <a:avLst/>
          </a:prstGeom>
          <a:noFill/>
          <a:ln/>
        </p:spPr>
        <p:txBody>
          <a:bodyPr wrap="square" lIns="0" tIns="0" rIns="0" bIns="0" rtlCol="0" anchor="ctr"/>
          <a:lstStyle/>
          <a:p>
            <a:pPr algn="ctr" indent="0" marL="0">
              <a:buNone/>
            </a:pPr>
            <a:r>
              <a:rPr lang="en-US" sz="720" b="1" dirty="0">
                <a:solidFill>
                  <a:srgbClr val="000000"/>
                </a:solidFill>
                <a:latin typeface="Arial" pitchFamily="34" charset="0"/>
                <a:ea typeface="Arial" pitchFamily="34" charset="-122"/>
                <a:cs typeface="Arial" pitchFamily="34" charset="-120"/>
              </a:rPr>
              <a:t>Kirana (GT)</a:t>
            </a:r>
            <a:endParaRPr lang="en-US" sz="720" dirty="0"/>
          </a:p>
          <a:p>
            <a:pPr algn="ctr" indent="0" marL="0">
              <a:buNone/>
            </a:pPr>
            <a:r>
              <a:rPr lang="en-US" sz="720" dirty="0">
                <a:solidFill>
                  <a:srgbClr val="53565A"/>
                </a:solidFill>
                <a:latin typeface="Arial" pitchFamily="34" charset="0"/>
                <a:ea typeface="Arial" pitchFamily="34" charset="-122"/>
                <a:cs typeface="Arial" pitchFamily="34" charset="-120"/>
              </a:rPr>
              <a:t>Sabzi 50g at Rs 49</a:t>
            </a:r>
            <a:endParaRPr lang="en-US" sz="720" dirty="0"/>
          </a:p>
          <a:p>
            <a:pPr algn="ctr" indent="0" marL="0">
              <a:buNone/>
            </a:pPr>
            <a:r>
              <a:rPr lang="en-US" sz="720" b="1" dirty="0">
                <a:solidFill>
                  <a:srgbClr val="046A38"/>
                </a:solidFill>
                <a:latin typeface="Arial" pitchFamily="34" charset="0"/>
                <a:ea typeface="Arial" pitchFamily="34" charset="-122"/>
                <a:cs typeface="Arial" pitchFamily="34" charset="-120"/>
              </a:rPr>
              <a:t>Rs 0.98 per g</a:t>
            </a:r>
            <a:endParaRPr lang="en-US" sz="720" dirty="0"/>
          </a:p>
        </p:txBody>
      </p:sp>
      <p:sp>
        <p:nvSpPr>
          <p:cNvPr id="46" name="Shape 35"/>
          <p:cNvSpPr/>
          <p:nvPr/>
        </p:nvSpPr>
        <p:spPr>
          <a:xfrm>
            <a:off x="5669280" y="3931920"/>
            <a:ext cx="91440" cy="0"/>
          </a:xfrm>
          <a:prstGeom prst="line">
            <a:avLst/>
          </a:prstGeom>
          <a:noFill/>
          <a:ln w="15875">
            <a:solidFill>
              <a:srgbClr val="53565A"/>
            </a:solidFill>
            <a:prstDash val="solid"/>
            <a:tailEnd type="triangle"/>
          </a:ln>
        </p:spPr>
      </p:sp>
      <p:sp>
        <p:nvSpPr>
          <p:cNvPr id="47" name="Shape 36"/>
          <p:cNvSpPr/>
          <p:nvPr/>
        </p:nvSpPr>
        <p:spPr>
          <a:xfrm>
            <a:off x="5760720" y="3364992"/>
            <a:ext cx="1463040" cy="1143000"/>
          </a:xfrm>
          <a:prstGeom prst="rect">
            <a:avLst/>
          </a:prstGeom>
          <a:solidFill>
            <a:srgbClr val="FFFFFF"/>
          </a:solidFill>
          <a:ln w="12700">
            <a:solidFill>
              <a:srgbClr val="86BC25"/>
            </a:solidFill>
            <a:prstDash val="solid"/>
          </a:ln>
        </p:spPr>
      </p:sp>
      <p:sp>
        <p:nvSpPr>
          <p:cNvPr id="48" name="Shape 37"/>
          <p:cNvSpPr/>
          <p:nvPr/>
        </p:nvSpPr>
        <p:spPr>
          <a:xfrm>
            <a:off x="6309360" y="3410712"/>
            <a:ext cx="365760" cy="365760"/>
          </a:xfrm>
          <a:prstGeom prst="ellipse">
            <a:avLst/>
          </a:prstGeom>
          <a:solidFill>
            <a:srgbClr val="86BC25"/>
          </a:solidFill>
          <a:ln w="12700">
            <a:solidFill>
              <a:srgbClr val="86BC25"/>
            </a:solidFill>
            <a:prstDash val="solid"/>
          </a:ln>
        </p:spPr>
      </p:sp>
      <p:pic>
        <p:nvPicPr>
          <p:cNvPr id="49" name="Image 6" descr="preencoded.png">    </p:cNvPr>
          <p:cNvPicPr>
            <a:picLocks noChangeAspect="1"/>
          </p:cNvPicPr>
          <p:nvPr/>
        </p:nvPicPr>
        <p:blipFill>
          <a:blip r:embed="rId9"/>
          <a:stretch>
            <a:fillRect/>
          </a:stretch>
        </p:blipFill>
        <p:spPr>
          <a:xfrm>
            <a:off x="6389827" y="3491179"/>
            <a:ext cx="204826" cy="204826"/>
          </a:xfrm>
          <a:prstGeom prst="rect">
            <a:avLst/>
          </a:prstGeom>
        </p:spPr>
      </p:pic>
      <p:sp>
        <p:nvSpPr>
          <p:cNvPr id="50" name="Text 38"/>
          <p:cNvSpPr txBox="1"/>
          <p:nvPr/>
        </p:nvSpPr>
        <p:spPr>
          <a:xfrm>
            <a:off x="5806440" y="3794760"/>
            <a:ext cx="1371600" cy="685800"/>
          </a:xfrm>
          <a:prstGeom prst="rect">
            <a:avLst/>
          </a:prstGeom>
          <a:noFill/>
          <a:ln/>
        </p:spPr>
        <p:txBody>
          <a:bodyPr wrap="square" lIns="0" tIns="0" rIns="0" bIns="0" rtlCol="0" anchor="ctr"/>
          <a:lstStyle/>
          <a:p>
            <a:pPr algn="ctr" indent="0" marL="0">
              <a:buNone/>
            </a:pPr>
            <a:r>
              <a:rPr lang="en-US" sz="720" b="1" dirty="0">
                <a:solidFill>
                  <a:srgbClr val="000000"/>
                </a:solidFill>
                <a:latin typeface="Arial" pitchFamily="34" charset="0"/>
                <a:ea typeface="Arial" pitchFamily="34" charset="-122"/>
                <a:cs typeface="Arial" pitchFamily="34" charset="-120"/>
              </a:rPr>
              <a:t>Quick-commerce</a:t>
            </a:r>
            <a:endParaRPr lang="en-US" sz="720" dirty="0"/>
          </a:p>
          <a:p>
            <a:pPr algn="ctr" indent="0" marL="0">
              <a:buNone/>
            </a:pPr>
            <a:r>
              <a:rPr lang="en-US" sz="720" dirty="0">
                <a:solidFill>
                  <a:srgbClr val="53565A"/>
                </a:solidFill>
                <a:latin typeface="Arial" pitchFamily="34" charset="0"/>
                <a:ea typeface="Arial" pitchFamily="34" charset="-122"/>
                <a:cs typeface="Arial" pitchFamily="34" charset="-120"/>
              </a:rPr>
              <a:t>Sabzi 50g, regular only</a:t>
            </a:r>
            <a:endParaRPr lang="en-US" sz="720" dirty="0"/>
          </a:p>
          <a:p>
            <a:pPr algn="ctr" indent="0" marL="0">
              <a:buNone/>
            </a:pPr>
            <a:r>
              <a:rPr lang="en-US" sz="720" b="1" dirty="0">
                <a:solidFill>
                  <a:srgbClr val="26890D"/>
                </a:solidFill>
                <a:latin typeface="Arial" pitchFamily="34" charset="0"/>
                <a:ea typeface="Arial" pitchFamily="34" charset="-122"/>
                <a:cs typeface="Arial" pitchFamily="34" charset="-120"/>
              </a:rPr>
              <a:t>Rs 0.93-1.03 per g</a:t>
            </a:r>
            <a:endParaRPr lang="en-US" sz="720" dirty="0"/>
          </a:p>
        </p:txBody>
      </p:sp>
      <p:sp>
        <p:nvSpPr>
          <p:cNvPr id="51" name="Shape 39"/>
          <p:cNvSpPr/>
          <p:nvPr/>
        </p:nvSpPr>
        <p:spPr>
          <a:xfrm>
            <a:off x="7223760" y="3931920"/>
            <a:ext cx="91440" cy="0"/>
          </a:xfrm>
          <a:prstGeom prst="line">
            <a:avLst/>
          </a:prstGeom>
          <a:noFill/>
          <a:ln w="15875">
            <a:solidFill>
              <a:srgbClr val="53565A"/>
            </a:solidFill>
            <a:prstDash val="solid"/>
            <a:tailEnd type="triangle"/>
          </a:ln>
        </p:spPr>
      </p:sp>
      <p:sp>
        <p:nvSpPr>
          <p:cNvPr id="52" name="Shape 40"/>
          <p:cNvSpPr/>
          <p:nvPr/>
        </p:nvSpPr>
        <p:spPr>
          <a:xfrm>
            <a:off x="7315200" y="3364992"/>
            <a:ext cx="1463040" cy="1143000"/>
          </a:xfrm>
          <a:prstGeom prst="rect">
            <a:avLst/>
          </a:prstGeom>
          <a:solidFill>
            <a:srgbClr val="FFFFFF"/>
          </a:solidFill>
          <a:ln w="12700">
            <a:solidFill>
              <a:srgbClr val="53565A"/>
            </a:solidFill>
            <a:prstDash val="solid"/>
          </a:ln>
        </p:spPr>
      </p:sp>
      <p:sp>
        <p:nvSpPr>
          <p:cNvPr id="53" name="Shape 41"/>
          <p:cNvSpPr/>
          <p:nvPr/>
        </p:nvSpPr>
        <p:spPr>
          <a:xfrm>
            <a:off x="7863840" y="3410712"/>
            <a:ext cx="365760" cy="365760"/>
          </a:xfrm>
          <a:prstGeom prst="ellipse">
            <a:avLst/>
          </a:prstGeom>
          <a:solidFill>
            <a:srgbClr val="53565A"/>
          </a:solidFill>
          <a:ln w="12700">
            <a:solidFill>
              <a:srgbClr val="53565A"/>
            </a:solidFill>
            <a:prstDash val="solid"/>
          </a:ln>
        </p:spPr>
      </p:sp>
      <p:pic>
        <p:nvPicPr>
          <p:cNvPr id="54" name="Image 7" descr="preencoded.png">    </p:cNvPr>
          <p:cNvPicPr>
            <a:picLocks noChangeAspect="1"/>
          </p:cNvPicPr>
          <p:nvPr/>
        </p:nvPicPr>
        <p:blipFill>
          <a:blip r:embed="rId10"/>
          <a:stretch>
            <a:fillRect/>
          </a:stretch>
        </p:blipFill>
        <p:spPr>
          <a:xfrm>
            <a:off x="7944307" y="3491179"/>
            <a:ext cx="204826" cy="204826"/>
          </a:xfrm>
          <a:prstGeom prst="rect">
            <a:avLst/>
          </a:prstGeom>
        </p:spPr>
      </p:pic>
      <p:sp>
        <p:nvSpPr>
          <p:cNvPr id="55" name="Text 42"/>
          <p:cNvSpPr txBox="1"/>
          <p:nvPr/>
        </p:nvSpPr>
        <p:spPr>
          <a:xfrm>
            <a:off x="7360920" y="3794760"/>
            <a:ext cx="1371600" cy="685800"/>
          </a:xfrm>
          <a:prstGeom prst="rect">
            <a:avLst/>
          </a:prstGeom>
          <a:noFill/>
          <a:ln/>
        </p:spPr>
        <p:txBody>
          <a:bodyPr wrap="square" lIns="0" tIns="0" rIns="0" bIns="0" rtlCol="0" anchor="ctr"/>
          <a:lstStyle/>
          <a:p>
            <a:pPr algn="ctr" indent="0" marL="0">
              <a:buNone/>
            </a:pPr>
            <a:r>
              <a:rPr lang="en-US" sz="720" b="1" dirty="0">
                <a:solidFill>
                  <a:srgbClr val="000000"/>
                </a:solidFill>
                <a:latin typeface="Arial" pitchFamily="34" charset="0"/>
                <a:ea typeface="Arial" pitchFamily="34" charset="-122"/>
                <a:cs typeface="Arial" pitchFamily="34" charset="-120"/>
              </a:rPr>
              <a:t>Modern trade</a:t>
            </a:r>
            <a:endParaRPr lang="en-US" sz="720" dirty="0"/>
          </a:p>
          <a:p>
            <a:pPr algn="ctr" indent="0" marL="0">
              <a:buNone/>
            </a:pPr>
            <a:r>
              <a:rPr lang="en-US" sz="720" dirty="0">
                <a:solidFill>
                  <a:srgbClr val="53565A"/>
                </a:solidFill>
                <a:latin typeface="Arial" pitchFamily="34" charset="0"/>
                <a:ea typeface="Arial" pitchFamily="34" charset="-122"/>
                <a:cs typeface="Arial" pitchFamily="34" charset="-120"/>
              </a:rPr>
              <a:t>Sabzi 50g or bundles</a:t>
            </a:r>
            <a:endParaRPr lang="en-US" sz="720" dirty="0"/>
          </a:p>
          <a:p>
            <a:pPr algn="ctr" indent="0" marL="0">
              <a:buNone/>
            </a:pPr>
            <a:r>
              <a:rPr lang="en-US" sz="720" b="1" dirty="0">
                <a:solidFill>
                  <a:srgbClr val="53565A"/>
                </a:solidFill>
                <a:latin typeface="Arial" pitchFamily="34" charset="0"/>
                <a:ea typeface="Arial" pitchFamily="34" charset="-122"/>
                <a:cs typeface="Arial" pitchFamily="34" charset="-120"/>
              </a:rPr>
              <a:t>Rs 0.98 per g</a:t>
            </a:r>
            <a:endParaRPr lang="en-US" sz="720" dirty="0"/>
          </a:p>
        </p:txBody>
      </p:sp>
      <p:sp>
        <p:nvSpPr>
          <p:cNvPr id="56" name="Shape 43"/>
          <p:cNvSpPr/>
          <p:nvPr/>
        </p:nvSpPr>
        <p:spPr>
          <a:xfrm>
            <a:off x="4206240" y="4572000"/>
            <a:ext cx="4572000" cy="1325880"/>
          </a:xfrm>
          <a:prstGeom prst="rect">
            <a:avLst/>
          </a:prstGeom>
          <a:solidFill>
            <a:srgbClr val="E3F1D0"/>
          </a:solidFill>
          <a:ln w="12700">
            <a:solidFill>
              <a:srgbClr val="E3F1D0"/>
            </a:solidFill>
            <a:prstDash val="solid"/>
          </a:ln>
        </p:spPr>
      </p:sp>
      <p:sp>
        <p:nvSpPr>
          <p:cNvPr id="57" name="Text 44"/>
          <p:cNvSpPr txBox="1"/>
          <p:nvPr/>
        </p:nvSpPr>
        <p:spPr>
          <a:xfrm>
            <a:off x="4297680" y="4599432"/>
            <a:ext cx="4434840" cy="1280160"/>
          </a:xfrm>
          <a:prstGeom prst="rect">
            <a:avLst/>
          </a:prstGeom>
          <a:noFill/>
          <a:ln/>
        </p:spPr>
        <p:txBody>
          <a:bodyPr wrap="square" lIns="0" tIns="0" rIns="0" bIns="0" rtlCol="0" anchor="t"/>
          <a:lstStyle/>
          <a:p>
            <a:pPr indent="0" marL="0">
              <a:spcAft>
                <a:spcPts val="200"/>
              </a:spcAft>
              <a:buNone/>
            </a:pPr>
            <a:r>
              <a:rPr lang="en-US" sz="740" b="1" dirty="0">
                <a:solidFill>
                  <a:srgbClr val="000000"/>
                </a:solidFill>
                <a:latin typeface="Arial" pitchFamily="34" charset="0"/>
                <a:ea typeface="Arial" pitchFamily="34" charset="-122"/>
                <a:cs typeface="Arial" pitchFamily="34" charset="-120"/>
              </a:rPr>
              <a:t>Rules that follow</a:t>
            </a:r>
            <a:endParaRPr lang="en-US" sz="740" dirty="0"/>
          </a:p>
          <a:p>
            <a:pPr marL="127000" indent="-127000">
              <a:spcAft>
                <a:spcPts val="200"/>
              </a:spcAft>
              <a:buSzPct val="100000"/>
              <a:buChar char="■"/>
            </a:pPr>
            <a:r>
              <a:rPr lang="en-US" sz="740" dirty="0">
                <a:solidFill>
                  <a:srgbClr val="000000"/>
                </a:solidFill>
                <a:latin typeface="Arial" pitchFamily="34" charset="0"/>
                <a:ea typeface="Arial" pitchFamily="34" charset="-122"/>
                <a:cs typeface="Arial" pitchFamily="34" charset="-120"/>
              </a:rPr>
              <a:t>Trial packs only in GT, where they still earn 9-22%; on Q-com they lose 26-43%.</a:t>
            </a:r>
            <a:endParaRPr lang="en-US" sz="740" dirty="0"/>
          </a:p>
          <a:p>
            <a:pPr marL="127000" indent="-127000">
              <a:spcAft>
                <a:spcPts val="200"/>
              </a:spcAft>
              <a:buSzPct val="100000"/>
              <a:buChar char="■"/>
            </a:pPr>
            <a:r>
              <a:rPr lang="en-US" sz="740" dirty="0">
                <a:solidFill>
                  <a:srgbClr val="000000"/>
                </a:solidFill>
                <a:latin typeface="Arial" pitchFamily="34" charset="0"/>
                <a:ea typeface="Arial" pitchFamily="34" charset="-122"/>
                <a:cs typeface="Arial" pitchFamily="34" charset="-120"/>
              </a:rPr>
              <a:t>Q-com price within +/-5% of GT per gram, platform discounts included, so no kirana is undercut.</a:t>
            </a:r>
            <a:endParaRPr lang="en-US" sz="740" dirty="0"/>
          </a:p>
          <a:p>
            <a:pPr marL="127000" indent="-127000">
              <a:spcAft>
                <a:spcPts val="200"/>
              </a:spcAft>
              <a:buSzPct val="100000"/>
              <a:buChar char="■"/>
            </a:pPr>
            <a:r>
              <a:rPr lang="en-US" sz="740" dirty="0">
                <a:solidFill>
                  <a:srgbClr val="000000"/>
                </a:solidFill>
                <a:latin typeface="Arial" pitchFamily="34" charset="0"/>
                <a:ea typeface="Arial" pitchFamily="34" charset="-122"/>
                <a:cs typeface="Arial" pitchFamily="34" charset="-120"/>
              </a:rPr>
              <a:t>Q-com capped at ~11% of new-line sales as a discovery and student/PG channel.</a:t>
            </a:r>
            <a:endParaRPr lang="en-US" sz="740" dirty="0"/>
          </a:p>
          <a:p>
            <a:pPr marL="127000" indent="-127000">
              <a:spcAft>
                <a:spcPts val="200"/>
              </a:spcAft>
              <a:buSzPct val="100000"/>
              <a:buChar char="■"/>
            </a:pPr>
            <a:r>
              <a:rPr lang="en-US" sz="740" dirty="0">
                <a:solidFill>
                  <a:srgbClr val="000000"/>
                </a:solidFill>
                <a:latin typeface="Arial" pitchFamily="34" charset="0"/>
                <a:ea typeface="Arial" pitchFamily="34" charset="-122"/>
                <a:cs typeface="Arial" pitchFamily="34" charset="-120"/>
              </a:rPr>
              <a:t>MT gets regular packs and winter bundles for visibility.</a:t>
            </a:r>
            <a:endParaRPr lang="en-US" sz="740" dirty="0"/>
          </a:p>
        </p:txBody>
      </p:sp>
      <p:sp>
        <p:nvSpPr>
          <p:cNvPr id="58" name="Text 45"/>
          <p:cNvSpPr txBox="1"/>
          <p:nvPr/>
        </p:nvSpPr>
        <p:spPr>
          <a:xfrm>
            <a:off x="8961120" y="3108960"/>
            <a:ext cx="31546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Why Q-com matters, and why it needs rules</a:t>
            </a:r>
            <a:endParaRPr lang="en-US" sz="1100" dirty="0"/>
          </a:p>
        </p:txBody>
      </p:sp>
      <p:sp>
        <p:nvSpPr>
          <p:cNvPr id="59" name="Shape 46"/>
          <p:cNvSpPr/>
          <p:nvPr/>
        </p:nvSpPr>
        <p:spPr>
          <a:xfrm>
            <a:off x="8961120" y="3364992"/>
            <a:ext cx="3154680" cy="576072"/>
          </a:xfrm>
          <a:prstGeom prst="rect">
            <a:avLst/>
          </a:prstGeom>
          <a:solidFill>
            <a:srgbClr val="F2F2F2"/>
          </a:solidFill>
          <a:ln w="12700">
            <a:solidFill>
              <a:srgbClr val="D0D0CE"/>
            </a:solidFill>
            <a:prstDash val="solid"/>
          </a:ln>
        </p:spPr>
      </p:sp>
      <p:sp>
        <p:nvSpPr>
          <p:cNvPr id="60" name="Text 47"/>
          <p:cNvSpPr txBox="1"/>
          <p:nvPr/>
        </p:nvSpPr>
        <p:spPr>
          <a:xfrm>
            <a:off x="9006840" y="3364992"/>
            <a:ext cx="868680" cy="576072"/>
          </a:xfrm>
          <a:prstGeom prst="rect">
            <a:avLst/>
          </a:prstGeom>
          <a:noFill/>
          <a:ln/>
        </p:spPr>
        <p:txBody>
          <a:bodyPr wrap="square" lIns="0" tIns="0" rIns="0" bIns="0" rtlCol="0" anchor="ctr"/>
          <a:lstStyle/>
          <a:p>
            <a:pPr algn="ctr" indent="0" marL="0">
              <a:buNone/>
            </a:pPr>
            <a:r>
              <a:rPr lang="en-US" sz="1200" b="1" dirty="0">
                <a:solidFill>
                  <a:srgbClr val="046A38"/>
                </a:solidFill>
                <a:latin typeface="Arial" pitchFamily="34" charset="0"/>
                <a:ea typeface="Arial" pitchFamily="34" charset="-122"/>
                <a:cs typeface="Arial" pitchFamily="34" charset="-120"/>
              </a:rPr>
              <a:t>~35%</a:t>
            </a:r>
            <a:endParaRPr lang="en-US" sz="1200" dirty="0"/>
          </a:p>
        </p:txBody>
      </p:sp>
      <p:sp>
        <p:nvSpPr>
          <p:cNvPr id="61" name="Text 48"/>
          <p:cNvSpPr txBox="1"/>
          <p:nvPr/>
        </p:nvSpPr>
        <p:spPr>
          <a:xfrm>
            <a:off x="9893808" y="3364992"/>
            <a:ext cx="2176272" cy="576072"/>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of FMCG companies' online sales came through Q-com in FY24 (Deloitte-FICCI)</a:t>
            </a:r>
            <a:endParaRPr lang="en-US" sz="690" dirty="0"/>
          </a:p>
        </p:txBody>
      </p:sp>
      <p:sp>
        <p:nvSpPr>
          <p:cNvPr id="62" name="Shape 49"/>
          <p:cNvSpPr/>
          <p:nvPr/>
        </p:nvSpPr>
        <p:spPr>
          <a:xfrm>
            <a:off x="8961120" y="3995928"/>
            <a:ext cx="3154680" cy="576072"/>
          </a:xfrm>
          <a:prstGeom prst="rect">
            <a:avLst/>
          </a:prstGeom>
          <a:solidFill>
            <a:srgbClr val="F2F2F2"/>
          </a:solidFill>
          <a:ln w="12700">
            <a:solidFill>
              <a:srgbClr val="D0D0CE"/>
            </a:solidFill>
            <a:prstDash val="solid"/>
          </a:ln>
        </p:spPr>
      </p:sp>
      <p:sp>
        <p:nvSpPr>
          <p:cNvPr id="63" name="Text 50"/>
          <p:cNvSpPr txBox="1"/>
          <p:nvPr/>
        </p:nvSpPr>
        <p:spPr>
          <a:xfrm>
            <a:off x="9006840" y="3995928"/>
            <a:ext cx="868680" cy="576072"/>
          </a:xfrm>
          <a:prstGeom prst="rect">
            <a:avLst/>
          </a:prstGeom>
          <a:noFill/>
          <a:ln/>
        </p:spPr>
        <p:txBody>
          <a:bodyPr wrap="square" lIns="0" tIns="0" rIns="0" bIns="0" rtlCol="0" anchor="ctr"/>
          <a:lstStyle/>
          <a:p>
            <a:pPr algn="ctr" indent="0" marL="0">
              <a:buNone/>
            </a:pPr>
            <a:r>
              <a:rPr lang="en-US" sz="1200" b="1" dirty="0">
                <a:solidFill>
                  <a:srgbClr val="046A38"/>
                </a:solidFill>
                <a:latin typeface="Arial" pitchFamily="34" charset="0"/>
                <a:ea typeface="Arial" pitchFamily="34" charset="-122"/>
                <a:cs typeface="Arial" pitchFamily="34" charset="-120"/>
              </a:rPr>
              <a:t>2/3</a:t>
            </a:r>
            <a:endParaRPr lang="en-US" sz="1200" dirty="0"/>
          </a:p>
        </p:txBody>
      </p:sp>
      <p:sp>
        <p:nvSpPr>
          <p:cNvPr id="64" name="Text 51"/>
          <p:cNvSpPr txBox="1"/>
          <p:nvPr/>
        </p:nvSpPr>
        <p:spPr>
          <a:xfrm>
            <a:off x="9893808" y="3995928"/>
            <a:ext cx="2176272" cy="576072"/>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of e-grocery orders in 2024 were quick-commerce (Bain-Flipkart)</a:t>
            </a:r>
            <a:endParaRPr lang="en-US" sz="690" dirty="0"/>
          </a:p>
        </p:txBody>
      </p:sp>
      <p:sp>
        <p:nvSpPr>
          <p:cNvPr id="65" name="Shape 52"/>
          <p:cNvSpPr/>
          <p:nvPr/>
        </p:nvSpPr>
        <p:spPr>
          <a:xfrm>
            <a:off x="8961120" y="4626864"/>
            <a:ext cx="3154680" cy="576072"/>
          </a:xfrm>
          <a:prstGeom prst="rect">
            <a:avLst/>
          </a:prstGeom>
          <a:solidFill>
            <a:srgbClr val="F2F2F2"/>
          </a:solidFill>
          <a:ln w="12700">
            <a:solidFill>
              <a:srgbClr val="D0D0CE"/>
            </a:solidFill>
            <a:prstDash val="solid"/>
          </a:ln>
        </p:spPr>
      </p:sp>
      <p:sp>
        <p:nvSpPr>
          <p:cNvPr id="66" name="Text 53"/>
          <p:cNvSpPr txBox="1"/>
          <p:nvPr/>
        </p:nvSpPr>
        <p:spPr>
          <a:xfrm>
            <a:off x="9006840" y="4626864"/>
            <a:ext cx="868680" cy="576072"/>
          </a:xfrm>
          <a:prstGeom prst="rect">
            <a:avLst/>
          </a:prstGeom>
          <a:noFill/>
          <a:ln/>
        </p:spPr>
        <p:txBody>
          <a:bodyPr wrap="square" lIns="0" tIns="0" rIns="0" bIns="0" rtlCol="0" anchor="ctr"/>
          <a:lstStyle/>
          <a:p>
            <a:pPr algn="ctr" indent="0" marL="0">
              <a:buNone/>
            </a:pPr>
            <a:r>
              <a:rPr lang="en-US" sz="1200" b="1" dirty="0">
                <a:solidFill>
                  <a:srgbClr val="C0392B"/>
                </a:solidFill>
                <a:latin typeface="Arial" pitchFamily="34" charset="0"/>
                <a:ea typeface="Arial" pitchFamily="34" charset="-122"/>
                <a:cs typeface="Arial" pitchFamily="34" charset="-120"/>
              </a:rPr>
              <a:t>Oct 2024</a:t>
            </a:r>
            <a:endParaRPr lang="en-US" sz="1200" dirty="0"/>
          </a:p>
        </p:txBody>
      </p:sp>
      <p:sp>
        <p:nvSpPr>
          <p:cNvPr id="67" name="Text 54"/>
          <p:cNvSpPr txBox="1"/>
          <p:nvPr/>
        </p:nvSpPr>
        <p:spPr>
          <a:xfrm>
            <a:off x="9893808" y="4626864"/>
            <a:ext cx="2176272" cy="576072"/>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Distributors' federation alleged predatory Q-com pricing (Business Standard)</a:t>
            </a:r>
            <a:endParaRPr lang="en-US" sz="690" dirty="0"/>
          </a:p>
        </p:txBody>
      </p:sp>
      <p:sp>
        <p:nvSpPr>
          <p:cNvPr id="68" name="Shape 55"/>
          <p:cNvSpPr/>
          <p:nvPr/>
        </p:nvSpPr>
        <p:spPr>
          <a:xfrm>
            <a:off x="8961120" y="5257800"/>
            <a:ext cx="3154680" cy="576072"/>
          </a:xfrm>
          <a:prstGeom prst="rect">
            <a:avLst/>
          </a:prstGeom>
          <a:solidFill>
            <a:srgbClr val="F2F2F2"/>
          </a:solidFill>
          <a:ln w="12700">
            <a:solidFill>
              <a:srgbClr val="D0D0CE"/>
            </a:solidFill>
            <a:prstDash val="solid"/>
          </a:ln>
        </p:spPr>
      </p:sp>
      <p:sp>
        <p:nvSpPr>
          <p:cNvPr id="69" name="Text 56"/>
          <p:cNvSpPr txBox="1"/>
          <p:nvPr/>
        </p:nvSpPr>
        <p:spPr>
          <a:xfrm>
            <a:off x="9006840" y="5257800"/>
            <a:ext cx="868680" cy="576072"/>
          </a:xfrm>
          <a:prstGeom prst="rect">
            <a:avLst/>
          </a:prstGeom>
          <a:noFill/>
          <a:ln/>
        </p:spPr>
        <p:txBody>
          <a:bodyPr wrap="square" lIns="0" tIns="0" rIns="0" bIns="0" rtlCol="0" anchor="ctr"/>
          <a:lstStyle/>
          <a:p>
            <a:pPr algn="ctr" indent="0" marL="0">
              <a:buNone/>
            </a:pPr>
            <a:r>
              <a:rPr lang="en-US" sz="1200" b="1" dirty="0">
                <a:solidFill>
                  <a:srgbClr val="046A38"/>
                </a:solidFill>
                <a:latin typeface="Arial" pitchFamily="34" charset="0"/>
                <a:ea typeface="Arial" pitchFamily="34" charset="-122"/>
                <a:cs typeface="Arial" pitchFamily="34" charset="-120"/>
              </a:rPr>
              <a:t>46%</a:t>
            </a:r>
            <a:endParaRPr lang="en-US" sz="1200" dirty="0"/>
          </a:p>
        </p:txBody>
      </p:sp>
      <p:sp>
        <p:nvSpPr>
          <p:cNvPr id="70" name="Text 57"/>
          <p:cNvSpPr txBox="1"/>
          <p:nvPr/>
        </p:nvSpPr>
        <p:spPr>
          <a:xfrm>
            <a:off x="9893808" y="5257800"/>
            <a:ext cx="2176272" cy="576072"/>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our Q-com growth in FY21, from 1.3% of revenue (Exh. 3)</a:t>
            </a:r>
            <a:endParaRPr lang="en-US" sz="690" dirty="0"/>
          </a:p>
        </p:txBody>
      </p:sp>
      <p:sp>
        <p:nvSpPr>
          <p:cNvPr id="71" name="Shape 58"/>
          <p:cNvSpPr/>
          <p:nvPr/>
        </p:nvSpPr>
        <p:spPr>
          <a:xfrm>
            <a:off x="0" y="5961888"/>
            <a:ext cx="12191695" cy="530352"/>
          </a:xfrm>
          <a:prstGeom prst="rect">
            <a:avLst/>
          </a:prstGeom>
          <a:solidFill>
            <a:srgbClr val="86BC25"/>
          </a:solidFill>
          <a:ln w="12700">
            <a:solidFill>
              <a:srgbClr val="86BC25"/>
            </a:solidFill>
            <a:prstDash val="solid"/>
          </a:ln>
        </p:spPr>
      </p:sp>
      <p:sp>
        <p:nvSpPr>
          <p:cNvPr id="72" name="Text 59"/>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Trial in the kirana, discovery on quick-commerce, one price per gram everywhere: </a:t>
            </a:r>
            <a:pPr algn="ctr" indent="0" marL="0">
              <a:buNone/>
            </a:pPr>
            <a:r>
              <a:rPr lang="en-US" sz="1250" dirty="0">
                <a:solidFill>
                  <a:srgbClr val="000000"/>
                </a:solidFill>
                <a:latin typeface="Arial" pitchFamily="34" charset="0"/>
                <a:ea typeface="Arial" pitchFamily="34" charset="-122"/>
                <a:cs typeface="Arial" pitchFamily="34" charset="-120"/>
              </a:rPr>
              <a:t>growth without a channel war.</a:t>
            </a:r>
            <a:endParaRPr lang="en-US" sz="1250" dirty="0"/>
          </a:p>
        </p:txBody>
      </p:sp>
      <p:sp>
        <p:nvSpPr>
          <p:cNvPr id="73" name="Text 60"/>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3, 4.2, 6; team Excel model (FY24 channel mix and contribution); team category model (reach lever: Regions 3-4 to 30% / 22%); Deloitte-FICCI (Oct 2024); Bain-Flipkart, How India Shops Online 2025; Business Standard (22 Oct 2024).</a:t>
            </a:r>
            <a:endParaRPr lang="en-US" sz="730" dirty="0"/>
          </a:p>
        </p:txBody>
      </p:sp>
      <p:sp>
        <p:nvSpPr>
          <p:cNvPr id="74" name="Text 61"/>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8. Go-to-Market: Distributors, Salesforce and Marketing</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Every new line runs through our 390 distributors and adds 24% to their gross margin; A&amp;P is BTL-led and timed to the winter season</a:t>
            </a:r>
            <a:endParaRPr lang="en-US" sz="1250" dirty="0"/>
          </a:p>
        </p:txBody>
      </p:sp>
      <p:sp>
        <p:nvSpPr>
          <p:cNvPr id="6" name="Text 4"/>
          <p:cNvSpPr txBox="1"/>
          <p:nvPr/>
        </p:nvSpPr>
        <p:spPr>
          <a:xfrm>
            <a:off x="109728" y="749808"/>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Distributor economics, FY24 base (Rs lakh a year each)</a:t>
            </a:r>
            <a:endParaRPr lang="en-US" sz="1100" dirty="0"/>
          </a:p>
        </p:txBody>
      </p:sp>
      <p:graphicFrame>
        <p:nvGraphicFramePr>
          <p:cNvPr id="7" name="Chart 0" descr=""/>
          <p:cNvGraphicFramePr/>
          <p:nvPr/>
        </p:nvGraphicFramePr>
        <p:xfrm>
          <a:off x="109728" y="969264"/>
          <a:ext cx="2011680" cy="19659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2194560" y="1005840"/>
            <a:ext cx="1755648" cy="1828800"/>
          </a:xfrm>
          <a:prstGeom prst="rect">
            <a:avLst/>
          </a:prstGeom>
          <a:noFill/>
          <a:ln/>
        </p:spPr>
        <p:txBody>
          <a:bodyPr wrap="square" lIns="0" tIns="0" rIns="0" bIns="0" rtlCol="0" anchor="t"/>
          <a:lstStyle/>
          <a:p>
            <a:pPr indent="0" marL="0">
              <a:buNone/>
            </a:pPr>
            <a:r>
              <a:rPr lang="en-US" sz="2200" b="1" dirty="0">
                <a:solidFill>
                  <a:srgbClr val="26890D"/>
                </a:solidFill>
                <a:latin typeface="Arial" pitchFamily="34" charset="0"/>
                <a:ea typeface="Arial" pitchFamily="34" charset="-122"/>
                <a:cs typeface="Arial" pitchFamily="34" charset="-120"/>
              </a:rPr>
              <a:t>+24%</a:t>
            </a:r>
            <a:endParaRPr lang="en-US" sz="2200" dirty="0"/>
          </a:p>
          <a:p>
            <a:pPr indent="0" marL="0">
              <a:buNone/>
            </a:pPr>
            <a:r>
              <a:rPr lang="en-US" sz="740" dirty="0">
                <a:solidFill>
                  <a:srgbClr val="000000"/>
                </a:solidFill>
                <a:latin typeface="Arial" pitchFamily="34" charset="0"/>
                <a:ea typeface="Arial" pitchFamily="34" charset="-122"/>
                <a:cs typeface="Arial" pitchFamily="34" charset="-120"/>
              </a:rPr>
              <a:t>gross margin per distributor, earned Oct-Feb when they carry little today. Net of handling and financing: ~Rs 55,000 each a year.</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09728" y="2999232"/>
          <a:ext cx="3840480" cy="914400"/>
        </p:xfrm>
        <a:graphic>
          <a:graphicData uri="http://schemas.openxmlformats.org/drawingml/2006/table">
            <a:tbl>
              <a:tblPr/>
              <a:tblGrid>
                <a:gridCol w="1463040"/>
                <a:gridCol w="868680"/>
                <a:gridCol w="1508760"/>
              </a:tblGrid>
              <a:tr h="219456">
                <a:tc>
                  <a:txBody>
                    <a:bodyPr/>
                    <a:lstStyle/>
                    <a:p>
                      <a:pPr indent="0" marL="0">
                        <a:buNone/>
                      </a:pPr>
                      <a:r>
                        <a:rPr lang="en-US" sz="800" b="1" dirty="0">
                          <a:solidFill>
                            <a:srgbClr val="FFFFFF"/>
                          </a:solidFill>
                          <a:latin typeface="Arial" pitchFamily="34" charset="0"/>
                          <a:ea typeface="Arial" pitchFamily="34" charset="-122"/>
                          <a:cs typeface="Arial" pitchFamily="34" charset="-120"/>
                        </a:rPr>
                        <a:t>Distributor P&amp;L on new lines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Rs Cr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19456">
                <a:tc>
                  <a:txBody>
                    <a:bodyPr/>
                    <a:lstStyle/>
                    <a:p>
                      <a:pPr indent="0" marL="0">
                        <a:buNone/>
                      </a:pPr>
                      <a:r>
                        <a:rPr lang="en-US" sz="700" dirty="0">
                          <a:solidFill>
                            <a:srgbClr val="000000"/>
                          </a:solidFill>
                          <a:latin typeface="Arial" pitchFamily="34" charset="0"/>
                          <a:ea typeface="Arial" pitchFamily="34" charset="-122"/>
                          <a:cs typeface="Arial" pitchFamily="34" charset="-120"/>
                        </a:rPr>
                        <a:t>New-line sales at MRP</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143.9</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Rs 108.5 Cr net / 75.4%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19456">
                <a:tc>
                  <a:txBody>
                    <a:bodyPr/>
                    <a:lstStyle/>
                    <a:p>
                      <a:pPr indent="0" marL="0">
                        <a:buNone/>
                      </a:pPr>
                      <a:r>
                        <a:rPr lang="en-US" sz="700" dirty="0">
                          <a:solidFill>
                            <a:srgbClr val="000000"/>
                          </a:solidFill>
                          <a:latin typeface="Arial" pitchFamily="34" charset="0"/>
                          <a:ea typeface="Arial" pitchFamily="34" charset="-122"/>
                          <a:cs typeface="Arial" pitchFamily="34" charset="-120"/>
                        </a:rPr>
                        <a:t>of which through GT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113.0</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78.5% GT share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19456">
                <a:tc>
                  <a:txBody>
                    <a:bodyPr/>
                    <a:lstStyle/>
                    <a:p>
                      <a:pPr indent="0" marL="0">
                        <a:buNone/>
                      </a:pPr>
                      <a:r>
                        <a:rPr lang="en-US" sz="700" dirty="0">
                          <a:solidFill>
                            <a:srgbClr val="000000"/>
                          </a:solidFill>
                          <a:latin typeface="Arial" pitchFamily="34" charset="0"/>
                          <a:ea typeface="Arial" pitchFamily="34" charset="-122"/>
                          <a:cs typeface="Arial" pitchFamily="34" charset="-120"/>
                        </a:rPr>
                        <a:t>Distributor gross margin</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6.6% of GT sell-out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19456">
                <a:tc>
                  <a:txBody>
                    <a:bodyPr/>
                    <a:lstStyle/>
                    <a:p>
                      <a:pPr indent="0" marL="0">
                        <a:buNone/>
                      </a:pPr>
                      <a:r>
                        <a:rPr lang="en-US" sz="700" dirty="0">
                          <a:solidFill>
                            <a:srgbClr val="000000"/>
                          </a:solidFill>
                          <a:latin typeface="Arial" pitchFamily="34" charset="0"/>
                          <a:ea typeface="Arial" pitchFamily="34" charset="-122"/>
                          <a:cs typeface="Arial" pitchFamily="34" charset="-120"/>
                        </a:rPr>
                        <a:t>Net after handling, financing</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1.9% of GT sell-out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19456">
                <a:tc>
                  <a:txBody>
                    <a:bodyPr/>
                    <a:lstStyle/>
                    <a:p>
                      <a:pPr indent="0" marL="0">
                        <a:buNone/>
                      </a:pPr>
                      <a:r>
                        <a:rPr lang="en-US" sz="700" b="1" dirty="0">
                          <a:solidFill>
                            <a:srgbClr val="000000"/>
                          </a:solidFill>
                          <a:latin typeface="Arial" pitchFamily="34" charset="0"/>
                          <a:ea typeface="Arial" pitchFamily="34" charset="-122"/>
                          <a:cs typeface="Arial" pitchFamily="34" charset="-120"/>
                        </a:rPr>
                        <a:t>Per distributor: gross / net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46A38"/>
                          </a:solidFill>
                          <a:latin typeface="Arial" pitchFamily="34" charset="0"/>
                          <a:ea typeface="Arial" pitchFamily="34" charset="-122"/>
                          <a:cs typeface="Arial" pitchFamily="34" charset="-120"/>
                        </a:rPr>
                        <a:t>Rs 1.9 L / 0.55 L</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vs ~Rs 7.8 L gross today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0" name="Text 6"/>
          <p:cNvSpPr txBox="1"/>
          <p:nvPr/>
        </p:nvSpPr>
        <p:spPr>
          <a:xfrm>
            <a:off x="109728" y="4370832"/>
            <a:ext cx="38404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Why distributors back it</a:t>
            </a:r>
            <a:endParaRPr lang="en-US" sz="1100" dirty="0"/>
          </a:p>
        </p:txBody>
      </p:sp>
      <p:sp>
        <p:nvSpPr>
          <p:cNvPr id="11" name="Shape 7"/>
          <p:cNvSpPr/>
          <p:nvPr/>
        </p:nvSpPr>
        <p:spPr>
          <a:xfrm>
            <a:off x="109728" y="4645152"/>
            <a:ext cx="256032" cy="256032"/>
          </a:xfrm>
          <a:prstGeom prst="ellipse">
            <a:avLst/>
          </a:prstGeom>
          <a:solidFill>
            <a:srgbClr val="26890D"/>
          </a:solidFill>
          <a:ln w="12700">
            <a:solidFill>
              <a:srgbClr val="26890D"/>
            </a:solidFill>
            <a:prstDash val="solid"/>
          </a:ln>
        </p:spPr>
      </p:sp>
      <p:pic>
        <p:nvPicPr>
          <p:cNvPr id="12" name="Image 0" descr="preencoded.png">    </p:cNvPr>
          <p:cNvPicPr>
            <a:picLocks noChangeAspect="1"/>
          </p:cNvPicPr>
          <p:nvPr/>
        </p:nvPicPr>
        <p:blipFill>
          <a:blip r:embed="rId2"/>
          <a:stretch>
            <a:fillRect/>
          </a:stretch>
        </p:blipFill>
        <p:spPr>
          <a:xfrm>
            <a:off x="166055" y="4701479"/>
            <a:ext cx="143378" cy="143378"/>
          </a:xfrm>
          <a:prstGeom prst="rect">
            <a:avLst/>
          </a:prstGeom>
        </p:spPr>
      </p:pic>
      <p:sp>
        <p:nvSpPr>
          <p:cNvPr id="13" name="Text 8"/>
          <p:cNvSpPr txBox="1"/>
          <p:nvPr/>
        </p:nvSpPr>
        <p:spPr>
          <a:xfrm>
            <a:off x="420624" y="4626864"/>
            <a:ext cx="3529584" cy="292608"/>
          </a:xfrm>
          <a:prstGeom prst="rect">
            <a:avLst/>
          </a:prstGeom>
          <a:noFill/>
          <a:ln/>
        </p:spPr>
        <p:txBody>
          <a:bodyPr wrap="square" lIns="0" tIns="0" rIns="0" bIns="0" rtlCol="0" anchor="ctr"/>
          <a:lstStyle/>
          <a:p>
            <a:pPr indent="0" marL="0">
              <a:buNone/>
            </a:pPr>
            <a:r>
              <a:rPr lang="en-US" sz="730" dirty="0">
                <a:solidFill>
                  <a:srgbClr val="000000"/>
                </a:solidFill>
                <a:latin typeface="Arial" pitchFamily="34" charset="0"/>
                <a:ea typeface="Arial" pitchFamily="34" charset="-122"/>
                <a:cs typeface="Arial" pitchFamily="34" charset="-120"/>
              </a:rPr>
              <a:t>Winter orders when concentrates are idle (Q3 is 15% of volume)</a:t>
            </a:r>
            <a:endParaRPr lang="en-US" sz="730" dirty="0"/>
          </a:p>
        </p:txBody>
      </p:sp>
      <p:sp>
        <p:nvSpPr>
          <p:cNvPr id="14" name="Shape 9"/>
          <p:cNvSpPr/>
          <p:nvPr/>
        </p:nvSpPr>
        <p:spPr>
          <a:xfrm>
            <a:off x="109728" y="4965192"/>
            <a:ext cx="256032" cy="256032"/>
          </a:xfrm>
          <a:prstGeom prst="ellipse">
            <a:avLst/>
          </a:prstGeom>
          <a:solidFill>
            <a:srgbClr val="26890D"/>
          </a:solidFill>
          <a:ln w="12700">
            <a:solidFill>
              <a:srgbClr val="26890D"/>
            </a:solidFill>
            <a:prstDash val="solid"/>
          </a:ln>
        </p:spPr>
      </p:sp>
      <p:pic>
        <p:nvPicPr>
          <p:cNvPr id="15" name="Image 1" descr="preencoded.png">    </p:cNvPr>
          <p:cNvPicPr>
            <a:picLocks noChangeAspect="1"/>
          </p:cNvPicPr>
          <p:nvPr/>
        </p:nvPicPr>
        <p:blipFill>
          <a:blip r:embed="rId3"/>
          <a:stretch>
            <a:fillRect/>
          </a:stretch>
        </p:blipFill>
        <p:spPr>
          <a:xfrm>
            <a:off x="166055" y="5021519"/>
            <a:ext cx="143378" cy="143378"/>
          </a:xfrm>
          <a:prstGeom prst="rect">
            <a:avLst/>
          </a:prstGeom>
        </p:spPr>
      </p:pic>
      <p:sp>
        <p:nvSpPr>
          <p:cNvPr id="16" name="Text 10"/>
          <p:cNvSpPr txBox="1"/>
          <p:nvPr/>
        </p:nvSpPr>
        <p:spPr>
          <a:xfrm>
            <a:off x="420624" y="4946904"/>
            <a:ext cx="3529584" cy="292608"/>
          </a:xfrm>
          <a:prstGeom prst="rect">
            <a:avLst/>
          </a:prstGeom>
          <a:noFill/>
          <a:ln/>
        </p:spPr>
        <p:txBody>
          <a:bodyPr wrap="square" lIns="0" tIns="0" rIns="0" bIns="0" rtlCol="0" anchor="ctr"/>
          <a:lstStyle/>
          <a:p>
            <a:pPr indent="0" marL="0">
              <a:buNone/>
            </a:pPr>
            <a:r>
              <a:rPr lang="en-US" sz="730" dirty="0">
                <a:solidFill>
                  <a:srgbClr val="000000"/>
                </a:solidFill>
                <a:latin typeface="Arial" pitchFamily="34" charset="0"/>
                <a:ea typeface="Arial" pitchFamily="34" charset="-122"/>
                <a:cs typeface="Arial" pitchFamily="34" charset="-120"/>
              </a:rPr>
              <a:t>Dark stores serviced through them: Q-com adds to their P&amp;L</a:t>
            </a:r>
            <a:endParaRPr lang="en-US" sz="730" dirty="0"/>
          </a:p>
        </p:txBody>
      </p:sp>
      <p:sp>
        <p:nvSpPr>
          <p:cNvPr id="17" name="Shape 11"/>
          <p:cNvSpPr/>
          <p:nvPr/>
        </p:nvSpPr>
        <p:spPr>
          <a:xfrm>
            <a:off x="109728" y="5285232"/>
            <a:ext cx="256032" cy="256032"/>
          </a:xfrm>
          <a:prstGeom prst="ellipse">
            <a:avLst/>
          </a:prstGeom>
          <a:solidFill>
            <a:srgbClr val="26890D"/>
          </a:solidFill>
          <a:ln w="12700">
            <a:solidFill>
              <a:srgbClr val="26890D"/>
            </a:solidFill>
            <a:prstDash val="solid"/>
          </a:ln>
        </p:spPr>
      </p:sp>
      <p:pic>
        <p:nvPicPr>
          <p:cNvPr id="18" name="Image 2" descr="preencoded.png">    </p:cNvPr>
          <p:cNvPicPr>
            <a:picLocks noChangeAspect="1"/>
          </p:cNvPicPr>
          <p:nvPr/>
        </p:nvPicPr>
        <p:blipFill>
          <a:blip r:embed="rId4"/>
          <a:stretch>
            <a:fillRect/>
          </a:stretch>
        </p:blipFill>
        <p:spPr>
          <a:xfrm>
            <a:off x="166055" y="5341559"/>
            <a:ext cx="143378" cy="143378"/>
          </a:xfrm>
          <a:prstGeom prst="rect">
            <a:avLst/>
          </a:prstGeom>
        </p:spPr>
      </p:pic>
      <p:sp>
        <p:nvSpPr>
          <p:cNvPr id="19" name="Text 12"/>
          <p:cNvSpPr txBox="1"/>
          <p:nvPr/>
        </p:nvSpPr>
        <p:spPr>
          <a:xfrm>
            <a:off x="420624" y="5266944"/>
            <a:ext cx="3529584" cy="292608"/>
          </a:xfrm>
          <a:prstGeom prst="rect">
            <a:avLst/>
          </a:prstGeom>
          <a:noFill/>
          <a:ln/>
        </p:spPr>
        <p:txBody>
          <a:bodyPr wrap="square" lIns="0" tIns="0" rIns="0" bIns="0" rtlCol="0" anchor="ctr"/>
          <a:lstStyle/>
          <a:p>
            <a:pPr indent="0" marL="0">
              <a:buNone/>
            </a:pPr>
            <a:r>
              <a:rPr lang="en-US" sz="730" dirty="0">
                <a:solidFill>
                  <a:srgbClr val="000000"/>
                </a:solidFill>
                <a:latin typeface="Arial" pitchFamily="34" charset="0"/>
                <a:ea typeface="Arial" pitchFamily="34" charset="-122"/>
                <a:cs typeface="Arial" pitchFamily="34" charset="-120"/>
              </a:rPr>
              <a:t>Every GT SKU earns the distributor a positive net margin</a:t>
            </a:r>
            <a:endParaRPr lang="en-US" sz="730" dirty="0"/>
          </a:p>
        </p:txBody>
      </p:sp>
      <p:sp>
        <p:nvSpPr>
          <p:cNvPr id="20" name="Shape 13"/>
          <p:cNvSpPr/>
          <p:nvPr/>
        </p:nvSpPr>
        <p:spPr>
          <a:xfrm>
            <a:off x="109728" y="5605272"/>
            <a:ext cx="256032" cy="256032"/>
          </a:xfrm>
          <a:prstGeom prst="ellipse">
            <a:avLst/>
          </a:prstGeom>
          <a:solidFill>
            <a:srgbClr val="26890D"/>
          </a:solidFill>
          <a:ln w="12700">
            <a:solidFill>
              <a:srgbClr val="26890D"/>
            </a:solidFill>
            <a:prstDash val="solid"/>
          </a:ln>
        </p:spPr>
      </p:sp>
      <p:pic>
        <p:nvPicPr>
          <p:cNvPr id="21" name="Image 3" descr="preencoded.png">    </p:cNvPr>
          <p:cNvPicPr>
            <a:picLocks noChangeAspect="1"/>
          </p:cNvPicPr>
          <p:nvPr/>
        </p:nvPicPr>
        <p:blipFill>
          <a:blip r:embed="rId5"/>
          <a:stretch>
            <a:fillRect/>
          </a:stretch>
        </p:blipFill>
        <p:spPr>
          <a:xfrm>
            <a:off x="166055" y="5661599"/>
            <a:ext cx="143378" cy="143378"/>
          </a:xfrm>
          <a:prstGeom prst="rect">
            <a:avLst/>
          </a:prstGeom>
        </p:spPr>
      </p:pic>
      <p:sp>
        <p:nvSpPr>
          <p:cNvPr id="22" name="Text 14"/>
          <p:cNvSpPr txBox="1"/>
          <p:nvPr/>
        </p:nvSpPr>
        <p:spPr>
          <a:xfrm>
            <a:off x="420624" y="5586984"/>
            <a:ext cx="3529584" cy="292608"/>
          </a:xfrm>
          <a:prstGeom prst="rect">
            <a:avLst/>
          </a:prstGeom>
          <a:noFill/>
          <a:ln/>
        </p:spPr>
        <p:txBody>
          <a:bodyPr wrap="square" lIns="0" tIns="0" rIns="0" bIns="0" rtlCol="0" anchor="ctr"/>
          <a:lstStyle/>
          <a:p>
            <a:pPr indent="0" marL="0">
              <a:buNone/>
            </a:pPr>
            <a:r>
              <a:rPr lang="en-US" sz="730" dirty="0">
                <a:solidFill>
                  <a:srgbClr val="000000"/>
                </a:solidFill>
                <a:latin typeface="Arial" pitchFamily="34" charset="0"/>
                <a:ea typeface="Arial" pitchFamily="34" charset="-122"/>
                <a:cs typeface="Arial" pitchFamily="34" charset="-120"/>
              </a:rPr>
              <a:t>Same 21-day credit cycle as the core range</a:t>
            </a:r>
            <a:endParaRPr lang="en-US" sz="730" dirty="0"/>
          </a:p>
        </p:txBody>
      </p:sp>
      <p:sp>
        <p:nvSpPr>
          <p:cNvPr id="23" name="Text 15"/>
          <p:cNvSpPr txBox="1"/>
          <p:nvPr/>
        </p:nvSpPr>
        <p:spPr>
          <a:xfrm>
            <a:off x="4114800" y="749808"/>
            <a:ext cx="42062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Per-pack contribution by channel (FY24, team Excel)</a:t>
            </a:r>
            <a:endParaRPr lang="en-US" sz="11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114800" y="1005840"/>
          <a:ext cx="4206240" cy="914400"/>
        </p:xfrm>
        <a:graphic>
          <a:graphicData uri="http://schemas.openxmlformats.org/drawingml/2006/table">
            <a:tbl>
              <a:tblPr/>
              <a:tblGrid>
                <a:gridCol w="1691640"/>
                <a:gridCol w="457200"/>
                <a:gridCol w="685800"/>
                <a:gridCol w="685800"/>
                <a:gridCol w="685800"/>
              </a:tblGrid>
              <a:tr h="242316">
                <a:tc>
                  <a:txBody>
                    <a:bodyPr/>
                    <a:lstStyle/>
                    <a:p>
                      <a:pPr indent="0" marL="0">
                        <a:buNone/>
                      </a:pPr>
                      <a:r>
                        <a:rPr lang="en-US" sz="800" b="1" dirty="0">
                          <a:solidFill>
                            <a:srgbClr val="FFFFFF"/>
                          </a:solidFill>
                          <a:latin typeface="Arial" pitchFamily="34" charset="0"/>
                          <a:ea typeface="Arial" pitchFamily="34" charset="-122"/>
                          <a:cs typeface="Arial" pitchFamily="34" charset="-120"/>
                        </a:rPr>
                        <a:t>Pack</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MRP</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MT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Q-com</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Ginger-lemon 15g sachet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10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22.2%</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2.0%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BE5D6"/>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-26.4%</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Ginger-lemon 10-sachet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99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32.9%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21.9%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1.1%</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BE5D6"/>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Badam-elaichi 15g sachet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10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20.2%</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-0.1%</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4B183"/>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-28.8%</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Badam-elaichi 150g</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99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30.9%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19.8%</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-1.4%</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4B183"/>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Sabzi masala 8g trial</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10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10.2%</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-10.5%</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-40.9%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Sabzi masala 50g</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49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28.2%</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16.0%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-6.3%</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4B183"/>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Garam masala 5g trial</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10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8.8%</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-11.9%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-42.6%</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0392B"/>
                    </a:solidFill>
                  </a:tcPr>
                </a:tc>
              </a:tr>
              <a:tr h="242316">
                <a:tc>
                  <a:txBody>
                    <a:bodyPr/>
                    <a:lstStyle/>
                    <a:p>
                      <a:pPr indent="0" marL="0">
                        <a:buNone/>
                      </a:pPr>
                      <a:r>
                        <a:rPr lang="en-US" sz="710" dirty="0">
                          <a:solidFill>
                            <a:srgbClr val="000000"/>
                          </a:solidFill>
                          <a:latin typeface="Arial" pitchFamily="34" charset="0"/>
                          <a:ea typeface="Arial" pitchFamily="34" charset="-122"/>
                          <a:cs typeface="Arial" pitchFamily="34" charset="-120"/>
                        </a:rPr>
                        <a:t>Garam masala 50g</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49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FFFFFF"/>
                          </a:solidFill>
                          <a:latin typeface="Arial" pitchFamily="34" charset="0"/>
                          <a:ea typeface="Arial" pitchFamily="34" charset="-122"/>
                          <a:cs typeface="Arial" pitchFamily="34" charset="-120"/>
                        </a:rPr>
                        <a:t>26.8%</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14.6%</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10" b="1" dirty="0">
                          <a:solidFill>
                            <a:srgbClr val="000000"/>
                          </a:solidFill>
                          <a:latin typeface="Arial" pitchFamily="34" charset="0"/>
                          <a:ea typeface="Arial" pitchFamily="34" charset="-122"/>
                          <a:cs typeface="Arial" pitchFamily="34" charset="-120"/>
                        </a:rPr>
                        <a:t>-7.9%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4B183"/>
                    </a:solidFill>
                  </a:tcPr>
                </a:tc>
              </a:tr>
            </a:tbl>
          </a:graphicData>
        </a:graphic>
      </p:graphicFrame>
      <p:sp>
        <p:nvSpPr>
          <p:cNvPr id="25" name="Text 16"/>
          <p:cNvSpPr txBox="1"/>
          <p:nvPr/>
        </p:nvSpPr>
        <p:spPr>
          <a:xfrm>
            <a:off x="4114800" y="3218688"/>
            <a:ext cx="4206240" cy="274320"/>
          </a:xfrm>
          <a:prstGeom prst="rect">
            <a:avLst/>
          </a:prstGeom>
          <a:noFill/>
          <a:ln/>
        </p:spPr>
        <p:txBody>
          <a:bodyPr wrap="square" lIns="0" tIns="0" rIns="0" bIns="0" rtlCol="0" anchor="ctr"/>
          <a:lstStyle/>
          <a:p>
            <a:pPr indent="0" marL="0">
              <a:buNone/>
            </a:pPr>
            <a:r>
              <a:rPr lang="en-US" sz="700" i="1" dirty="0">
                <a:solidFill>
                  <a:srgbClr val="53565A"/>
                </a:solidFill>
                <a:latin typeface="Arial" pitchFamily="34" charset="0"/>
                <a:ea typeface="Arial" pitchFamily="34" charset="-122"/>
                <a:cs typeface="Arial" pitchFamily="34" charset="-120"/>
              </a:rPr>
              <a:t>Profit lives in the Rs 49 and Rs 99 packs in GT (27-33%); trial packs are a reach tool, and they never go on Q-com.</a:t>
            </a:r>
            <a:endParaRPr lang="en-US" sz="700" dirty="0"/>
          </a:p>
        </p:txBody>
      </p:sp>
      <p:sp>
        <p:nvSpPr>
          <p:cNvPr id="26" name="Text 17"/>
          <p:cNvSpPr txBox="1"/>
          <p:nvPr/>
        </p:nvSpPr>
        <p:spPr>
          <a:xfrm>
            <a:off x="4114800" y="3520440"/>
            <a:ext cx="42062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Salesforce and incentives (Rs 5 Cr field selling)</a:t>
            </a:r>
            <a:endParaRPr lang="en-US" sz="1100" dirty="0"/>
          </a:p>
        </p:txBody>
      </p:sp>
      <p:sp>
        <p:nvSpPr>
          <p:cNvPr id="27" name="Shape 18"/>
          <p:cNvSpPr/>
          <p:nvPr/>
        </p:nvSpPr>
        <p:spPr>
          <a:xfrm>
            <a:off x="4114800" y="3776472"/>
            <a:ext cx="2075688" cy="1005840"/>
          </a:xfrm>
          <a:prstGeom prst="rect">
            <a:avLst/>
          </a:prstGeom>
          <a:solidFill>
            <a:srgbClr val="F2F2F2"/>
          </a:solidFill>
          <a:ln w="12700">
            <a:solidFill>
              <a:srgbClr val="D0D0CE"/>
            </a:solidFill>
            <a:prstDash val="solid"/>
          </a:ln>
        </p:spPr>
      </p:sp>
      <p:sp>
        <p:nvSpPr>
          <p:cNvPr id="28" name="Shape 19"/>
          <p:cNvSpPr/>
          <p:nvPr/>
        </p:nvSpPr>
        <p:spPr>
          <a:xfrm>
            <a:off x="4178808" y="3849624"/>
            <a:ext cx="329184" cy="329184"/>
          </a:xfrm>
          <a:prstGeom prst="ellipse">
            <a:avLst/>
          </a:prstGeom>
          <a:solidFill>
            <a:srgbClr val="26890D"/>
          </a:solidFill>
          <a:ln w="12700">
            <a:solidFill>
              <a:srgbClr val="26890D"/>
            </a:solidFill>
            <a:prstDash val="solid"/>
          </a:ln>
        </p:spPr>
      </p:sp>
      <p:pic>
        <p:nvPicPr>
          <p:cNvPr id="29" name="Image 4" descr="preencoded.png">    </p:cNvPr>
          <p:cNvPicPr>
            <a:picLocks noChangeAspect="1"/>
          </p:cNvPicPr>
          <p:nvPr/>
        </p:nvPicPr>
        <p:blipFill>
          <a:blip r:embed="rId6"/>
          <a:stretch>
            <a:fillRect/>
          </a:stretch>
        </p:blipFill>
        <p:spPr>
          <a:xfrm>
            <a:off x="4251228" y="3922044"/>
            <a:ext cx="184343" cy="184343"/>
          </a:xfrm>
          <a:prstGeom prst="rect">
            <a:avLst/>
          </a:prstGeom>
        </p:spPr>
      </p:pic>
      <p:sp>
        <p:nvSpPr>
          <p:cNvPr id="30" name="Text 20"/>
          <p:cNvSpPr txBox="1"/>
          <p:nvPr/>
        </p:nvSpPr>
        <p:spPr>
          <a:xfrm>
            <a:off x="4572000" y="3831336"/>
            <a:ext cx="1572768" cy="365760"/>
          </a:xfrm>
          <a:prstGeom prst="rect">
            <a:avLst/>
          </a:prstGeom>
          <a:noFill/>
          <a:ln/>
        </p:spPr>
        <p:txBody>
          <a:bodyPr wrap="square" lIns="0" tIns="0" rIns="0" bIns="0" rtlCol="0" anchor="ctr"/>
          <a:lstStyle/>
          <a:p>
            <a:pPr indent="0" marL="0">
              <a:buNone/>
            </a:pPr>
            <a:r>
              <a:rPr lang="en-US" sz="780" b="1" dirty="0">
                <a:solidFill>
                  <a:srgbClr val="000000"/>
                </a:solidFill>
                <a:latin typeface="Arial" pitchFamily="34" charset="0"/>
                <a:ea typeface="Arial" pitchFamily="34" charset="-122"/>
                <a:cs typeface="Arial" pitchFamily="34" charset="-120"/>
              </a:rPr>
              <a:t>Winter-range training</a:t>
            </a:r>
            <a:endParaRPr lang="en-US" sz="780" dirty="0"/>
          </a:p>
        </p:txBody>
      </p:sp>
      <p:sp>
        <p:nvSpPr>
          <p:cNvPr id="31" name="Text 21"/>
          <p:cNvSpPr txBox="1"/>
          <p:nvPr/>
        </p:nvSpPr>
        <p:spPr>
          <a:xfrm>
            <a:off x="4187952" y="4215384"/>
            <a:ext cx="1938528" cy="530352"/>
          </a:xfrm>
          <a:prstGeom prst="rect">
            <a:avLst/>
          </a:prstGeom>
          <a:noFill/>
          <a:ln/>
        </p:spPr>
        <p:txBody>
          <a:bodyPr wrap="square" lIns="0" tIns="0" rIns="0" bIns="0" rtlCol="0" anchor="t"/>
          <a:lstStyle/>
          <a:p>
            <a:pPr indent="0" marL="0">
              <a:buNone/>
            </a:pPr>
            <a:r>
              <a:rPr lang="en-US" sz="700" dirty="0">
                <a:solidFill>
                  <a:srgbClr val="53565A"/>
                </a:solidFill>
                <a:latin typeface="Arial" pitchFamily="34" charset="0"/>
                <a:ea typeface="Arial" pitchFamily="34" charset="-122"/>
                <a:cs typeface="Arial" pitchFamily="34" charset="-120"/>
              </a:rPr>
              <a:t>All 390 distributor teams before each October launch</a:t>
            </a:r>
            <a:endParaRPr lang="en-US" sz="700" dirty="0"/>
          </a:p>
        </p:txBody>
      </p:sp>
      <p:sp>
        <p:nvSpPr>
          <p:cNvPr id="32" name="Shape 22"/>
          <p:cNvSpPr/>
          <p:nvPr/>
        </p:nvSpPr>
        <p:spPr>
          <a:xfrm>
            <a:off x="6236208" y="3776472"/>
            <a:ext cx="2075688" cy="1005840"/>
          </a:xfrm>
          <a:prstGeom prst="rect">
            <a:avLst/>
          </a:prstGeom>
          <a:solidFill>
            <a:srgbClr val="F2F2F2"/>
          </a:solidFill>
          <a:ln w="12700">
            <a:solidFill>
              <a:srgbClr val="D0D0CE"/>
            </a:solidFill>
            <a:prstDash val="solid"/>
          </a:ln>
        </p:spPr>
      </p:sp>
      <p:sp>
        <p:nvSpPr>
          <p:cNvPr id="33" name="Shape 23"/>
          <p:cNvSpPr/>
          <p:nvPr/>
        </p:nvSpPr>
        <p:spPr>
          <a:xfrm>
            <a:off x="6300216" y="3849624"/>
            <a:ext cx="329184" cy="329184"/>
          </a:xfrm>
          <a:prstGeom prst="ellipse">
            <a:avLst/>
          </a:prstGeom>
          <a:solidFill>
            <a:srgbClr val="0097A9"/>
          </a:solidFill>
          <a:ln w="12700">
            <a:solidFill>
              <a:srgbClr val="0097A9"/>
            </a:solidFill>
            <a:prstDash val="solid"/>
          </a:ln>
        </p:spPr>
      </p:sp>
      <p:pic>
        <p:nvPicPr>
          <p:cNvPr id="34" name="Image 5" descr="preencoded.png">    </p:cNvPr>
          <p:cNvPicPr>
            <a:picLocks noChangeAspect="1"/>
          </p:cNvPicPr>
          <p:nvPr/>
        </p:nvPicPr>
        <p:blipFill>
          <a:blip r:embed="rId7"/>
          <a:stretch>
            <a:fillRect/>
          </a:stretch>
        </p:blipFill>
        <p:spPr>
          <a:xfrm>
            <a:off x="6372636" y="3922044"/>
            <a:ext cx="184343" cy="184343"/>
          </a:xfrm>
          <a:prstGeom prst="rect">
            <a:avLst/>
          </a:prstGeom>
        </p:spPr>
      </p:pic>
      <p:sp>
        <p:nvSpPr>
          <p:cNvPr id="35" name="Text 24"/>
          <p:cNvSpPr txBox="1"/>
          <p:nvPr/>
        </p:nvSpPr>
        <p:spPr>
          <a:xfrm>
            <a:off x="6693408" y="3831336"/>
            <a:ext cx="1572768" cy="365760"/>
          </a:xfrm>
          <a:prstGeom prst="rect">
            <a:avLst/>
          </a:prstGeom>
          <a:noFill/>
          <a:ln/>
        </p:spPr>
        <p:txBody>
          <a:bodyPr wrap="square" lIns="0" tIns="0" rIns="0" bIns="0" rtlCol="0" anchor="ctr"/>
          <a:lstStyle/>
          <a:p>
            <a:pPr indent="0" marL="0">
              <a:buNone/>
            </a:pPr>
            <a:r>
              <a:rPr lang="en-US" sz="780" b="1" dirty="0">
                <a:solidFill>
                  <a:srgbClr val="000000"/>
                </a:solidFill>
                <a:latin typeface="Arial" pitchFamily="34" charset="0"/>
                <a:ea typeface="Arial" pitchFamily="34" charset="-122"/>
                <a:cs typeface="Arial" pitchFamily="34" charset="-120"/>
              </a:rPr>
              <a:t>Incentive per bill</a:t>
            </a:r>
            <a:endParaRPr lang="en-US" sz="780" dirty="0"/>
          </a:p>
        </p:txBody>
      </p:sp>
      <p:sp>
        <p:nvSpPr>
          <p:cNvPr id="36" name="Text 25"/>
          <p:cNvSpPr txBox="1"/>
          <p:nvPr/>
        </p:nvSpPr>
        <p:spPr>
          <a:xfrm>
            <a:off x="6309360" y="4215384"/>
            <a:ext cx="1938528" cy="530352"/>
          </a:xfrm>
          <a:prstGeom prst="rect">
            <a:avLst/>
          </a:prstGeom>
          <a:noFill/>
          <a:ln/>
        </p:spPr>
        <p:txBody>
          <a:bodyPr wrap="square" lIns="0" tIns="0" rIns="0" bIns="0" rtlCol="0" anchor="t"/>
          <a:lstStyle/>
          <a:p>
            <a:pPr indent="0" marL="0">
              <a:buNone/>
            </a:pPr>
            <a:r>
              <a:rPr lang="en-US" sz="700" dirty="0">
                <a:solidFill>
                  <a:srgbClr val="53565A"/>
                </a:solidFill>
                <a:latin typeface="Arial" pitchFamily="34" charset="0"/>
                <a:ea typeface="Arial" pitchFamily="34" charset="-122"/>
                <a:cs typeface="Arial" pitchFamily="34" charset="-120"/>
              </a:rPr>
              <a:t>Paid on new-line lines per invoice, not on volume alone</a:t>
            </a:r>
            <a:endParaRPr lang="en-US" sz="700" dirty="0"/>
          </a:p>
        </p:txBody>
      </p:sp>
      <p:sp>
        <p:nvSpPr>
          <p:cNvPr id="37" name="Shape 26"/>
          <p:cNvSpPr/>
          <p:nvPr/>
        </p:nvSpPr>
        <p:spPr>
          <a:xfrm>
            <a:off x="4114800" y="4846320"/>
            <a:ext cx="2075688" cy="1005840"/>
          </a:xfrm>
          <a:prstGeom prst="rect">
            <a:avLst/>
          </a:prstGeom>
          <a:solidFill>
            <a:srgbClr val="F2F2F2"/>
          </a:solidFill>
          <a:ln w="12700">
            <a:solidFill>
              <a:srgbClr val="D0D0CE"/>
            </a:solidFill>
            <a:prstDash val="solid"/>
          </a:ln>
        </p:spPr>
      </p:sp>
      <p:sp>
        <p:nvSpPr>
          <p:cNvPr id="38" name="Shape 27"/>
          <p:cNvSpPr/>
          <p:nvPr/>
        </p:nvSpPr>
        <p:spPr>
          <a:xfrm>
            <a:off x="4178808" y="4919472"/>
            <a:ext cx="329184" cy="329184"/>
          </a:xfrm>
          <a:prstGeom prst="ellipse">
            <a:avLst/>
          </a:prstGeom>
          <a:solidFill>
            <a:srgbClr val="26890D"/>
          </a:solidFill>
          <a:ln w="12700">
            <a:solidFill>
              <a:srgbClr val="26890D"/>
            </a:solidFill>
            <a:prstDash val="solid"/>
          </a:ln>
        </p:spPr>
      </p:sp>
      <p:pic>
        <p:nvPicPr>
          <p:cNvPr id="39" name="Image 6" descr="preencoded.png">    </p:cNvPr>
          <p:cNvPicPr>
            <a:picLocks noChangeAspect="1"/>
          </p:cNvPicPr>
          <p:nvPr/>
        </p:nvPicPr>
        <p:blipFill>
          <a:blip r:embed="rId8"/>
          <a:stretch>
            <a:fillRect/>
          </a:stretch>
        </p:blipFill>
        <p:spPr>
          <a:xfrm>
            <a:off x="4251228" y="4991892"/>
            <a:ext cx="184343" cy="184343"/>
          </a:xfrm>
          <a:prstGeom prst="rect">
            <a:avLst/>
          </a:prstGeom>
        </p:spPr>
      </p:pic>
      <p:sp>
        <p:nvSpPr>
          <p:cNvPr id="40" name="Text 28"/>
          <p:cNvSpPr txBox="1"/>
          <p:nvPr/>
        </p:nvSpPr>
        <p:spPr>
          <a:xfrm>
            <a:off x="4572000" y="4901184"/>
            <a:ext cx="1572768" cy="365760"/>
          </a:xfrm>
          <a:prstGeom prst="rect">
            <a:avLst/>
          </a:prstGeom>
          <a:noFill/>
          <a:ln/>
        </p:spPr>
        <p:txBody>
          <a:bodyPr wrap="square" lIns="0" tIns="0" rIns="0" bIns="0" rtlCol="0" anchor="ctr"/>
          <a:lstStyle/>
          <a:p>
            <a:pPr indent="0" marL="0">
              <a:buNone/>
            </a:pPr>
            <a:r>
              <a:rPr lang="en-US" sz="780" b="1" dirty="0">
                <a:solidFill>
                  <a:srgbClr val="000000"/>
                </a:solidFill>
                <a:latin typeface="Arial" pitchFamily="34" charset="0"/>
                <a:ea typeface="Arial" pitchFamily="34" charset="-122"/>
                <a:cs typeface="Arial" pitchFamily="34" charset="-120"/>
              </a:rPr>
              <a:t>Reach targets</a:t>
            </a:r>
            <a:endParaRPr lang="en-US" sz="780" dirty="0"/>
          </a:p>
        </p:txBody>
      </p:sp>
      <p:sp>
        <p:nvSpPr>
          <p:cNvPr id="41" name="Text 29"/>
          <p:cNvSpPr txBox="1"/>
          <p:nvPr/>
        </p:nvSpPr>
        <p:spPr>
          <a:xfrm>
            <a:off x="4187952" y="5285232"/>
            <a:ext cx="1938528" cy="530352"/>
          </a:xfrm>
          <a:prstGeom prst="rect">
            <a:avLst/>
          </a:prstGeom>
          <a:noFill/>
          <a:ln/>
        </p:spPr>
        <p:txBody>
          <a:bodyPr wrap="square" lIns="0" tIns="0" rIns="0" bIns="0" rtlCol="0" anchor="t"/>
          <a:lstStyle/>
          <a:p>
            <a:pPr indent="0" marL="0">
              <a:buNone/>
            </a:pPr>
            <a:r>
              <a:rPr lang="en-US" sz="700" dirty="0">
                <a:solidFill>
                  <a:srgbClr val="53565A"/>
                </a:solidFill>
                <a:latin typeface="Arial" pitchFamily="34" charset="0"/>
                <a:ea typeface="Arial" pitchFamily="34" charset="-122"/>
                <a:cs typeface="Arial" pitchFamily="34" charset="-120"/>
              </a:rPr>
              <a:t>Regions 3-4 numeric distribution 22% / 13% to 30% / 22%; sales head reviews quarterly</a:t>
            </a:r>
            <a:endParaRPr lang="en-US" sz="700" dirty="0"/>
          </a:p>
        </p:txBody>
      </p:sp>
      <p:sp>
        <p:nvSpPr>
          <p:cNvPr id="42" name="Shape 30"/>
          <p:cNvSpPr/>
          <p:nvPr/>
        </p:nvSpPr>
        <p:spPr>
          <a:xfrm>
            <a:off x="6236208" y="4846320"/>
            <a:ext cx="2075688" cy="1005840"/>
          </a:xfrm>
          <a:prstGeom prst="rect">
            <a:avLst/>
          </a:prstGeom>
          <a:solidFill>
            <a:srgbClr val="F2F2F2"/>
          </a:solidFill>
          <a:ln w="12700">
            <a:solidFill>
              <a:srgbClr val="D0D0CE"/>
            </a:solidFill>
            <a:prstDash val="solid"/>
          </a:ln>
        </p:spPr>
      </p:sp>
      <p:sp>
        <p:nvSpPr>
          <p:cNvPr id="43" name="Shape 31"/>
          <p:cNvSpPr/>
          <p:nvPr/>
        </p:nvSpPr>
        <p:spPr>
          <a:xfrm>
            <a:off x="6300216" y="4919472"/>
            <a:ext cx="329184" cy="329184"/>
          </a:xfrm>
          <a:prstGeom prst="ellipse">
            <a:avLst/>
          </a:prstGeom>
          <a:solidFill>
            <a:srgbClr val="0097A9"/>
          </a:solidFill>
          <a:ln w="12700">
            <a:solidFill>
              <a:srgbClr val="0097A9"/>
            </a:solidFill>
            <a:prstDash val="solid"/>
          </a:ln>
        </p:spPr>
      </p:sp>
      <p:pic>
        <p:nvPicPr>
          <p:cNvPr id="44" name="Image 7" descr="preencoded.png">    </p:cNvPr>
          <p:cNvPicPr>
            <a:picLocks noChangeAspect="1"/>
          </p:cNvPicPr>
          <p:nvPr/>
        </p:nvPicPr>
        <p:blipFill>
          <a:blip r:embed="rId9"/>
          <a:stretch>
            <a:fillRect/>
          </a:stretch>
        </p:blipFill>
        <p:spPr>
          <a:xfrm>
            <a:off x="6372636" y="4991892"/>
            <a:ext cx="184343" cy="184343"/>
          </a:xfrm>
          <a:prstGeom prst="rect">
            <a:avLst/>
          </a:prstGeom>
        </p:spPr>
      </p:pic>
      <p:sp>
        <p:nvSpPr>
          <p:cNvPr id="45" name="Text 32"/>
          <p:cNvSpPr txBox="1"/>
          <p:nvPr/>
        </p:nvSpPr>
        <p:spPr>
          <a:xfrm>
            <a:off x="6693408" y="4901184"/>
            <a:ext cx="1572768" cy="365760"/>
          </a:xfrm>
          <a:prstGeom prst="rect">
            <a:avLst/>
          </a:prstGeom>
          <a:noFill/>
          <a:ln/>
        </p:spPr>
        <p:txBody>
          <a:bodyPr wrap="square" lIns="0" tIns="0" rIns="0" bIns="0" rtlCol="0" anchor="ctr"/>
          <a:lstStyle/>
          <a:p>
            <a:pPr indent="0" marL="0">
              <a:buNone/>
            </a:pPr>
            <a:r>
              <a:rPr lang="en-US" sz="780" b="1" dirty="0">
                <a:solidFill>
                  <a:srgbClr val="000000"/>
                </a:solidFill>
                <a:latin typeface="Arial" pitchFamily="34" charset="0"/>
                <a:ea typeface="Arial" pitchFamily="34" charset="-122"/>
                <a:cs typeface="Arial" pitchFamily="34" charset="-120"/>
              </a:rPr>
              <a:t>Dark-store coverage</a:t>
            </a:r>
            <a:endParaRPr lang="en-US" sz="780" dirty="0"/>
          </a:p>
        </p:txBody>
      </p:sp>
      <p:sp>
        <p:nvSpPr>
          <p:cNvPr id="46" name="Text 33"/>
          <p:cNvSpPr txBox="1"/>
          <p:nvPr/>
        </p:nvSpPr>
        <p:spPr>
          <a:xfrm>
            <a:off x="6309360" y="5285232"/>
            <a:ext cx="1938528" cy="530352"/>
          </a:xfrm>
          <a:prstGeom prst="rect">
            <a:avLst/>
          </a:prstGeom>
          <a:noFill/>
          <a:ln/>
        </p:spPr>
        <p:txBody>
          <a:bodyPr wrap="square" lIns="0" tIns="0" rIns="0" bIns="0" rtlCol="0" anchor="t"/>
          <a:lstStyle/>
          <a:p>
            <a:pPr indent="0" marL="0">
              <a:buNone/>
            </a:pPr>
            <a:r>
              <a:rPr lang="en-US" sz="700" dirty="0">
                <a:solidFill>
                  <a:srgbClr val="53565A"/>
                </a:solidFill>
                <a:latin typeface="Arial" pitchFamily="34" charset="0"/>
                <a:ea typeface="Arial" pitchFamily="34" charset="-122"/>
                <a:cs typeface="Arial" pitchFamily="34" charset="-120"/>
              </a:rPr>
              <a:t>Distributors map and service Q-com dark stores in metros</a:t>
            </a:r>
            <a:endParaRPr lang="en-US" sz="700" dirty="0"/>
          </a:p>
        </p:txBody>
      </p:sp>
      <p:sp>
        <p:nvSpPr>
          <p:cNvPr id="47" name="Text 34"/>
          <p:cNvSpPr txBox="1"/>
          <p:nvPr/>
        </p:nvSpPr>
        <p:spPr>
          <a:xfrm>
            <a:off x="8485632" y="749808"/>
            <a:ext cx="3630168"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Marketing: Rs 35 Cr launch A&amp;P (A&amp;P 2.4% of sales today; peers 4-7%)</a:t>
            </a:r>
            <a:endParaRPr lang="en-US" sz="1100" dirty="0"/>
          </a:p>
        </p:txBody>
      </p:sp>
      <p:graphicFrame>
        <p:nvGraphicFramePr>
          <p:cNvPr id="48" name="Chart 1" descr=""/>
          <p:cNvGraphicFramePr/>
          <p:nvPr/>
        </p:nvGraphicFramePr>
        <p:xfrm>
          <a:off x="8485632" y="969264"/>
          <a:ext cx="3630168" cy="1463040"/>
        </p:xfrm>
        <a:graphic xmlns:a="http://schemas.openxmlformats.org/drawingml/2006/main">
          <a:graphicData uri="http://schemas.openxmlformats.org/drawingml/2006/chart">
            <c:chart xmlns:c="http://schemas.openxmlformats.org/drawingml/2006/chart" r:id="rId10"/>
          </a:graphicData>
        </a:graphic>
      </p:graphicFrame>
      <p:sp>
        <p:nvSpPr>
          <p:cNvPr id="49" name="Text 35"/>
          <p:cNvSpPr txBox="1"/>
          <p:nvPr/>
        </p:nvSpPr>
        <p:spPr>
          <a:xfrm>
            <a:off x="8485632" y="2487168"/>
            <a:ext cx="3630168"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Marketing calendar (team plan)</a:t>
            </a:r>
            <a:endParaRPr lang="en-US" sz="1100" dirty="0"/>
          </a:p>
        </p:txBody>
      </p:sp>
      <p:sp>
        <p:nvSpPr>
          <p:cNvPr id="50" name="Text 36"/>
          <p:cNvSpPr txBox="1"/>
          <p:nvPr/>
        </p:nvSpPr>
        <p:spPr>
          <a:xfrm>
            <a:off x="9646920"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Oct</a:t>
            </a:r>
            <a:endParaRPr lang="en-US" sz="630" dirty="0"/>
          </a:p>
        </p:txBody>
      </p:sp>
      <p:sp>
        <p:nvSpPr>
          <p:cNvPr id="51" name="Text 37"/>
          <p:cNvSpPr txBox="1"/>
          <p:nvPr/>
        </p:nvSpPr>
        <p:spPr>
          <a:xfrm>
            <a:off x="9999617"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Nov</a:t>
            </a:r>
            <a:endParaRPr lang="en-US" sz="630" dirty="0"/>
          </a:p>
        </p:txBody>
      </p:sp>
      <p:sp>
        <p:nvSpPr>
          <p:cNvPr id="52" name="Text 38"/>
          <p:cNvSpPr txBox="1"/>
          <p:nvPr/>
        </p:nvSpPr>
        <p:spPr>
          <a:xfrm>
            <a:off x="10352314"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Dec</a:t>
            </a:r>
            <a:endParaRPr lang="en-US" sz="630" dirty="0"/>
          </a:p>
        </p:txBody>
      </p:sp>
      <p:sp>
        <p:nvSpPr>
          <p:cNvPr id="53" name="Text 39"/>
          <p:cNvSpPr txBox="1"/>
          <p:nvPr/>
        </p:nvSpPr>
        <p:spPr>
          <a:xfrm>
            <a:off x="10705011"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Jan</a:t>
            </a:r>
            <a:endParaRPr lang="en-US" sz="630" dirty="0"/>
          </a:p>
        </p:txBody>
      </p:sp>
      <p:sp>
        <p:nvSpPr>
          <p:cNvPr id="54" name="Text 40"/>
          <p:cNvSpPr txBox="1"/>
          <p:nvPr/>
        </p:nvSpPr>
        <p:spPr>
          <a:xfrm>
            <a:off x="11057709"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Feb</a:t>
            </a:r>
            <a:endParaRPr lang="en-US" sz="630" dirty="0"/>
          </a:p>
        </p:txBody>
      </p:sp>
      <p:sp>
        <p:nvSpPr>
          <p:cNvPr id="55" name="Text 41"/>
          <p:cNvSpPr txBox="1"/>
          <p:nvPr/>
        </p:nvSpPr>
        <p:spPr>
          <a:xfrm>
            <a:off x="11410406"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Mar-Jul</a:t>
            </a:r>
            <a:endParaRPr lang="en-US" sz="630" dirty="0"/>
          </a:p>
        </p:txBody>
      </p:sp>
      <p:sp>
        <p:nvSpPr>
          <p:cNvPr id="56" name="Text 42"/>
          <p:cNvSpPr txBox="1"/>
          <p:nvPr/>
        </p:nvSpPr>
        <p:spPr>
          <a:xfrm>
            <a:off x="11763103" y="2724912"/>
            <a:ext cx="352697" cy="182880"/>
          </a:xfrm>
          <a:prstGeom prst="rect">
            <a:avLst/>
          </a:prstGeom>
          <a:noFill/>
          <a:ln/>
        </p:spPr>
        <p:txBody>
          <a:bodyPr wrap="square" lIns="0" tIns="0" rIns="0" bIns="0" rtlCol="0" anchor="ctr"/>
          <a:lstStyle/>
          <a:p>
            <a:pPr algn="ctr" indent="0" marL="0">
              <a:buNone/>
            </a:pPr>
            <a:r>
              <a:rPr lang="en-US" sz="630" b="1" dirty="0">
                <a:solidFill>
                  <a:srgbClr val="53565A"/>
                </a:solidFill>
                <a:latin typeface="Arial" pitchFamily="34" charset="0"/>
                <a:ea typeface="Arial" pitchFamily="34" charset="-122"/>
                <a:cs typeface="Arial" pitchFamily="34" charset="-120"/>
              </a:rPr>
              <a:t>Aug-Sep</a:t>
            </a:r>
            <a:endParaRPr lang="en-US" sz="630" dirty="0"/>
          </a:p>
        </p:txBody>
      </p:sp>
      <p:sp>
        <p:nvSpPr>
          <p:cNvPr id="57" name="Text 43"/>
          <p:cNvSpPr txBox="1"/>
          <p:nvPr/>
        </p:nvSpPr>
        <p:spPr>
          <a:xfrm>
            <a:off x="8485632" y="292608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Rs 10 sampling, kirana</a:t>
            </a:r>
            <a:endParaRPr lang="en-US" sz="660" dirty="0"/>
          </a:p>
        </p:txBody>
      </p:sp>
      <p:sp>
        <p:nvSpPr>
          <p:cNvPr id="58" name="Shape 44"/>
          <p:cNvSpPr/>
          <p:nvPr/>
        </p:nvSpPr>
        <p:spPr>
          <a:xfrm>
            <a:off x="9646920" y="3172968"/>
            <a:ext cx="2468880" cy="0"/>
          </a:xfrm>
          <a:prstGeom prst="line">
            <a:avLst/>
          </a:prstGeom>
          <a:noFill/>
          <a:ln w="6350">
            <a:solidFill>
              <a:srgbClr val="E6E6E6"/>
            </a:solidFill>
            <a:prstDash val="solid"/>
          </a:ln>
        </p:spPr>
      </p:sp>
      <p:sp>
        <p:nvSpPr>
          <p:cNvPr id="59" name="Shape 45"/>
          <p:cNvSpPr/>
          <p:nvPr/>
        </p:nvSpPr>
        <p:spPr>
          <a:xfrm>
            <a:off x="9665208" y="2971800"/>
            <a:ext cx="1726910" cy="155448"/>
          </a:xfrm>
          <a:prstGeom prst="rect">
            <a:avLst/>
          </a:prstGeom>
          <a:solidFill>
            <a:srgbClr val="26890D"/>
          </a:solidFill>
          <a:ln w="12700">
            <a:solidFill>
              <a:srgbClr val="26890D"/>
            </a:solidFill>
            <a:prstDash val="solid"/>
          </a:ln>
        </p:spPr>
      </p:sp>
      <p:sp>
        <p:nvSpPr>
          <p:cNvPr id="60" name="Text 46"/>
          <p:cNvSpPr txBox="1"/>
          <p:nvPr/>
        </p:nvSpPr>
        <p:spPr>
          <a:xfrm>
            <a:off x="8485632" y="320040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Campus stalls, tasting</a:t>
            </a:r>
            <a:endParaRPr lang="en-US" sz="660" dirty="0"/>
          </a:p>
        </p:txBody>
      </p:sp>
      <p:sp>
        <p:nvSpPr>
          <p:cNvPr id="61" name="Shape 47"/>
          <p:cNvSpPr/>
          <p:nvPr/>
        </p:nvSpPr>
        <p:spPr>
          <a:xfrm>
            <a:off x="9646920" y="3447288"/>
            <a:ext cx="2468880" cy="0"/>
          </a:xfrm>
          <a:prstGeom prst="line">
            <a:avLst/>
          </a:prstGeom>
          <a:noFill/>
          <a:ln w="6350">
            <a:solidFill>
              <a:srgbClr val="E6E6E6"/>
            </a:solidFill>
            <a:prstDash val="solid"/>
          </a:ln>
        </p:spPr>
      </p:sp>
      <p:sp>
        <p:nvSpPr>
          <p:cNvPr id="62" name="Shape 48"/>
          <p:cNvSpPr/>
          <p:nvPr/>
        </p:nvSpPr>
        <p:spPr>
          <a:xfrm>
            <a:off x="9665208" y="3246120"/>
            <a:ext cx="1726910" cy="155448"/>
          </a:xfrm>
          <a:prstGeom prst="rect">
            <a:avLst/>
          </a:prstGeom>
          <a:solidFill>
            <a:srgbClr val="0097A9"/>
          </a:solidFill>
          <a:ln w="12700">
            <a:solidFill>
              <a:srgbClr val="0097A9"/>
            </a:solidFill>
            <a:prstDash val="solid"/>
          </a:ln>
        </p:spPr>
      </p:sp>
      <p:sp>
        <p:nvSpPr>
          <p:cNvPr id="63" name="Text 49"/>
          <p:cNvSpPr txBox="1"/>
          <p:nvPr/>
        </p:nvSpPr>
        <p:spPr>
          <a:xfrm>
            <a:off x="8485632" y="347472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Regional TV and CTV</a:t>
            </a:r>
            <a:endParaRPr lang="en-US" sz="660" dirty="0"/>
          </a:p>
        </p:txBody>
      </p:sp>
      <p:sp>
        <p:nvSpPr>
          <p:cNvPr id="64" name="Shape 50"/>
          <p:cNvSpPr/>
          <p:nvPr/>
        </p:nvSpPr>
        <p:spPr>
          <a:xfrm>
            <a:off x="9646920" y="3721608"/>
            <a:ext cx="2468880" cy="0"/>
          </a:xfrm>
          <a:prstGeom prst="line">
            <a:avLst/>
          </a:prstGeom>
          <a:noFill/>
          <a:ln w="6350">
            <a:solidFill>
              <a:srgbClr val="E6E6E6"/>
            </a:solidFill>
            <a:prstDash val="solid"/>
          </a:ln>
        </p:spPr>
      </p:sp>
      <p:sp>
        <p:nvSpPr>
          <p:cNvPr id="65" name="Shape 51"/>
          <p:cNvSpPr/>
          <p:nvPr/>
        </p:nvSpPr>
        <p:spPr>
          <a:xfrm>
            <a:off x="9665208" y="3520440"/>
            <a:ext cx="1021515" cy="155448"/>
          </a:xfrm>
          <a:prstGeom prst="rect">
            <a:avLst/>
          </a:prstGeom>
          <a:solidFill>
            <a:srgbClr val="046A38"/>
          </a:solidFill>
          <a:ln w="12700">
            <a:solidFill>
              <a:srgbClr val="046A38"/>
            </a:solidFill>
            <a:prstDash val="solid"/>
          </a:ln>
        </p:spPr>
      </p:sp>
      <p:sp>
        <p:nvSpPr>
          <p:cNvPr id="66" name="Text 52"/>
          <p:cNvSpPr txBox="1"/>
          <p:nvPr/>
        </p:nvSpPr>
        <p:spPr>
          <a:xfrm>
            <a:off x="8485632" y="374904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Reels, Q-com ads</a:t>
            </a:r>
            <a:endParaRPr lang="en-US" sz="660" dirty="0"/>
          </a:p>
        </p:txBody>
      </p:sp>
      <p:sp>
        <p:nvSpPr>
          <p:cNvPr id="67" name="Shape 53"/>
          <p:cNvSpPr/>
          <p:nvPr/>
        </p:nvSpPr>
        <p:spPr>
          <a:xfrm>
            <a:off x="9646920" y="3995928"/>
            <a:ext cx="2468880" cy="0"/>
          </a:xfrm>
          <a:prstGeom prst="line">
            <a:avLst/>
          </a:prstGeom>
          <a:noFill/>
          <a:ln w="6350">
            <a:solidFill>
              <a:srgbClr val="E6E6E6"/>
            </a:solidFill>
            <a:prstDash val="solid"/>
          </a:ln>
        </p:spPr>
      </p:sp>
      <p:sp>
        <p:nvSpPr>
          <p:cNvPr id="68" name="Shape 54"/>
          <p:cNvSpPr/>
          <p:nvPr/>
        </p:nvSpPr>
        <p:spPr>
          <a:xfrm>
            <a:off x="9665208" y="3794760"/>
            <a:ext cx="2432304" cy="155448"/>
          </a:xfrm>
          <a:prstGeom prst="rect">
            <a:avLst/>
          </a:prstGeom>
          <a:solidFill>
            <a:srgbClr val="86BC25"/>
          </a:solidFill>
          <a:ln w="12700">
            <a:solidFill>
              <a:srgbClr val="86BC25"/>
            </a:solidFill>
            <a:prstDash val="solid"/>
          </a:ln>
        </p:spPr>
      </p:sp>
      <p:sp>
        <p:nvSpPr>
          <p:cNvPr id="69" name="Text 55"/>
          <p:cNvSpPr txBox="1"/>
          <p:nvPr/>
        </p:nvSpPr>
        <p:spPr>
          <a:xfrm>
            <a:off x="8485632" y="402336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In-pack with concentrates</a:t>
            </a:r>
            <a:endParaRPr lang="en-US" sz="660" dirty="0"/>
          </a:p>
        </p:txBody>
      </p:sp>
      <p:sp>
        <p:nvSpPr>
          <p:cNvPr id="70" name="Shape 56"/>
          <p:cNvSpPr/>
          <p:nvPr/>
        </p:nvSpPr>
        <p:spPr>
          <a:xfrm>
            <a:off x="9646920" y="4270248"/>
            <a:ext cx="2468880" cy="0"/>
          </a:xfrm>
          <a:prstGeom prst="line">
            <a:avLst/>
          </a:prstGeom>
          <a:noFill/>
          <a:ln w="6350">
            <a:solidFill>
              <a:srgbClr val="E6E6E6"/>
            </a:solidFill>
            <a:prstDash val="solid"/>
          </a:ln>
        </p:spPr>
      </p:sp>
      <p:sp>
        <p:nvSpPr>
          <p:cNvPr id="71" name="Shape 57"/>
          <p:cNvSpPr/>
          <p:nvPr/>
        </p:nvSpPr>
        <p:spPr>
          <a:xfrm>
            <a:off x="11428694" y="4069080"/>
            <a:ext cx="316121" cy="155448"/>
          </a:xfrm>
          <a:prstGeom prst="rect">
            <a:avLst/>
          </a:prstGeom>
          <a:solidFill>
            <a:srgbClr val="E0702B"/>
          </a:solidFill>
          <a:ln w="12700">
            <a:solidFill>
              <a:srgbClr val="E0702B"/>
            </a:solidFill>
            <a:prstDash val="solid"/>
          </a:ln>
        </p:spPr>
      </p:sp>
      <p:sp>
        <p:nvSpPr>
          <p:cNvPr id="72" name="Text 58"/>
          <p:cNvSpPr txBox="1"/>
          <p:nvPr/>
        </p:nvSpPr>
        <p:spPr>
          <a:xfrm>
            <a:off x="8485632" y="4297680"/>
            <a:ext cx="1143000" cy="237744"/>
          </a:xfrm>
          <a:prstGeom prst="rect">
            <a:avLst/>
          </a:prstGeom>
          <a:noFill/>
          <a:ln/>
        </p:spPr>
        <p:txBody>
          <a:bodyPr wrap="square" lIns="0" tIns="0" rIns="0" bIns="0" rtlCol="0" anchor="ctr"/>
          <a:lstStyle/>
          <a:p>
            <a:pPr indent="0" marL="0">
              <a:buNone/>
            </a:pPr>
            <a:r>
              <a:rPr lang="en-US" sz="660" dirty="0">
                <a:solidFill>
                  <a:srgbClr val="000000"/>
                </a:solidFill>
                <a:latin typeface="Arial" pitchFamily="34" charset="0"/>
                <a:ea typeface="Arial" pitchFamily="34" charset="-122"/>
                <a:cs typeface="Arial" pitchFamily="34" charset="-120"/>
              </a:rPr>
              <a:t>Winter racks, POSM</a:t>
            </a:r>
            <a:endParaRPr lang="en-US" sz="660" dirty="0"/>
          </a:p>
        </p:txBody>
      </p:sp>
      <p:sp>
        <p:nvSpPr>
          <p:cNvPr id="73" name="Shape 59"/>
          <p:cNvSpPr/>
          <p:nvPr/>
        </p:nvSpPr>
        <p:spPr>
          <a:xfrm>
            <a:off x="9646920" y="4544568"/>
            <a:ext cx="2468880" cy="0"/>
          </a:xfrm>
          <a:prstGeom prst="line">
            <a:avLst/>
          </a:prstGeom>
          <a:noFill/>
          <a:ln w="6350">
            <a:solidFill>
              <a:srgbClr val="E6E6E6"/>
            </a:solidFill>
            <a:prstDash val="solid"/>
          </a:ln>
        </p:spPr>
      </p:sp>
      <p:sp>
        <p:nvSpPr>
          <p:cNvPr id="74" name="Shape 60"/>
          <p:cNvSpPr/>
          <p:nvPr/>
        </p:nvSpPr>
        <p:spPr>
          <a:xfrm>
            <a:off x="9665208" y="4343400"/>
            <a:ext cx="1726910" cy="155448"/>
          </a:xfrm>
          <a:prstGeom prst="rect">
            <a:avLst/>
          </a:prstGeom>
          <a:solidFill>
            <a:srgbClr val="53565A"/>
          </a:solidFill>
          <a:ln w="12700">
            <a:solidFill>
              <a:srgbClr val="53565A"/>
            </a:solidFill>
            <a:prstDash val="solid"/>
          </a:ln>
        </p:spPr>
      </p:sp>
      <p:sp>
        <p:nvSpPr>
          <p:cNvPr id="75" name="Shape 61"/>
          <p:cNvSpPr/>
          <p:nvPr/>
        </p:nvSpPr>
        <p:spPr>
          <a:xfrm>
            <a:off x="8485632" y="4617720"/>
            <a:ext cx="3630168" cy="1280160"/>
          </a:xfrm>
          <a:prstGeom prst="rect">
            <a:avLst/>
          </a:prstGeom>
          <a:solidFill>
            <a:srgbClr val="E3F1D0"/>
          </a:solidFill>
          <a:ln w="12700">
            <a:solidFill>
              <a:srgbClr val="E3F1D0"/>
            </a:solidFill>
            <a:prstDash val="solid"/>
          </a:ln>
        </p:spPr>
      </p:sp>
      <p:sp>
        <p:nvSpPr>
          <p:cNvPr id="76" name="Text 62"/>
          <p:cNvSpPr txBox="1"/>
          <p:nvPr/>
        </p:nvSpPr>
        <p:spPr>
          <a:xfrm>
            <a:off x="8558784" y="4645152"/>
            <a:ext cx="3511296" cy="1234440"/>
          </a:xfrm>
          <a:prstGeom prst="rect">
            <a:avLst/>
          </a:prstGeom>
          <a:noFill/>
          <a:ln/>
        </p:spPr>
        <p:txBody>
          <a:bodyPr wrap="square" lIns="0" tIns="0" rIns="0" bIns="0" rtlCol="0" anchor="t"/>
          <a:lstStyle/>
          <a:p>
            <a:pPr indent="0" marL="0">
              <a:spcAft>
                <a:spcPts val="150"/>
              </a:spcAft>
              <a:buNone/>
            </a:pPr>
            <a:r>
              <a:rPr lang="en-US" sz="700" b="1" dirty="0">
                <a:solidFill>
                  <a:srgbClr val="000000"/>
                </a:solidFill>
                <a:latin typeface="Arial" pitchFamily="34" charset="0"/>
                <a:ea typeface="Arial" pitchFamily="34" charset="-122"/>
                <a:cs typeface="Arial" pitchFamily="34" charset="-120"/>
              </a:rPr>
              <a:t>Discovery routes consumers named</a:t>
            </a:r>
            <a:endParaRPr lang="en-US" sz="700" dirty="0"/>
          </a:p>
          <a:p>
            <a:pPr marL="127000" indent="-127000">
              <a:spcAft>
                <a:spcPts val="150"/>
              </a:spcAft>
              <a:buSzPct val="100000"/>
              <a:buChar char="■"/>
            </a:pPr>
            <a:r>
              <a:rPr lang="en-US" sz="700" dirty="0">
                <a:solidFill>
                  <a:srgbClr val="000000"/>
                </a:solidFill>
                <a:latin typeface="Arial" pitchFamily="34" charset="0"/>
                <a:ea typeface="Arial" pitchFamily="34" charset="-122"/>
                <a:cs typeface="Arial" pitchFamily="34" charset="-120"/>
              </a:rPr>
              <a:t>Friends and family: in-pack sachets with summer concentrates (Anjali, Pooja, Aman, Sneha)</a:t>
            </a:r>
            <a:endParaRPr lang="en-US" sz="700" dirty="0"/>
          </a:p>
          <a:p>
            <a:pPr marL="127000" indent="-127000">
              <a:spcAft>
                <a:spcPts val="150"/>
              </a:spcAft>
              <a:buSzPct val="100000"/>
              <a:buChar char="■"/>
            </a:pPr>
            <a:r>
              <a:rPr lang="en-US" sz="700" dirty="0">
                <a:solidFill>
                  <a:srgbClr val="000000"/>
                </a:solidFill>
                <a:latin typeface="Arial" pitchFamily="34" charset="0"/>
                <a:ea typeface="Arial" pitchFamily="34" charset="-122"/>
                <a:cs typeface="Arial" pitchFamily="34" charset="-120"/>
              </a:rPr>
              <a:t>Instagram reels with real kitchens (Riya, Aditya)</a:t>
            </a:r>
            <a:endParaRPr lang="en-US" sz="700" dirty="0"/>
          </a:p>
          <a:p>
            <a:pPr marL="127000" indent="-127000">
              <a:spcAft>
                <a:spcPts val="150"/>
              </a:spcAft>
              <a:buSzPct val="100000"/>
              <a:buChar char="■"/>
            </a:pPr>
            <a:r>
              <a:rPr lang="en-US" sz="700" dirty="0">
                <a:solidFill>
                  <a:srgbClr val="000000"/>
                </a:solidFill>
                <a:latin typeface="Arial" pitchFamily="34" charset="0"/>
                <a:ea typeface="Arial" pitchFamily="34" charset="-122"/>
                <a:cs typeface="Arial" pitchFamily="34" charset="-120"/>
              </a:rPr>
              <a:t>Q-com new-launch shelves (Aditya, Anjali)</a:t>
            </a:r>
            <a:endParaRPr lang="en-US" sz="700" dirty="0"/>
          </a:p>
          <a:p>
            <a:pPr marL="127000" indent="-127000">
              <a:spcAft>
                <a:spcPts val="150"/>
              </a:spcAft>
              <a:buSzPct val="100000"/>
              <a:buChar char="■"/>
            </a:pPr>
            <a:r>
              <a:rPr lang="en-US" sz="700" dirty="0">
                <a:solidFill>
                  <a:srgbClr val="000000"/>
                </a:solidFill>
                <a:latin typeface="Arial" pitchFamily="34" charset="0"/>
                <a:ea typeface="Arial" pitchFamily="34" charset="-122"/>
                <a:cs typeface="Arial" pitchFamily="34" charset="-120"/>
              </a:rPr>
              <a:t>Campus stalls and free tasting (Karan, Aman)</a:t>
            </a:r>
            <a:endParaRPr lang="en-US" sz="700" dirty="0"/>
          </a:p>
        </p:txBody>
      </p:sp>
      <p:sp>
        <p:nvSpPr>
          <p:cNvPr id="77" name="Shape 63"/>
          <p:cNvSpPr/>
          <p:nvPr/>
        </p:nvSpPr>
        <p:spPr>
          <a:xfrm>
            <a:off x="0" y="5961888"/>
            <a:ext cx="12191695" cy="530352"/>
          </a:xfrm>
          <a:prstGeom prst="rect">
            <a:avLst/>
          </a:prstGeom>
          <a:solidFill>
            <a:srgbClr val="86BC25"/>
          </a:solidFill>
          <a:ln w="12700">
            <a:solidFill>
              <a:srgbClr val="86BC25"/>
            </a:solidFill>
            <a:prstDash val="solid"/>
          </a:ln>
        </p:spPr>
      </p:sp>
      <p:sp>
        <p:nvSpPr>
          <p:cNvPr id="78" name="Text 64"/>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Distributors win too: </a:t>
            </a:r>
            <a:pPr algn="ctr" indent="0" marL="0">
              <a:buNone/>
            </a:pPr>
            <a:r>
              <a:rPr lang="en-US" sz="1250" dirty="0">
                <a:solidFill>
                  <a:srgbClr val="000000"/>
                </a:solidFill>
                <a:latin typeface="Arial" pitchFamily="34" charset="0"/>
                <a:ea typeface="Arial" pitchFamily="34" charset="-122"/>
                <a:cs typeface="Arial" pitchFamily="34" charset="-120"/>
              </a:rPr>
              <a:t>every new SKU and every dark store runs through them, and trial packs stay off quick-commerce where they lose money.</a:t>
            </a:r>
            <a:endParaRPr lang="en-US" sz="1250" dirty="0"/>
          </a:p>
        </p:txBody>
      </p:sp>
      <p:sp>
        <p:nvSpPr>
          <p:cNvPr id="79" name="Text 65"/>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team Excel model (SKU_Channel_Model, Distributor_Econ, A&amp;P split); Case Exhibits 2, 3, 4.1, 6; team FGDs (discovery routes). Channel contribution after partner margin, trade spend and freight. Marketing calendar is the team plan.</a:t>
            </a:r>
            <a:endParaRPr lang="en-US" sz="730" dirty="0"/>
          </a:p>
        </p:txBody>
      </p:sp>
      <p:sp>
        <p:nvSpPr>
          <p:cNvPr id="80" name="Text 66"/>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9. The Launch Engine: A 6-Month Stage-Gate With Kill Rules</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Every gate has a date, an owner, a kill rule and a budget tranche; each Exhibit 6 failure maps to the gate that would have stopped it</a:t>
            </a:r>
            <a:endParaRPr lang="en-US" sz="1250" dirty="0"/>
          </a:p>
        </p:txBody>
      </p:sp>
      <p:sp>
        <p:nvSpPr>
          <p:cNvPr id="6" name="Text 4"/>
          <p:cNvSpPr txBox="1"/>
          <p:nvPr/>
        </p:nvSpPr>
        <p:spPr>
          <a:xfrm>
            <a:off x="109728" y="749808"/>
            <a:ext cx="119786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Five gates, 26 weeks (from ~11 months; peers 6-8)</a:t>
            </a:r>
            <a:endParaRPr lang="en-US" sz="1100" dirty="0"/>
          </a:p>
        </p:txBody>
      </p:sp>
      <p:sp>
        <p:nvSpPr>
          <p:cNvPr id="7" name="Shape 5"/>
          <p:cNvSpPr/>
          <p:nvPr/>
        </p:nvSpPr>
        <p:spPr>
          <a:xfrm>
            <a:off x="109728" y="1005840"/>
            <a:ext cx="2468880" cy="502920"/>
          </a:xfrm>
          <a:prstGeom prst="chevron">
            <a:avLst/>
          </a:prstGeom>
          <a:solidFill>
            <a:srgbClr val="046A38"/>
          </a:solidFill>
          <a:ln w="12700">
            <a:solidFill>
              <a:srgbClr val="FFFFFF"/>
            </a:solidFill>
            <a:prstDash val="solid"/>
          </a:ln>
        </p:spPr>
      </p:sp>
      <p:sp>
        <p:nvSpPr>
          <p:cNvPr id="8" name="Text 6"/>
          <p:cNvSpPr txBox="1"/>
          <p:nvPr/>
        </p:nvSpPr>
        <p:spPr>
          <a:xfrm>
            <a:off x="429768" y="1005840"/>
            <a:ext cx="182880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Discover</a:t>
            </a:r>
            <a:endParaRPr lang="en-US" sz="1000" dirty="0"/>
          </a:p>
          <a:p>
            <a:pPr algn="ctr" indent="0" marL="0">
              <a:buNone/>
            </a:pPr>
            <a:r>
              <a:rPr lang="en-US" sz="750" dirty="0">
                <a:solidFill>
                  <a:srgbClr val="FFFFFF"/>
                </a:solidFill>
                <a:latin typeface="Arial" pitchFamily="34" charset="0"/>
                <a:ea typeface="Arial" pitchFamily="34" charset="-122"/>
                <a:cs typeface="Arial" pitchFamily="34" charset="-120"/>
              </a:rPr>
              <a:t>Wk 0-4</a:t>
            </a:r>
            <a:endParaRPr lang="en-US" sz="1000" dirty="0"/>
          </a:p>
        </p:txBody>
      </p:sp>
      <p:sp>
        <p:nvSpPr>
          <p:cNvPr id="9" name="Shape 7"/>
          <p:cNvSpPr/>
          <p:nvPr/>
        </p:nvSpPr>
        <p:spPr>
          <a:xfrm>
            <a:off x="155448" y="1572768"/>
            <a:ext cx="2286000" cy="1097280"/>
          </a:xfrm>
          <a:prstGeom prst="rect">
            <a:avLst/>
          </a:prstGeom>
          <a:solidFill>
            <a:srgbClr val="F2F2F2"/>
          </a:solidFill>
          <a:ln w="12700">
            <a:solidFill>
              <a:srgbClr val="D0D0CE"/>
            </a:solidFill>
            <a:prstDash val="solid"/>
          </a:ln>
        </p:spPr>
      </p:sp>
      <p:sp>
        <p:nvSpPr>
          <p:cNvPr id="10" name="Text 8"/>
          <p:cNvSpPr txBox="1"/>
          <p:nvPr/>
        </p:nvSpPr>
        <p:spPr>
          <a:xfrm>
            <a:off x="201168" y="1591056"/>
            <a:ext cx="2212848" cy="1060704"/>
          </a:xfrm>
          <a:prstGeom prst="rect">
            <a:avLst/>
          </a:prstGeom>
          <a:noFill/>
          <a:ln/>
        </p:spPr>
        <p:txBody>
          <a:bodyPr wrap="square" lIns="0" tIns="0" rIns="0" bIns="0" rtlCol="0" anchor="t"/>
          <a:lstStyle/>
          <a:p>
            <a:pPr indent="0" marL="0">
              <a:spcAft>
                <a:spcPts val="100"/>
              </a:spcAft>
              <a:buNone/>
            </a:pPr>
            <a:r>
              <a:rPr lang="en-US" sz="700" b="1" dirty="0">
                <a:solidFill>
                  <a:srgbClr val="000000"/>
                </a:solidFill>
                <a:latin typeface="Arial" pitchFamily="34" charset="0"/>
                <a:ea typeface="Arial" pitchFamily="34" charset="-122"/>
                <a:cs typeface="Arial" pitchFamily="34" charset="-120"/>
              </a:rPr>
              <a:t>Evidence: </a:t>
            </a:r>
            <a:pPr indent="0" marL="0">
              <a:spcAft>
                <a:spcPts val="100"/>
              </a:spcAft>
              <a:buNone/>
            </a:pPr>
            <a:r>
              <a:rPr lang="en-US" sz="700" dirty="0">
                <a:solidFill>
                  <a:srgbClr val="000000"/>
                </a:solidFill>
                <a:latin typeface="Arial" pitchFamily="34" charset="0"/>
                <a:ea typeface="Arial" pitchFamily="34" charset="-122"/>
                <a:cs typeface="Arial" pitchFamily="34" charset="-120"/>
              </a:rPr>
              <a:t>Interviews, FGDs, kirana visits; category screen</a:t>
            </a:r>
            <a:endParaRPr lang="en-US" sz="700" dirty="0"/>
          </a:p>
          <a:p>
            <a:pPr indent="0" marL="0">
              <a:spcAft>
                <a:spcPts val="100"/>
              </a:spcAft>
              <a:buNone/>
            </a:pPr>
            <a:r>
              <a:rPr lang="en-US" sz="700" b="1" dirty="0">
                <a:solidFill>
                  <a:srgbClr val="C0392B"/>
                </a:solidFill>
                <a:latin typeface="Arial" pitchFamily="34" charset="0"/>
                <a:ea typeface="Arial" pitchFamily="34" charset="-122"/>
                <a:cs typeface="Arial" pitchFamily="34" charset="-120"/>
              </a:rPr>
              <a:t>Kill if: </a:t>
            </a:r>
            <a:pPr indent="0" marL="0">
              <a:spcAft>
                <a:spcPts val="100"/>
              </a:spcAft>
              <a:buNone/>
            </a:pPr>
            <a:r>
              <a:rPr lang="en-US" sz="700" dirty="0">
                <a:solidFill>
                  <a:srgbClr val="000000"/>
                </a:solidFill>
                <a:latin typeface="Arial" pitchFamily="34" charset="0"/>
                <a:ea typeface="Arial" pitchFamily="34" charset="-122"/>
                <a:cs typeface="Arial" pitchFamily="34" charset="-120"/>
              </a:rPr>
              <a:t>Board fit &gt;= 4</a:t>
            </a:r>
            <a:endParaRPr lang="en-US" sz="700" dirty="0"/>
          </a:p>
          <a:p>
            <a:pPr indent="0" marL="0">
              <a:spcAft>
                <a:spcPts val="100"/>
              </a:spcAft>
              <a:buNone/>
            </a:pPr>
            <a:r>
              <a:rPr lang="en-US" sz="700" b="1" dirty="0">
                <a:solidFill>
                  <a:srgbClr val="000000"/>
                </a:solidFill>
                <a:latin typeface="Arial" pitchFamily="34" charset="0"/>
                <a:ea typeface="Arial" pitchFamily="34" charset="-122"/>
                <a:cs typeface="Arial" pitchFamily="34" charset="-120"/>
              </a:rPr>
              <a:t>Owner: </a:t>
            </a:r>
            <a:pPr indent="0" marL="0">
              <a:spcAft>
                <a:spcPts val="100"/>
              </a:spcAft>
              <a:buNone/>
            </a:pPr>
            <a:r>
              <a:rPr lang="en-US" sz="700" dirty="0">
                <a:solidFill>
                  <a:srgbClr val="000000"/>
                </a:solidFill>
                <a:latin typeface="Arial" pitchFamily="34" charset="0"/>
                <a:ea typeface="Arial" pitchFamily="34" charset="-122"/>
                <a:cs typeface="Arial" pitchFamily="34" charset="-120"/>
              </a:rPr>
              <a:t>Strategy</a:t>
            </a:r>
            <a:endParaRPr lang="en-US" sz="700" dirty="0"/>
          </a:p>
          <a:p>
            <a:pPr indent="0" marL="0">
              <a:spcAft>
                <a:spcPts val="100"/>
              </a:spcAft>
              <a:buNone/>
            </a:pPr>
            <a:r>
              <a:rPr lang="en-US" sz="700" i="1" dirty="0">
                <a:solidFill>
                  <a:srgbClr val="53565A"/>
                </a:solidFill>
                <a:latin typeface="Arial" pitchFamily="34" charset="0"/>
                <a:ea typeface="Arial" pitchFamily="34" charset="-122"/>
                <a:cs typeface="Arial" pitchFamily="34" charset="-120"/>
              </a:rPr>
              <a:t>Would have stopped: Promoter-led ideas</a:t>
            </a:r>
            <a:endParaRPr lang="en-US" sz="700" dirty="0"/>
          </a:p>
        </p:txBody>
      </p:sp>
      <p:sp>
        <p:nvSpPr>
          <p:cNvPr id="11" name="Shape 9"/>
          <p:cNvSpPr/>
          <p:nvPr/>
        </p:nvSpPr>
        <p:spPr>
          <a:xfrm>
            <a:off x="2514600" y="1005840"/>
            <a:ext cx="2468880" cy="502920"/>
          </a:xfrm>
          <a:prstGeom prst="chevron">
            <a:avLst/>
          </a:prstGeom>
          <a:solidFill>
            <a:srgbClr val="26890D"/>
          </a:solidFill>
          <a:ln w="12700">
            <a:solidFill>
              <a:srgbClr val="FFFFFF"/>
            </a:solidFill>
            <a:prstDash val="solid"/>
          </a:ln>
        </p:spPr>
      </p:sp>
      <p:sp>
        <p:nvSpPr>
          <p:cNvPr id="12" name="Text 10"/>
          <p:cNvSpPr txBox="1"/>
          <p:nvPr/>
        </p:nvSpPr>
        <p:spPr>
          <a:xfrm>
            <a:off x="2834640" y="1005840"/>
            <a:ext cx="182880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Concept</a:t>
            </a:r>
            <a:endParaRPr lang="en-US" sz="1000" dirty="0"/>
          </a:p>
          <a:p>
            <a:pPr algn="ctr" indent="0" marL="0">
              <a:buNone/>
            </a:pPr>
            <a:r>
              <a:rPr lang="en-US" sz="750" dirty="0">
                <a:solidFill>
                  <a:srgbClr val="FFFFFF"/>
                </a:solidFill>
                <a:latin typeface="Arial" pitchFamily="34" charset="0"/>
                <a:ea typeface="Arial" pitchFamily="34" charset="-122"/>
                <a:cs typeface="Arial" pitchFamily="34" charset="-120"/>
              </a:rPr>
              <a:t>Wk 5-8</a:t>
            </a:r>
            <a:endParaRPr lang="en-US" sz="1000" dirty="0"/>
          </a:p>
        </p:txBody>
      </p:sp>
      <p:sp>
        <p:nvSpPr>
          <p:cNvPr id="13" name="Shape 11"/>
          <p:cNvSpPr/>
          <p:nvPr/>
        </p:nvSpPr>
        <p:spPr>
          <a:xfrm>
            <a:off x="2560320" y="1572768"/>
            <a:ext cx="2286000" cy="1097280"/>
          </a:xfrm>
          <a:prstGeom prst="rect">
            <a:avLst/>
          </a:prstGeom>
          <a:solidFill>
            <a:srgbClr val="F2F2F2"/>
          </a:solidFill>
          <a:ln w="12700">
            <a:solidFill>
              <a:srgbClr val="D0D0CE"/>
            </a:solidFill>
            <a:prstDash val="solid"/>
          </a:ln>
        </p:spPr>
      </p:sp>
      <p:sp>
        <p:nvSpPr>
          <p:cNvPr id="14" name="Text 12"/>
          <p:cNvSpPr txBox="1"/>
          <p:nvPr/>
        </p:nvSpPr>
        <p:spPr>
          <a:xfrm>
            <a:off x="2606040" y="1591056"/>
            <a:ext cx="2212848" cy="1060704"/>
          </a:xfrm>
          <a:prstGeom prst="rect">
            <a:avLst/>
          </a:prstGeom>
          <a:noFill/>
          <a:ln/>
        </p:spPr>
        <p:txBody>
          <a:bodyPr wrap="square" lIns="0" tIns="0" rIns="0" bIns="0" rtlCol="0" anchor="t"/>
          <a:lstStyle/>
          <a:p>
            <a:pPr indent="0" marL="0">
              <a:spcAft>
                <a:spcPts val="100"/>
              </a:spcAft>
              <a:buNone/>
            </a:pPr>
            <a:r>
              <a:rPr lang="en-US" sz="700" b="1" dirty="0">
                <a:solidFill>
                  <a:srgbClr val="000000"/>
                </a:solidFill>
                <a:latin typeface="Arial" pitchFamily="34" charset="0"/>
                <a:ea typeface="Arial" pitchFamily="34" charset="-122"/>
                <a:cs typeface="Arial" pitchFamily="34" charset="-120"/>
              </a:rPr>
              <a:t>Evidence: </a:t>
            </a:r>
            <a:pPr indent="0" marL="0">
              <a:spcAft>
                <a:spcPts val="100"/>
              </a:spcAft>
              <a:buNone/>
            </a:pPr>
            <a:r>
              <a:rPr lang="en-US" sz="700" dirty="0">
                <a:solidFill>
                  <a:srgbClr val="000000"/>
                </a:solidFill>
                <a:latin typeface="Arial" pitchFamily="34" charset="0"/>
                <a:ea typeface="Arial" pitchFamily="34" charset="-122"/>
                <a:cs typeface="Arial" pitchFamily="34" charset="-120"/>
              </a:rPr>
              <a:t>Concept test, n=200 per region</a:t>
            </a:r>
            <a:endParaRPr lang="en-US" sz="700" dirty="0"/>
          </a:p>
          <a:p>
            <a:pPr indent="0" marL="0">
              <a:spcAft>
                <a:spcPts val="100"/>
              </a:spcAft>
              <a:buNone/>
            </a:pPr>
            <a:r>
              <a:rPr lang="en-US" sz="700" b="1" dirty="0">
                <a:solidFill>
                  <a:srgbClr val="C0392B"/>
                </a:solidFill>
                <a:latin typeface="Arial" pitchFamily="34" charset="0"/>
                <a:ea typeface="Arial" pitchFamily="34" charset="-122"/>
                <a:cs typeface="Arial" pitchFamily="34" charset="-120"/>
              </a:rPr>
              <a:t>Kill if: </a:t>
            </a:r>
            <a:pPr indent="0" marL="0">
              <a:spcAft>
                <a:spcPts val="100"/>
              </a:spcAft>
              <a:buNone/>
            </a:pPr>
            <a:r>
              <a:rPr lang="en-US" sz="700" dirty="0">
                <a:solidFill>
                  <a:srgbClr val="000000"/>
                </a:solidFill>
                <a:latin typeface="Arial" pitchFamily="34" charset="0"/>
                <a:ea typeface="Arial" pitchFamily="34" charset="-122"/>
                <a:cs typeface="Arial" pitchFamily="34" charset="-120"/>
              </a:rPr>
              <a:t>Top-2-box &gt;= 40%</a:t>
            </a:r>
            <a:endParaRPr lang="en-US" sz="700" dirty="0"/>
          </a:p>
          <a:p>
            <a:pPr indent="0" marL="0">
              <a:spcAft>
                <a:spcPts val="100"/>
              </a:spcAft>
              <a:buNone/>
            </a:pPr>
            <a:r>
              <a:rPr lang="en-US" sz="700" b="1" dirty="0">
                <a:solidFill>
                  <a:srgbClr val="000000"/>
                </a:solidFill>
                <a:latin typeface="Arial" pitchFamily="34" charset="0"/>
                <a:ea typeface="Arial" pitchFamily="34" charset="-122"/>
                <a:cs typeface="Arial" pitchFamily="34" charset="-120"/>
              </a:rPr>
              <a:t>Owner: </a:t>
            </a:r>
            <a:pPr indent="0" marL="0">
              <a:spcAft>
                <a:spcPts val="100"/>
              </a:spcAft>
              <a:buNone/>
            </a:pPr>
            <a:r>
              <a:rPr lang="en-US" sz="700" dirty="0">
                <a:solidFill>
                  <a:srgbClr val="000000"/>
                </a:solidFill>
                <a:latin typeface="Arial" pitchFamily="34" charset="0"/>
                <a:ea typeface="Arial" pitchFamily="34" charset="-122"/>
                <a:cs typeface="Arial" pitchFamily="34" charset="-120"/>
              </a:rPr>
              <a:t>Marketing</a:t>
            </a:r>
            <a:endParaRPr lang="en-US" sz="700" dirty="0"/>
          </a:p>
          <a:p>
            <a:pPr indent="0" marL="0">
              <a:spcAft>
                <a:spcPts val="100"/>
              </a:spcAft>
              <a:buNone/>
            </a:pPr>
            <a:r>
              <a:rPr lang="en-US" sz="700" i="1" dirty="0">
                <a:solidFill>
                  <a:srgbClr val="53565A"/>
                </a:solidFill>
                <a:latin typeface="Arial" pitchFamily="34" charset="0"/>
                <a:ea typeface="Arial" pitchFamily="34" charset="-122"/>
                <a:cs typeface="Arial" pitchFamily="34" charset="-120"/>
              </a:rPr>
              <a:t>Would have stopped: 3 of 6 untested</a:t>
            </a:r>
            <a:endParaRPr lang="en-US" sz="700" dirty="0"/>
          </a:p>
        </p:txBody>
      </p:sp>
      <p:sp>
        <p:nvSpPr>
          <p:cNvPr id="15" name="Shape 13"/>
          <p:cNvSpPr/>
          <p:nvPr/>
        </p:nvSpPr>
        <p:spPr>
          <a:xfrm>
            <a:off x="4919472" y="1005840"/>
            <a:ext cx="2468880" cy="502920"/>
          </a:xfrm>
          <a:prstGeom prst="chevron">
            <a:avLst/>
          </a:prstGeom>
          <a:solidFill>
            <a:srgbClr val="26890D"/>
          </a:solidFill>
          <a:ln w="12700">
            <a:solidFill>
              <a:srgbClr val="FFFFFF"/>
            </a:solidFill>
            <a:prstDash val="solid"/>
          </a:ln>
        </p:spPr>
      </p:sp>
      <p:sp>
        <p:nvSpPr>
          <p:cNvPr id="16" name="Text 14"/>
          <p:cNvSpPr txBox="1"/>
          <p:nvPr/>
        </p:nvSpPr>
        <p:spPr>
          <a:xfrm>
            <a:off x="5239512" y="1005840"/>
            <a:ext cx="182880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Product &amp; pack</a:t>
            </a:r>
            <a:endParaRPr lang="en-US" sz="1000" dirty="0"/>
          </a:p>
          <a:p>
            <a:pPr algn="ctr" indent="0" marL="0">
              <a:buNone/>
            </a:pPr>
            <a:r>
              <a:rPr lang="en-US" sz="750" dirty="0">
                <a:solidFill>
                  <a:srgbClr val="FFFFFF"/>
                </a:solidFill>
                <a:latin typeface="Arial" pitchFamily="34" charset="0"/>
                <a:ea typeface="Arial" pitchFamily="34" charset="-122"/>
                <a:cs typeface="Arial" pitchFamily="34" charset="-120"/>
              </a:rPr>
              <a:t>Wk 9-14</a:t>
            </a:r>
            <a:endParaRPr lang="en-US" sz="1000" dirty="0"/>
          </a:p>
        </p:txBody>
      </p:sp>
      <p:sp>
        <p:nvSpPr>
          <p:cNvPr id="17" name="Shape 15"/>
          <p:cNvSpPr/>
          <p:nvPr/>
        </p:nvSpPr>
        <p:spPr>
          <a:xfrm>
            <a:off x="4965192" y="1572768"/>
            <a:ext cx="2286000" cy="1097280"/>
          </a:xfrm>
          <a:prstGeom prst="rect">
            <a:avLst/>
          </a:prstGeom>
          <a:solidFill>
            <a:srgbClr val="F2F2F2"/>
          </a:solidFill>
          <a:ln w="12700">
            <a:solidFill>
              <a:srgbClr val="D0D0CE"/>
            </a:solidFill>
            <a:prstDash val="solid"/>
          </a:ln>
        </p:spPr>
      </p:sp>
      <p:sp>
        <p:nvSpPr>
          <p:cNvPr id="18" name="Text 16"/>
          <p:cNvSpPr txBox="1"/>
          <p:nvPr/>
        </p:nvSpPr>
        <p:spPr>
          <a:xfrm>
            <a:off x="5010912" y="1591056"/>
            <a:ext cx="2212848" cy="1060704"/>
          </a:xfrm>
          <a:prstGeom prst="rect">
            <a:avLst/>
          </a:prstGeom>
          <a:noFill/>
          <a:ln/>
        </p:spPr>
        <p:txBody>
          <a:bodyPr wrap="square" lIns="0" tIns="0" rIns="0" bIns="0" rtlCol="0" anchor="t"/>
          <a:lstStyle/>
          <a:p>
            <a:pPr indent="0" marL="0">
              <a:spcAft>
                <a:spcPts val="100"/>
              </a:spcAft>
              <a:buNone/>
            </a:pPr>
            <a:r>
              <a:rPr lang="en-US" sz="700" b="1" dirty="0">
                <a:solidFill>
                  <a:srgbClr val="000000"/>
                </a:solidFill>
                <a:latin typeface="Arial" pitchFamily="34" charset="0"/>
                <a:ea typeface="Arial" pitchFamily="34" charset="-122"/>
                <a:cs typeface="Arial" pitchFamily="34" charset="-120"/>
              </a:rPr>
              <a:t>Evidence: </a:t>
            </a:r>
            <a:pPr indent="0" marL="0">
              <a:spcAft>
                <a:spcPts val="100"/>
              </a:spcAft>
              <a:buNone/>
            </a:pPr>
            <a:r>
              <a:rPr lang="en-US" sz="700" dirty="0">
                <a:solidFill>
                  <a:srgbClr val="000000"/>
                </a:solidFill>
                <a:latin typeface="Arial" pitchFamily="34" charset="0"/>
                <a:ea typeface="Arial" pitchFamily="34" charset="-122"/>
                <a:cs typeface="Arial" pitchFamily="34" charset="-120"/>
              </a:rPr>
              <a:t>Blind test vs leader; 2 vendors at spec; NABL tests; line trial</a:t>
            </a:r>
            <a:endParaRPr lang="en-US" sz="700" dirty="0"/>
          </a:p>
          <a:p>
            <a:pPr indent="0" marL="0">
              <a:spcAft>
                <a:spcPts val="100"/>
              </a:spcAft>
              <a:buNone/>
            </a:pPr>
            <a:r>
              <a:rPr lang="en-US" sz="700" b="1" dirty="0">
                <a:solidFill>
                  <a:srgbClr val="C0392B"/>
                </a:solidFill>
                <a:latin typeface="Arial" pitchFamily="34" charset="0"/>
                <a:ea typeface="Arial" pitchFamily="34" charset="-122"/>
                <a:cs typeface="Arial" pitchFamily="34" charset="-120"/>
              </a:rPr>
              <a:t>Kill if: </a:t>
            </a:r>
            <a:pPr indent="0" marL="0">
              <a:spcAft>
                <a:spcPts val="100"/>
              </a:spcAft>
              <a:buNone/>
            </a:pPr>
            <a:r>
              <a:rPr lang="en-US" sz="700" dirty="0">
                <a:solidFill>
                  <a:srgbClr val="000000"/>
                </a:solidFill>
                <a:latin typeface="Arial" pitchFamily="34" charset="0"/>
                <a:ea typeface="Arial" pitchFamily="34" charset="-122"/>
                <a:cs typeface="Arial" pitchFamily="34" charset="-120"/>
              </a:rPr>
              <a:t>Below parity; &lt; 2 vendors</a:t>
            </a:r>
            <a:endParaRPr lang="en-US" sz="700" dirty="0"/>
          </a:p>
          <a:p>
            <a:pPr indent="0" marL="0">
              <a:spcAft>
                <a:spcPts val="100"/>
              </a:spcAft>
              <a:buNone/>
            </a:pPr>
            <a:r>
              <a:rPr lang="en-US" sz="700" b="1" dirty="0">
                <a:solidFill>
                  <a:srgbClr val="000000"/>
                </a:solidFill>
                <a:latin typeface="Arial" pitchFamily="34" charset="0"/>
                <a:ea typeface="Arial" pitchFamily="34" charset="-122"/>
                <a:cs typeface="Arial" pitchFamily="34" charset="-120"/>
              </a:rPr>
              <a:t>Owner: </a:t>
            </a:r>
            <a:pPr indent="0" marL="0">
              <a:spcAft>
                <a:spcPts val="100"/>
              </a:spcAft>
              <a:buNone/>
            </a:pPr>
            <a:r>
              <a:rPr lang="en-US" sz="700" dirty="0">
                <a:solidFill>
                  <a:srgbClr val="000000"/>
                </a:solidFill>
                <a:latin typeface="Arial" pitchFamily="34" charset="0"/>
                <a:ea typeface="Arial" pitchFamily="34" charset="-122"/>
                <a:cs typeface="Arial" pitchFamily="34" charset="-120"/>
              </a:rPr>
              <a:t>R&amp;D, QA</a:t>
            </a:r>
            <a:endParaRPr lang="en-US" sz="700" dirty="0"/>
          </a:p>
          <a:p>
            <a:pPr indent="0" marL="0">
              <a:spcAft>
                <a:spcPts val="100"/>
              </a:spcAft>
              <a:buNone/>
            </a:pPr>
            <a:r>
              <a:rPr lang="en-US" sz="700" i="1" dirty="0">
                <a:solidFill>
                  <a:srgbClr val="53565A"/>
                </a:solidFill>
                <a:latin typeface="Arial" pitchFamily="34" charset="0"/>
                <a:ea typeface="Arial" pitchFamily="34" charset="-122"/>
                <a:cs typeface="Arial" pitchFamily="34" charset="-120"/>
              </a:rPr>
              <a:t>Would have stopped: Energy drink write-off</a:t>
            </a:r>
            <a:endParaRPr lang="en-US" sz="700" dirty="0"/>
          </a:p>
        </p:txBody>
      </p:sp>
      <p:sp>
        <p:nvSpPr>
          <p:cNvPr id="19" name="Shape 17"/>
          <p:cNvSpPr/>
          <p:nvPr/>
        </p:nvSpPr>
        <p:spPr>
          <a:xfrm>
            <a:off x="7324344" y="1005840"/>
            <a:ext cx="2468880" cy="502920"/>
          </a:xfrm>
          <a:prstGeom prst="chevron">
            <a:avLst/>
          </a:prstGeom>
          <a:solidFill>
            <a:srgbClr val="86BC25"/>
          </a:solidFill>
          <a:ln w="12700">
            <a:solidFill>
              <a:srgbClr val="FFFFFF"/>
            </a:solidFill>
            <a:prstDash val="solid"/>
          </a:ln>
        </p:spPr>
      </p:sp>
      <p:sp>
        <p:nvSpPr>
          <p:cNvPr id="20" name="Text 18"/>
          <p:cNvSpPr txBox="1"/>
          <p:nvPr/>
        </p:nvSpPr>
        <p:spPr>
          <a:xfrm>
            <a:off x="7644384" y="1005840"/>
            <a:ext cx="1828800" cy="502920"/>
          </a:xfrm>
          <a:prstGeom prst="rect">
            <a:avLst/>
          </a:prstGeom>
          <a:noFill/>
          <a:ln/>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Price &amp; trade</a:t>
            </a:r>
            <a:endParaRPr lang="en-US" sz="1000" dirty="0"/>
          </a:p>
          <a:p>
            <a:pPr algn="ctr" indent="0" marL="0">
              <a:buNone/>
            </a:pPr>
            <a:r>
              <a:rPr lang="en-US" sz="750" dirty="0">
                <a:solidFill>
                  <a:srgbClr val="000000"/>
                </a:solidFill>
                <a:latin typeface="Arial" pitchFamily="34" charset="0"/>
                <a:ea typeface="Arial" pitchFamily="34" charset="-122"/>
                <a:cs typeface="Arial" pitchFamily="34" charset="-120"/>
              </a:rPr>
              <a:t>Wk 15-18</a:t>
            </a:r>
            <a:endParaRPr lang="en-US" sz="1000" dirty="0"/>
          </a:p>
        </p:txBody>
      </p:sp>
      <p:sp>
        <p:nvSpPr>
          <p:cNvPr id="21" name="Shape 19"/>
          <p:cNvSpPr/>
          <p:nvPr/>
        </p:nvSpPr>
        <p:spPr>
          <a:xfrm>
            <a:off x="7370064" y="1572768"/>
            <a:ext cx="2286000" cy="1097280"/>
          </a:xfrm>
          <a:prstGeom prst="rect">
            <a:avLst/>
          </a:prstGeom>
          <a:solidFill>
            <a:srgbClr val="F2F2F2"/>
          </a:solidFill>
          <a:ln w="12700">
            <a:solidFill>
              <a:srgbClr val="D0D0CE"/>
            </a:solidFill>
            <a:prstDash val="solid"/>
          </a:ln>
        </p:spPr>
      </p:sp>
      <p:sp>
        <p:nvSpPr>
          <p:cNvPr id="22" name="Text 20"/>
          <p:cNvSpPr txBox="1"/>
          <p:nvPr/>
        </p:nvSpPr>
        <p:spPr>
          <a:xfrm>
            <a:off x="7415784" y="1591056"/>
            <a:ext cx="2212848" cy="1060704"/>
          </a:xfrm>
          <a:prstGeom prst="rect">
            <a:avLst/>
          </a:prstGeom>
          <a:noFill/>
          <a:ln/>
        </p:spPr>
        <p:txBody>
          <a:bodyPr wrap="square" lIns="0" tIns="0" rIns="0" bIns="0" rtlCol="0" anchor="t"/>
          <a:lstStyle/>
          <a:p>
            <a:pPr indent="0" marL="0">
              <a:spcAft>
                <a:spcPts val="100"/>
              </a:spcAft>
              <a:buNone/>
            </a:pPr>
            <a:r>
              <a:rPr lang="en-US" sz="700" b="1" dirty="0">
                <a:solidFill>
                  <a:srgbClr val="000000"/>
                </a:solidFill>
                <a:latin typeface="Arial" pitchFamily="34" charset="0"/>
                <a:ea typeface="Arial" pitchFamily="34" charset="-122"/>
                <a:cs typeface="Arial" pitchFamily="34" charset="-120"/>
              </a:rPr>
              <a:t>Evidence: </a:t>
            </a:r>
            <a:pPr indent="0" marL="0">
              <a:spcAft>
                <a:spcPts val="100"/>
              </a:spcAft>
              <a:buNone/>
            </a:pPr>
            <a:r>
              <a:rPr lang="en-US" sz="700" dirty="0">
                <a:solidFill>
                  <a:srgbClr val="000000"/>
                </a:solidFill>
                <a:latin typeface="Arial" pitchFamily="34" charset="0"/>
                <a:ea typeface="Arial" pitchFamily="34" charset="-122"/>
                <a:cs typeface="Arial" pitchFamily="34" charset="-120"/>
              </a:rPr>
              <a:t>Price ladder; retailer and distributor clinic</a:t>
            </a:r>
            <a:endParaRPr lang="en-US" sz="700" dirty="0"/>
          </a:p>
          <a:p>
            <a:pPr indent="0" marL="0">
              <a:spcAft>
                <a:spcPts val="100"/>
              </a:spcAft>
              <a:buNone/>
            </a:pPr>
            <a:r>
              <a:rPr lang="en-US" sz="700" b="1" dirty="0">
                <a:solidFill>
                  <a:srgbClr val="C0392B"/>
                </a:solidFill>
                <a:latin typeface="Arial" pitchFamily="34" charset="0"/>
                <a:ea typeface="Arial" pitchFamily="34" charset="-122"/>
                <a:cs typeface="Arial" pitchFamily="34" charset="-120"/>
              </a:rPr>
              <a:t>Kill if: </a:t>
            </a:r>
            <a:pPr indent="0" marL="0">
              <a:spcAft>
                <a:spcPts val="100"/>
              </a:spcAft>
              <a:buNone/>
            </a:pPr>
            <a:r>
              <a:rPr lang="en-US" sz="700" dirty="0">
                <a:solidFill>
                  <a:srgbClr val="000000"/>
                </a:solidFill>
                <a:latin typeface="Arial" pitchFamily="34" charset="0"/>
                <a:ea typeface="Arial" pitchFamily="34" charset="-122"/>
                <a:cs typeface="Arial" pitchFamily="34" charset="-120"/>
              </a:rPr>
              <a:t>GT regular-pack contribution &lt; 20%; price &gt; leader +5%</a:t>
            </a:r>
            <a:endParaRPr lang="en-US" sz="700" dirty="0"/>
          </a:p>
          <a:p>
            <a:pPr indent="0" marL="0">
              <a:spcAft>
                <a:spcPts val="100"/>
              </a:spcAft>
              <a:buNone/>
            </a:pPr>
            <a:r>
              <a:rPr lang="en-US" sz="700" b="1" dirty="0">
                <a:solidFill>
                  <a:srgbClr val="000000"/>
                </a:solidFill>
                <a:latin typeface="Arial" pitchFamily="34" charset="0"/>
                <a:ea typeface="Arial" pitchFamily="34" charset="-122"/>
                <a:cs typeface="Arial" pitchFamily="34" charset="-120"/>
              </a:rPr>
              <a:t>Owner: </a:t>
            </a:r>
            <a:pPr indent="0" marL="0">
              <a:spcAft>
                <a:spcPts val="100"/>
              </a:spcAft>
              <a:buNone/>
            </a:pPr>
            <a:r>
              <a:rPr lang="en-US" sz="700" dirty="0">
                <a:solidFill>
                  <a:srgbClr val="000000"/>
                </a:solidFill>
                <a:latin typeface="Arial" pitchFamily="34" charset="0"/>
                <a:ea typeface="Arial" pitchFamily="34" charset="-122"/>
                <a:cs typeface="Arial" pitchFamily="34" charset="-120"/>
              </a:rPr>
              <a:t>Sales, Finance</a:t>
            </a:r>
            <a:endParaRPr lang="en-US" sz="700" dirty="0"/>
          </a:p>
          <a:p>
            <a:pPr indent="0" marL="0">
              <a:spcAft>
                <a:spcPts val="100"/>
              </a:spcAft>
              <a:buNone/>
            </a:pPr>
            <a:r>
              <a:rPr lang="en-US" sz="700" i="1" dirty="0">
                <a:solidFill>
                  <a:srgbClr val="53565A"/>
                </a:solidFill>
                <a:latin typeface="Arial" pitchFamily="34" charset="0"/>
                <a:ea typeface="Arial" pitchFamily="34" charset="-122"/>
                <a:cs typeface="Arial" pitchFamily="34" charset="-120"/>
              </a:rPr>
              <a:t>Would have stopped: Aloe vera, iced tea</a:t>
            </a:r>
            <a:endParaRPr lang="en-US" sz="700" dirty="0"/>
          </a:p>
        </p:txBody>
      </p:sp>
      <p:sp>
        <p:nvSpPr>
          <p:cNvPr id="23" name="Shape 21"/>
          <p:cNvSpPr/>
          <p:nvPr/>
        </p:nvSpPr>
        <p:spPr>
          <a:xfrm>
            <a:off x="9729216" y="1005840"/>
            <a:ext cx="2468880" cy="502920"/>
          </a:xfrm>
          <a:prstGeom prst="chevron">
            <a:avLst/>
          </a:prstGeom>
          <a:solidFill>
            <a:srgbClr val="86BC25"/>
          </a:solidFill>
          <a:ln w="12700">
            <a:solidFill>
              <a:srgbClr val="FFFFFF"/>
            </a:solidFill>
            <a:prstDash val="solid"/>
          </a:ln>
        </p:spPr>
      </p:sp>
      <p:sp>
        <p:nvSpPr>
          <p:cNvPr id="24" name="Text 22"/>
          <p:cNvSpPr txBox="1"/>
          <p:nvPr/>
        </p:nvSpPr>
        <p:spPr>
          <a:xfrm>
            <a:off x="10049256" y="1005840"/>
            <a:ext cx="1828800" cy="502920"/>
          </a:xfrm>
          <a:prstGeom prst="rect">
            <a:avLst/>
          </a:prstGeom>
          <a:noFill/>
          <a:ln/>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Test market</a:t>
            </a:r>
            <a:endParaRPr lang="en-US" sz="1000" dirty="0"/>
          </a:p>
          <a:p>
            <a:pPr algn="ctr" indent="0" marL="0">
              <a:buNone/>
            </a:pPr>
            <a:r>
              <a:rPr lang="en-US" sz="750" dirty="0">
                <a:solidFill>
                  <a:srgbClr val="000000"/>
                </a:solidFill>
                <a:latin typeface="Arial" pitchFamily="34" charset="0"/>
                <a:ea typeface="Arial" pitchFamily="34" charset="-122"/>
                <a:cs typeface="Arial" pitchFamily="34" charset="-120"/>
              </a:rPr>
              <a:t>Wk 19-26</a:t>
            </a:r>
            <a:endParaRPr lang="en-US" sz="1000" dirty="0"/>
          </a:p>
        </p:txBody>
      </p:sp>
      <p:sp>
        <p:nvSpPr>
          <p:cNvPr id="25" name="Shape 23"/>
          <p:cNvSpPr/>
          <p:nvPr/>
        </p:nvSpPr>
        <p:spPr>
          <a:xfrm>
            <a:off x="9774936" y="1572768"/>
            <a:ext cx="2286000" cy="1097280"/>
          </a:xfrm>
          <a:prstGeom prst="rect">
            <a:avLst/>
          </a:prstGeom>
          <a:solidFill>
            <a:srgbClr val="F2F2F2"/>
          </a:solidFill>
          <a:ln w="12700">
            <a:solidFill>
              <a:srgbClr val="D0D0CE"/>
            </a:solidFill>
            <a:prstDash val="solid"/>
          </a:ln>
        </p:spPr>
      </p:sp>
      <p:sp>
        <p:nvSpPr>
          <p:cNvPr id="26" name="Text 24"/>
          <p:cNvSpPr txBox="1"/>
          <p:nvPr/>
        </p:nvSpPr>
        <p:spPr>
          <a:xfrm>
            <a:off x="9820656" y="1591056"/>
            <a:ext cx="2212848" cy="1060704"/>
          </a:xfrm>
          <a:prstGeom prst="rect">
            <a:avLst/>
          </a:prstGeom>
          <a:noFill/>
          <a:ln/>
        </p:spPr>
        <p:txBody>
          <a:bodyPr wrap="square" lIns="0" tIns="0" rIns="0" bIns="0" rtlCol="0" anchor="t"/>
          <a:lstStyle/>
          <a:p>
            <a:pPr indent="0" marL="0">
              <a:spcAft>
                <a:spcPts val="100"/>
              </a:spcAft>
              <a:buNone/>
            </a:pPr>
            <a:r>
              <a:rPr lang="en-US" sz="700" b="1" dirty="0">
                <a:solidFill>
                  <a:srgbClr val="000000"/>
                </a:solidFill>
                <a:latin typeface="Arial" pitchFamily="34" charset="0"/>
                <a:ea typeface="Arial" pitchFamily="34" charset="-122"/>
                <a:cs typeface="Arial" pitchFamily="34" charset="-120"/>
              </a:rPr>
              <a:t>Evidence: </a:t>
            </a:r>
            <a:pPr indent="0" marL="0">
              <a:spcAft>
                <a:spcPts val="100"/>
              </a:spcAft>
              <a:buNone/>
            </a:pPr>
            <a:r>
              <a:rPr lang="en-US" sz="700" dirty="0">
                <a:solidFill>
                  <a:srgbClr val="000000"/>
                </a:solidFill>
                <a:latin typeface="Arial" pitchFamily="34" charset="0"/>
                <a:ea typeface="Arial" pitchFamily="34" charset="-122"/>
                <a:cs typeface="Arial" pitchFamily="34" charset="-120"/>
              </a:rPr>
              <a:t>2 districts, GT + Q-com, 8 weeks</a:t>
            </a:r>
            <a:endParaRPr lang="en-US" sz="700" dirty="0"/>
          </a:p>
          <a:p>
            <a:pPr indent="0" marL="0">
              <a:spcAft>
                <a:spcPts val="100"/>
              </a:spcAft>
              <a:buNone/>
            </a:pPr>
            <a:r>
              <a:rPr lang="en-US" sz="700" b="1" dirty="0">
                <a:solidFill>
                  <a:srgbClr val="C0392B"/>
                </a:solidFill>
                <a:latin typeface="Arial" pitchFamily="34" charset="0"/>
                <a:ea typeface="Arial" pitchFamily="34" charset="-122"/>
                <a:cs typeface="Arial" pitchFamily="34" charset="-120"/>
              </a:rPr>
              <a:t>Kill if: </a:t>
            </a:r>
            <a:pPr indent="0" marL="0">
              <a:spcAft>
                <a:spcPts val="100"/>
              </a:spcAft>
              <a:buNone/>
            </a:pPr>
            <a:r>
              <a:rPr lang="en-US" sz="700" dirty="0">
                <a:solidFill>
                  <a:srgbClr val="000000"/>
                </a:solidFill>
                <a:latin typeface="Arial" pitchFamily="34" charset="0"/>
                <a:ea typeface="Arial" pitchFamily="34" charset="-122"/>
                <a:cs typeface="Arial" pitchFamily="34" charset="-120"/>
              </a:rPr>
              <a:t>Repeat &lt; 25% by week 8</a:t>
            </a:r>
            <a:endParaRPr lang="en-US" sz="700" dirty="0"/>
          </a:p>
          <a:p>
            <a:pPr indent="0" marL="0">
              <a:spcAft>
                <a:spcPts val="100"/>
              </a:spcAft>
              <a:buNone/>
            </a:pPr>
            <a:r>
              <a:rPr lang="en-US" sz="700" b="1" dirty="0">
                <a:solidFill>
                  <a:srgbClr val="000000"/>
                </a:solidFill>
                <a:latin typeface="Arial" pitchFamily="34" charset="0"/>
                <a:ea typeface="Arial" pitchFamily="34" charset="-122"/>
                <a:cs typeface="Arial" pitchFamily="34" charset="-120"/>
              </a:rPr>
              <a:t>Owner: </a:t>
            </a:r>
            <a:pPr indent="0" marL="0">
              <a:spcAft>
                <a:spcPts val="100"/>
              </a:spcAft>
              <a:buNone/>
            </a:pPr>
            <a:r>
              <a:rPr lang="en-US" sz="700" dirty="0">
                <a:solidFill>
                  <a:srgbClr val="000000"/>
                </a:solidFill>
                <a:latin typeface="Arial" pitchFamily="34" charset="0"/>
                <a:ea typeface="Arial" pitchFamily="34" charset="-122"/>
                <a:cs typeface="Arial" pitchFamily="34" charset="-120"/>
              </a:rPr>
              <a:t>Launch Council</a:t>
            </a:r>
            <a:endParaRPr lang="en-US" sz="700" dirty="0"/>
          </a:p>
          <a:p>
            <a:pPr indent="0" marL="0">
              <a:spcAft>
                <a:spcPts val="100"/>
              </a:spcAft>
              <a:buNone/>
            </a:pPr>
            <a:r>
              <a:rPr lang="en-US" sz="700" i="1" dirty="0">
                <a:solidFill>
                  <a:srgbClr val="53565A"/>
                </a:solidFill>
                <a:latin typeface="Arial" pitchFamily="34" charset="0"/>
                <a:ea typeface="Arial" pitchFamily="34" charset="-122"/>
                <a:cs typeface="Arial" pitchFamily="34" charset="-120"/>
              </a:rPr>
              <a:t>Would have stopped: Jam: MT only</a:t>
            </a:r>
            <a:endParaRPr lang="en-US" sz="700" dirty="0"/>
          </a:p>
        </p:txBody>
      </p:sp>
      <p:sp>
        <p:nvSpPr>
          <p:cNvPr id="27" name="Text 25"/>
          <p:cNvSpPr txBox="1"/>
          <p:nvPr/>
        </p:nvSpPr>
        <p:spPr>
          <a:xfrm>
            <a:off x="109728" y="2761488"/>
            <a:ext cx="60350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Exhibit 6 post-mortem: which gate stops each failure</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09728" y="3017520"/>
          <a:ext cx="6035040" cy="914400"/>
        </p:xfrm>
        <a:graphic>
          <a:graphicData uri="http://schemas.openxmlformats.org/drawingml/2006/table">
            <a:tbl>
              <a:tblPr/>
              <a:tblGrid>
                <a:gridCol w="914400"/>
                <a:gridCol w="411480"/>
                <a:gridCol w="1691640"/>
                <a:gridCol w="914400"/>
                <a:gridCol w="2103120"/>
              </a:tblGrid>
              <a:tr h="393192">
                <a:tc>
                  <a:txBody>
                    <a:bodyPr/>
                    <a:lstStyle/>
                    <a:p>
                      <a:pPr indent="0" marL="0">
                        <a:buNone/>
                      </a:pPr>
                      <a:r>
                        <a:rPr lang="en-US" sz="800" b="1" dirty="0">
                          <a:solidFill>
                            <a:srgbClr val="FFFFFF"/>
                          </a:solidFill>
                          <a:latin typeface="Arial" pitchFamily="34" charset="0"/>
                          <a:ea typeface="Arial" pitchFamily="34" charset="-122"/>
                          <a:cs typeface="Arial" pitchFamily="34" charset="-120"/>
                        </a:rPr>
                        <a:t>Launch</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went wrong</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Gate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Rule in our plan</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Aloe vera RTD</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FY18</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Imported pack priced out the retailer margin</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Price &amp; trade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Contribution &gt;= 20% on regular pack at Exh. 2 trade margins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Mixed fruit jam</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FY19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Listed only in MT; no GT pull</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Test market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Test in GT + Q-com; 79% of sales planned through GT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Herbal digestive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FY19</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Never resourced to scale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Scale decision</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Budget released per gate, with a rollout tranche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Iced tea premix</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FY21</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Priced 18% above leader; no sampling</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Price &amp; trade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Price &lt;= leader +5%; Rs 10 trial + sampling plan</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Energy drink</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FY21</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Vendor could not meet spec; Rs 2.2 Cr lost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Product &amp; pack</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Two vendors signed at spec before launch</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93192">
                <a:tc>
                  <a:txBody>
                    <a:bodyPr/>
                    <a:lstStyle/>
                    <a:p>
                      <a:pPr indent="0" marL="0">
                        <a:buNone/>
                      </a:pPr>
                      <a:r>
                        <a:rPr lang="en-US" sz="710" b="1" dirty="0">
                          <a:solidFill>
                            <a:srgbClr val="000000"/>
                          </a:solidFill>
                          <a:latin typeface="Arial" pitchFamily="34" charset="0"/>
                          <a:ea typeface="Arial" pitchFamily="34" charset="-122"/>
                          <a:cs typeface="Arial" pitchFamily="34" charset="-120"/>
                        </a:rPr>
                        <a:t>Premium variant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dirty="0">
                          <a:solidFill>
                            <a:srgbClr val="000000"/>
                          </a:solidFill>
                          <a:latin typeface="Arial" pitchFamily="34" charset="0"/>
                          <a:ea typeface="Arial" pitchFamily="34" charset="-122"/>
                          <a:cs typeface="Arial" pitchFamily="34" charset="-120"/>
                        </a:rPr>
                        <a:t>FY20</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Worked: existing formulation, plant, pack, route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(model to copy)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26890D"/>
                    </a:solidFill>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Premixes reuse plant, shelf and distributor</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29" name="Text 26"/>
          <p:cNvSpPr txBox="1"/>
          <p:nvPr/>
        </p:nvSpPr>
        <p:spPr>
          <a:xfrm>
            <a:off x="6309360" y="2761488"/>
            <a:ext cx="2651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Faster and more frequent</a:t>
            </a:r>
            <a:endParaRPr lang="en-US" sz="1100" dirty="0"/>
          </a:p>
        </p:txBody>
      </p:sp>
      <p:graphicFrame>
        <p:nvGraphicFramePr>
          <p:cNvPr id="30" name="Chart 0" descr=""/>
          <p:cNvGraphicFramePr/>
          <p:nvPr/>
        </p:nvGraphicFramePr>
        <p:xfrm>
          <a:off x="6309360" y="2971800"/>
          <a:ext cx="2651760" cy="1417320"/>
        </p:xfrm>
        <a:graphic xmlns:a="http://schemas.openxmlformats.org/drawingml/2006/main">
          <a:graphicData uri="http://schemas.openxmlformats.org/drawingml/2006/chart">
            <c:chart xmlns:c="http://schemas.openxmlformats.org/drawingml/2006/chart" r:id="rId1"/>
          </a:graphicData>
        </a:graphic>
      </p:graphicFrame>
      <p:sp>
        <p:nvSpPr>
          <p:cNvPr id="31" name="Text 27"/>
          <p:cNvSpPr txBox="1"/>
          <p:nvPr/>
        </p:nvSpPr>
        <p:spPr>
          <a:xfrm>
            <a:off x="6309360" y="4389120"/>
            <a:ext cx="2651760" cy="292608"/>
          </a:xfrm>
          <a:prstGeom prst="rect">
            <a:avLst/>
          </a:prstGeom>
          <a:noFill/>
          <a:ln/>
        </p:spPr>
        <p:txBody>
          <a:bodyPr wrap="square" lIns="0" tIns="0" rIns="0" bIns="0" rtlCol="0" anchor="ctr"/>
          <a:lstStyle/>
          <a:p>
            <a:pPr indent="0" marL="0">
              <a:buNone/>
            </a:pPr>
            <a:r>
              <a:rPr lang="en-US" sz="660" i="1" dirty="0">
                <a:solidFill>
                  <a:srgbClr val="53565A"/>
                </a:solidFill>
                <a:latin typeface="Arial" pitchFamily="34" charset="0"/>
                <a:ea typeface="Arial" pitchFamily="34" charset="-122"/>
                <a:cs typeface="Arial" pitchFamily="34" charset="-120"/>
              </a:rPr>
              <a:t>Months; peers 6-8 (shown at 7). Cadence target 8-10 SKUs a year vs peers' 8-14 launches.</a:t>
            </a:r>
            <a:endParaRPr lang="en-US" sz="660" dirty="0"/>
          </a:p>
        </p:txBody>
      </p:sp>
      <p:sp>
        <p:nvSpPr>
          <p:cNvPr id="32" name="Text 28"/>
          <p:cNvSpPr txBox="1"/>
          <p:nvPr/>
        </p:nvSpPr>
        <p:spPr>
          <a:xfrm>
            <a:off x="6309360" y="4663440"/>
            <a:ext cx="26517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Launch Council</a:t>
            </a:r>
            <a:endParaRPr lang="en-US" sz="1100" dirty="0"/>
          </a:p>
        </p:txBody>
      </p:sp>
      <p:sp>
        <p:nvSpPr>
          <p:cNvPr id="33" name="Shape 29"/>
          <p:cNvSpPr/>
          <p:nvPr/>
        </p:nvSpPr>
        <p:spPr>
          <a:xfrm>
            <a:off x="6309360" y="4919472"/>
            <a:ext cx="210312" cy="210312"/>
          </a:xfrm>
          <a:prstGeom prst="ellipse">
            <a:avLst/>
          </a:prstGeom>
          <a:solidFill>
            <a:srgbClr val="046A38"/>
          </a:solidFill>
          <a:ln w="12700">
            <a:solidFill>
              <a:srgbClr val="046A38"/>
            </a:solidFill>
            <a:prstDash val="solid"/>
          </a:ln>
        </p:spPr>
      </p:sp>
      <p:pic>
        <p:nvPicPr>
          <p:cNvPr id="34" name="Image 0" descr="preencoded.png">    </p:cNvPr>
          <p:cNvPicPr>
            <a:picLocks noChangeAspect="1"/>
          </p:cNvPicPr>
          <p:nvPr/>
        </p:nvPicPr>
        <p:blipFill>
          <a:blip r:embed="rId2"/>
          <a:stretch>
            <a:fillRect/>
          </a:stretch>
        </p:blipFill>
        <p:spPr>
          <a:xfrm>
            <a:off x="6355629" y="4965741"/>
            <a:ext cx="117775" cy="117775"/>
          </a:xfrm>
          <a:prstGeom prst="rect">
            <a:avLst/>
          </a:prstGeom>
        </p:spPr>
      </p:pic>
      <p:sp>
        <p:nvSpPr>
          <p:cNvPr id="35" name="Text 30"/>
          <p:cNvSpPr txBox="1"/>
          <p:nvPr/>
        </p:nvSpPr>
        <p:spPr>
          <a:xfrm>
            <a:off x="6556248" y="4919472"/>
            <a:ext cx="2377440" cy="228600"/>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Chaired by the MD; meets monthly</a:t>
            </a:r>
            <a:endParaRPr lang="en-US" sz="700" dirty="0"/>
          </a:p>
        </p:txBody>
      </p:sp>
      <p:sp>
        <p:nvSpPr>
          <p:cNvPr id="36" name="Shape 31"/>
          <p:cNvSpPr/>
          <p:nvPr/>
        </p:nvSpPr>
        <p:spPr>
          <a:xfrm>
            <a:off x="6309360" y="5166360"/>
            <a:ext cx="210312" cy="210312"/>
          </a:xfrm>
          <a:prstGeom prst="ellipse">
            <a:avLst/>
          </a:prstGeom>
          <a:solidFill>
            <a:srgbClr val="046A38"/>
          </a:solidFill>
          <a:ln w="12700">
            <a:solidFill>
              <a:srgbClr val="046A38"/>
            </a:solidFill>
            <a:prstDash val="solid"/>
          </a:ln>
        </p:spPr>
      </p:sp>
      <p:pic>
        <p:nvPicPr>
          <p:cNvPr id="37" name="Image 1" descr="preencoded.png">    </p:cNvPr>
          <p:cNvPicPr>
            <a:picLocks noChangeAspect="1"/>
          </p:cNvPicPr>
          <p:nvPr/>
        </p:nvPicPr>
        <p:blipFill>
          <a:blip r:embed="rId3"/>
          <a:stretch>
            <a:fillRect/>
          </a:stretch>
        </p:blipFill>
        <p:spPr>
          <a:xfrm>
            <a:off x="6355629" y="5212629"/>
            <a:ext cx="117775" cy="117775"/>
          </a:xfrm>
          <a:prstGeom prst="rect">
            <a:avLst/>
          </a:prstGeom>
        </p:spPr>
      </p:pic>
      <p:sp>
        <p:nvSpPr>
          <p:cNvPr id="38" name="Text 32"/>
          <p:cNvSpPr txBox="1"/>
          <p:nvPr/>
        </p:nvSpPr>
        <p:spPr>
          <a:xfrm>
            <a:off x="6556248" y="5166360"/>
            <a:ext cx="2377440" cy="228600"/>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Decides on a one-page evidence pack</a:t>
            </a:r>
            <a:endParaRPr lang="en-US" sz="700" dirty="0"/>
          </a:p>
        </p:txBody>
      </p:sp>
      <p:sp>
        <p:nvSpPr>
          <p:cNvPr id="39" name="Shape 33"/>
          <p:cNvSpPr/>
          <p:nvPr/>
        </p:nvSpPr>
        <p:spPr>
          <a:xfrm>
            <a:off x="6309360" y="5413248"/>
            <a:ext cx="210312" cy="210312"/>
          </a:xfrm>
          <a:prstGeom prst="ellipse">
            <a:avLst/>
          </a:prstGeom>
          <a:solidFill>
            <a:srgbClr val="046A38"/>
          </a:solidFill>
          <a:ln w="12700">
            <a:solidFill>
              <a:srgbClr val="046A38"/>
            </a:solidFill>
            <a:prstDash val="solid"/>
          </a:ln>
        </p:spPr>
      </p:sp>
      <p:pic>
        <p:nvPicPr>
          <p:cNvPr id="40" name="Image 2" descr="preencoded.png">    </p:cNvPr>
          <p:cNvPicPr>
            <a:picLocks noChangeAspect="1"/>
          </p:cNvPicPr>
          <p:nvPr/>
        </p:nvPicPr>
        <p:blipFill>
          <a:blip r:embed="rId4"/>
          <a:stretch>
            <a:fillRect/>
          </a:stretch>
        </p:blipFill>
        <p:spPr>
          <a:xfrm>
            <a:off x="6355629" y="5459517"/>
            <a:ext cx="117775" cy="117775"/>
          </a:xfrm>
          <a:prstGeom prst="rect">
            <a:avLst/>
          </a:prstGeom>
        </p:spPr>
      </p:pic>
      <p:sp>
        <p:nvSpPr>
          <p:cNvPr id="41" name="Text 34"/>
          <p:cNvSpPr txBox="1"/>
          <p:nvPr/>
        </p:nvSpPr>
        <p:spPr>
          <a:xfrm>
            <a:off x="6556248" y="5413248"/>
            <a:ext cx="2377440" cy="228600"/>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Killed SKUs return their budget</a:t>
            </a:r>
            <a:endParaRPr lang="en-US" sz="700" dirty="0"/>
          </a:p>
        </p:txBody>
      </p:sp>
      <p:sp>
        <p:nvSpPr>
          <p:cNvPr id="42" name="Shape 35"/>
          <p:cNvSpPr/>
          <p:nvPr/>
        </p:nvSpPr>
        <p:spPr>
          <a:xfrm>
            <a:off x="6309360" y="5660136"/>
            <a:ext cx="210312" cy="210312"/>
          </a:xfrm>
          <a:prstGeom prst="ellipse">
            <a:avLst/>
          </a:prstGeom>
          <a:solidFill>
            <a:srgbClr val="046A38"/>
          </a:solidFill>
          <a:ln w="12700">
            <a:solidFill>
              <a:srgbClr val="046A38"/>
            </a:solidFill>
            <a:prstDash val="solid"/>
          </a:ln>
        </p:spPr>
      </p:sp>
      <p:pic>
        <p:nvPicPr>
          <p:cNvPr id="43" name="Image 3" descr="preencoded.png">    </p:cNvPr>
          <p:cNvPicPr>
            <a:picLocks noChangeAspect="1"/>
          </p:cNvPicPr>
          <p:nvPr/>
        </p:nvPicPr>
        <p:blipFill>
          <a:blip r:embed="rId5"/>
          <a:stretch>
            <a:fillRect/>
          </a:stretch>
        </p:blipFill>
        <p:spPr>
          <a:xfrm>
            <a:off x="6355629" y="5706405"/>
            <a:ext cx="117775" cy="117775"/>
          </a:xfrm>
          <a:prstGeom prst="rect">
            <a:avLst/>
          </a:prstGeom>
        </p:spPr>
      </p:pic>
      <p:sp>
        <p:nvSpPr>
          <p:cNvPr id="44" name="Text 36"/>
          <p:cNvSpPr txBox="1"/>
          <p:nvPr/>
        </p:nvSpPr>
        <p:spPr>
          <a:xfrm>
            <a:off x="6556248" y="5660136"/>
            <a:ext cx="2377440" cy="228600"/>
          </a:xfrm>
          <a:prstGeom prst="rect">
            <a:avLst/>
          </a:prstGeom>
          <a:noFill/>
          <a:ln/>
        </p:spPr>
        <p:txBody>
          <a:bodyPr wrap="square" lIns="0" tIns="0" rIns="0" bIns="0" rtlCol="0" anchor="ctr"/>
          <a:lstStyle/>
          <a:p>
            <a:pPr indent="0" marL="0">
              <a:buNone/>
            </a:pPr>
            <a:r>
              <a:rPr lang="en-US" sz="700" dirty="0">
                <a:solidFill>
                  <a:srgbClr val="000000"/>
                </a:solidFill>
                <a:latin typeface="Arial" pitchFamily="34" charset="0"/>
                <a:ea typeface="Arial" pitchFamily="34" charset="-122"/>
                <a:cs typeface="Arial" pitchFamily="34" charset="-120"/>
              </a:rPr>
              <a:t>FY23: picks the third category</a:t>
            </a:r>
            <a:endParaRPr lang="en-US" sz="700" dirty="0"/>
          </a:p>
        </p:txBody>
      </p:sp>
      <p:sp>
        <p:nvSpPr>
          <p:cNvPr id="45" name="Text 37"/>
          <p:cNvSpPr txBox="1"/>
          <p:nvPr/>
        </p:nvSpPr>
        <p:spPr>
          <a:xfrm>
            <a:off x="9125712" y="2761488"/>
            <a:ext cx="2990088"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Roadmap FY22-FY24 (fiscal quarters)</a:t>
            </a:r>
            <a:endParaRPr lang="en-US" sz="1100" dirty="0"/>
          </a:p>
        </p:txBody>
      </p:sp>
      <p:sp>
        <p:nvSpPr>
          <p:cNvPr id="46" name="Shape 38"/>
          <p:cNvSpPr/>
          <p:nvPr/>
        </p:nvSpPr>
        <p:spPr>
          <a:xfrm>
            <a:off x="10104120" y="3017520"/>
            <a:ext cx="652272" cy="164592"/>
          </a:xfrm>
          <a:prstGeom prst="rect">
            <a:avLst/>
          </a:prstGeom>
          <a:solidFill>
            <a:srgbClr val="046A38"/>
          </a:solidFill>
          <a:ln w="12700">
            <a:solidFill>
              <a:srgbClr val="046A38"/>
            </a:solidFill>
            <a:prstDash val="solid"/>
          </a:ln>
        </p:spPr>
      </p:sp>
      <p:sp>
        <p:nvSpPr>
          <p:cNvPr id="47" name="Text 39"/>
          <p:cNvSpPr txBox="1"/>
          <p:nvPr/>
        </p:nvSpPr>
        <p:spPr>
          <a:xfrm>
            <a:off x="10104120" y="3017520"/>
            <a:ext cx="652272"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FY22</a:t>
            </a:r>
            <a:endParaRPr lang="en-US" sz="650" dirty="0"/>
          </a:p>
        </p:txBody>
      </p:sp>
      <p:sp>
        <p:nvSpPr>
          <p:cNvPr id="48" name="Shape 40"/>
          <p:cNvSpPr/>
          <p:nvPr/>
        </p:nvSpPr>
        <p:spPr>
          <a:xfrm>
            <a:off x="10774680" y="3017520"/>
            <a:ext cx="652272" cy="164592"/>
          </a:xfrm>
          <a:prstGeom prst="rect">
            <a:avLst/>
          </a:prstGeom>
          <a:solidFill>
            <a:srgbClr val="26890D"/>
          </a:solidFill>
          <a:ln w="12700">
            <a:solidFill>
              <a:srgbClr val="26890D"/>
            </a:solidFill>
            <a:prstDash val="solid"/>
          </a:ln>
        </p:spPr>
      </p:sp>
      <p:sp>
        <p:nvSpPr>
          <p:cNvPr id="49" name="Text 41"/>
          <p:cNvSpPr txBox="1"/>
          <p:nvPr/>
        </p:nvSpPr>
        <p:spPr>
          <a:xfrm>
            <a:off x="10774680" y="3017520"/>
            <a:ext cx="652272" cy="164592"/>
          </a:xfrm>
          <a:prstGeom prst="rect">
            <a:avLst/>
          </a:prstGeom>
          <a:no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FY23</a:t>
            </a:r>
            <a:endParaRPr lang="en-US" sz="650" dirty="0"/>
          </a:p>
        </p:txBody>
      </p:sp>
      <p:sp>
        <p:nvSpPr>
          <p:cNvPr id="50" name="Shape 42"/>
          <p:cNvSpPr/>
          <p:nvPr/>
        </p:nvSpPr>
        <p:spPr>
          <a:xfrm>
            <a:off x="11445240" y="3017520"/>
            <a:ext cx="652272" cy="164592"/>
          </a:xfrm>
          <a:prstGeom prst="rect">
            <a:avLst/>
          </a:prstGeom>
          <a:solidFill>
            <a:srgbClr val="86BC25"/>
          </a:solidFill>
          <a:ln w="12700">
            <a:solidFill>
              <a:srgbClr val="86BC25"/>
            </a:solidFill>
            <a:prstDash val="solid"/>
          </a:ln>
        </p:spPr>
      </p:sp>
      <p:sp>
        <p:nvSpPr>
          <p:cNvPr id="51" name="Text 43"/>
          <p:cNvSpPr txBox="1"/>
          <p:nvPr/>
        </p:nvSpPr>
        <p:spPr>
          <a:xfrm>
            <a:off x="11445240" y="3017520"/>
            <a:ext cx="652272" cy="164592"/>
          </a:xfrm>
          <a:prstGeom prst="rect">
            <a:avLst/>
          </a:prstGeom>
          <a:noFill/>
          <a:ln/>
        </p:spPr>
        <p:txBody>
          <a:bodyPr wrap="square" lIns="0" tIns="0" rIns="0" bIns="0" rtlCol="0" anchor="ctr"/>
          <a:lstStyle/>
          <a:p>
            <a:pPr algn="ctr" indent="0" marL="0">
              <a:buNone/>
            </a:pPr>
            <a:r>
              <a:rPr lang="en-US" sz="650" b="1" dirty="0">
                <a:solidFill>
                  <a:srgbClr val="000000"/>
                </a:solidFill>
                <a:latin typeface="Arial" pitchFamily="34" charset="0"/>
                <a:ea typeface="Arial" pitchFamily="34" charset="-122"/>
                <a:cs typeface="Arial" pitchFamily="34" charset="-120"/>
              </a:rPr>
              <a:t>FY24</a:t>
            </a:r>
            <a:endParaRPr lang="en-US" sz="650" dirty="0"/>
          </a:p>
        </p:txBody>
      </p:sp>
      <p:sp>
        <p:nvSpPr>
          <p:cNvPr id="52" name="Text 44"/>
          <p:cNvSpPr txBox="1"/>
          <p:nvPr/>
        </p:nvSpPr>
        <p:spPr>
          <a:xfrm>
            <a:off x="9125712" y="3236976"/>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Premix gates 1-4</a:t>
            </a:r>
            <a:endParaRPr lang="en-US" sz="650" dirty="0"/>
          </a:p>
        </p:txBody>
      </p:sp>
      <p:sp>
        <p:nvSpPr>
          <p:cNvPr id="53" name="Shape 45"/>
          <p:cNvSpPr/>
          <p:nvPr/>
        </p:nvSpPr>
        <p:spPr>
          <a:xfrm>
            <a:off x="10104120" y="3529584"/>
            <a:ext cx="2011680" cy="0"/>
          </a:xfrm>
          <a:prstGeom prst="line">
            <a:avLst/>
          </a:prstGeom>
          <a:noFill/>
          <a:ln w="6350">
            <a:solidFill>
              <a:srgbClr val="E6E6E6"/>
            </a:solidFill>
            <a:prstDash val="solid"/>
          </a:ln>
        </p:spPr>
      </p:sp>
      <p:sp>
        <p:nvSpPr>
          <p:cNvPr id="54" name="Shape 46"/>
          <p:cNvSpPr/>
          <p:nvPr/>
        </p:nvSpPr>
        <p:spPr>
          <a:xfrm>
            <a:off x="10113264" y="3300984"/>
            <a:ext cx="316992" cy="155448"/>
          </a:xfrm>
          <a:prstGeom prst="rect">
            <a:avLst/>
          </a:prstGeom>
          <a:solidFill>
            <a:srgbClr val="53565A"/>
          </a:solidFill>
          <a:ln w="12700">
            <a:solidFill>
              <a:srgbClr val="53565A"/>
            </a:solidFill>
            <a:prstDash val="solid"/>
          </a:ln>
        </p:spPr>
      </p:sp>
      <p:sp>
        <p:nvSpPr>
          <p:cNvPr id="55" name="Text 47"/>
          <p:cNvSpPr txBox="1"/>
          <p:nvPr/>
        </p:nvSpPr>
        <p:spPr>
          <a:xfrm>
            <a:off x="9125712" y="3566160"/>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Premixes: pilot</a:t>
            </a:r>
            <a:endParaRPr lang="en-US" sz="650" dirty="0"/>
          </a:p>
        </p:txBody>
      </p:sp>
      <p:sp>
        <p:nvSpPr>
          <p:cNvPr id="56" name="Shape 48"/>
          <p:cNvSpPr/>
          <p:nvPr/>
        </p:nvSpPr>
        <p:spPr>
          <a:xfrm>
            <a:off x="10104120" y="3858768"/>
            <a:ext cx="2011680" cy="0"/>
          </a:xfrm>
          <a:prstGeom prst="line">
            <a:avLst/>
          </a:prstGeom>
          <a:noFill/>
          <a:ln w="6350">
            <a:solidFill>
              <a:srgbClr val="E6E6E6"/>
            </a:solidFill>
            <a:prstDash val="solid"/>
          </a:ln>
        </p:spPr>
      </p:sp>
      <p:sp>
        <p:nvSpPr>
          <p:cNvPr id="57" name="Shape 49"/>
          <p:cNvSpPr/>
          <p:nvPr/>
        </p:nvSpPr>
        <p:spPr>
          <a:xfrm>
            <a:off x="10448544" y="3630168"/>
            <a:ext cx="149352" cy="155448"/>
          </a:xfrm>
          <a:prstGeom prst="rect">
            <a:avLst/>
          </a:prstGeom>
          <a:solidFill>
            <a:srgbClr val="046A38"/>
          </a:solidFill>
          <a:ln w="12700">
            <a:solidFill>
              <a:srgbClr val="046A38"/>
            </a:solidFill>
            <a:prstDash val="solid"/>
          </a:ln>
        </p:spPr>
      </p:sp>
      <p:sp>
        <p:nvSpPr>
          <p:cNvPr id="58" name="Text 50"/>
          <p:cNvSpPr txBox="1"/>
          <p:nvPr/>
        </p:nvSpPr>
        <p:spPr>
          <a:xfrm>
            <a:off x="9125712" y="3895344"/>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Premixes: national</a:t>
            </a:r>
            <a:endParaRPr lang="en-US" sz="650" dirty="0"/>
          </a:p>
        </p:txBody>
      </p:sp>
      <p:sp>
        <p:nvSpPr>
          <p:cNvPr id="59" name="Shape 51"/>
          <p:cNvSpPr/>
          <p:nvPr/>
        </p:nvSpPr>
        <p:spPr>
          <a:xfrm>
            <a:off x="10104120" y="4187952"/>
            <a:ext cx="2011680" cy="0"/>
          </a:xfrm>
          <a:prstGeom prst="line">
            <a:avLst/>
          </a:prstGeom>
          <a:noFill/>
          <a:ln w="6350">
            <a:solidFill>
              <a:srgbClr val="E6E6E6"/>
            </a:solidFill>
            <a:prstDash val="solid"/>
          </a:ln>
        </p:spPr>
      </p:sp>
      <p:sp>
        <p:nvSpPr>
          <p:cNvPr id="60" name="Shape 52"/>
          <p:cNvSpPr/>
          <p:nvPr/>
        </p:nvSpPr>
        <p:spPr>
          <a:xfrm>
            <a:off x="10783824" y="3959352"/>
            <a:ext cx="1322832" cy="155448"/>
          </a:xfrm>
          <a:prstGeom prst="rect">
            <a:avLst/>
          </a:prstGeom>
          <a:solidFill>
            <a:srgbClr val="046A38"/>
          </a:solidFill>
          <a:ln w="12700">
            <a:solidFill>
              <a:srgbClr val="046A38"/>
            </a:solidFill>
            <a:prstDash val="solid"/>
          </a:ln>
        </p:spPr>
      </p:sp>
      <p:sp>
        <p:nvSpPr>
          <p:cNvPr id="61" name="Text 53"/>
          <p:cNvSpPr txBox="1"/>
          <p:nvPr/>
        </p:nvSpPr>
        <p:spPr>
          <a:xfrm>
            <a:off x="9125712" y="4224528"/>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Spice gates</a:t>
            </a:r>
            <a:endParaRPr lang="en-US" sz="650" dirty="0"/>
          </a:p>
        </p:txBody>
      </p:sp>
      <p:sp>
        <p:nvSpPr>
          <p:cNvPr id="62" name="Shape 54"/>
          <p:cNvSpPr/>
          <p:nvPr/>
        </p:nvSpPr>
        <p:spPr>
          <a:xfrm>
            <a:off x="10104120" y="4517136"/>
            <a:ext cx="2011680" cy="0"/>
          </a:xfrm>
          <a:prstGeom prst="line">
            <a:avLst/>
          </a:prstGeom>
          <a:noFill/>
          <a:ln w="6350">
            <a:solidFill>
              <a:srgbClr val="E6E6E6"/>
            </a:solidFill>
            <a:prstDash val="solid"/>
          </a:ln>
        </p:spPr>
      </p:sp>
      <p:sp>
        <p:nvSpPr>
          <p:cNvPr id="63" name="Shape 55"/>
          <p:cNvSpPr/>
          <p:nvPr/>
        </p:nvSpPr>
        <p:spPr>
          <a:xfrm>
            <a:off x="10113264" y="4288536"/>
            <a:ext cx="484632" cy="155448"/>
          </a:xfrm>
          <a:prstGeom prst="rect">
            <a:avLst/>
          </a:prstGeom>
          <a:solidFill>
            <a:srgbClr val="53565A"/>
          </a:solidFill>
          <a:ln w="12700">
            <a:solidFill>
              <a:srgbClr val="53565A"/>
            </a:solidFill>
            <a:prstDash val="solid"/>
          </a:ln>
        </p:spPr>
      </p:sp>
      <p:sp>
        <p:nvSpPr>
          <p:cNvPr id="64" name="Text 56"/>
          <p:cNvSpPr txBox="1"/>
          <p:nvPr/>
        </p:nvSpPr>
        <p:spPr>
          <a:xfrm>
            <a:off x="9125712" y="4553712"/>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Spices launch</a:t>
            </a:r>
            <a:endParaRPr lang="en-US" sz="650" dirty="0"/>
          </a:p>
        </p:txBody>
      </p:sp>
      <p:sp>
        <p:nvSpPr>
          <p:cNvPr id="65" name="Shape 57"/>
          <p:cNvSpPr/>
          <p:nvPr/>
        </p:nvSpPr>
        <p:spPr>
          <a:xfrm>
            <a:off x="10104120" y="4846320"/>
            <a:ext cx="2011680" cy="0"/>
          </a:xfrm>
          <a:prstGeom prst="line">
            <a:avLst/>
          </a:prstGeom>
          <a:noFill/>
          <a:ln w="6350">
            <a:solidFill>
              <a:srgbClr val="E6E6E6"/>
            </a:solidFill>
            <a:prstDash val="solid"/>
          </a:ln>
        </p:spPr>
      </p:sp>
      <p:sp>
        <p:nvSpPr>
          <p:cNvPr id="66" name="Shape 58"/>
          <p:cNvSpPr/>
          <p:nvPr/>
        </p:nvSpPr>
        <p:spPr>
          <a:xfrm>
            <a:off x="10616184" y="4617720"/>
            <a:ext cx="1490472" cy="155448"/>
          </a:xfrm>
          <a:prstGeom prst="rect">
            <a:avLst/>
          </a:prstGeom>
          <a:solidFill>
            <a:srgbClr val="0097A9"/>
          </a:solidFill>
          <a:ln w="12700">
            <a:solidFill>
              <a:srgbClr val="0097A9"/>
            </a:solidFill>
            <a:prstDash val="solid"/>
          </a:ln>
        </p:spPr>
      </p:sp>
      <p:sp>
        <p:nvSpPr>
          <p:cNvPr id="67" name="Text 59"/>
          <p:cNvSpPr txBox="1"/>
          <p:nvPr/>
        </p:nvSpPr>
        <p:spPr>
          <a:xfrm>
            <a:off x="9125712" y="4882896"/>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Regions 3-4, Q-com</a:t>
            </a:r>
            <a:endParaRPr lang="en-US" sz="650" dirty="0"/>
          </a:p>
        </p:txBody>
      </p:sp>
      <p:sp>
        <p:nvSpPr>
          <p:cNvPr id="68" name="Shape 60"/>
          <p:cNvSpPr/>
          <p:nvPr/>
        </p:nvSpPr>
        <p:spPr>
          <a:xfrm>
            <a:off x="10104120" y="5175504"/>
            <a:ext cx="2011680" cy="0"/>
          </a:xfrm>
          <a:prstGeom prst="line">
            <a:avLst/>
          </a:prstGeom>
          <a:noFill/>
          <a:ln w="6350">
            <a:solidFill>
              <a:srgbClr val="E6E6E6"/>
            </a:solidFill>
            <a:prstDash val="solid"/>
          </a:ln>
        </p:spPr>
      </p:sp>
      <p:sp>
        <p:nvSpPr>
          <p:cNvPr id="69" name="Shape 61"/>
          <p:cNvSpPr/>
          <p:nvPr/>
        </p:nvSpPr>
        <p:spPr>
          <a:xfrm>
            <a:off x="10783824" y="4946904"/>
            <a:ext cx="1322832" cy="155448"/>
          </a:xfrm>
          <a:prstGeom prst="rect">
            <a:avLst/>
          </a:prstGeom>
          <a:solidFill>
            <a:srgbClr val="86BC25"/>
          </a:solidFill>
          <a:ln w="12700">
            <a:solidFill>
              <a:srgbClr val="86BC25"/>
            </a:solidFill>
            <a:prstDash val="solid"/>
          </a:ln>
        </p:spPr>
      </p:sp>
      <p:sp>
        <p:nvSpPr>
          <p:cNvPr id="70" name="Text 62"/>
          <p:cNvSpPr txBox="1"/>
          <p:nvPr/>
        </p:nvSpPr>
        <p:spPr>
          <a:xfrm>
            <a:off x="9125712" y="5212080"/>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3rd category gate</a:t>
            </a:r>
            <a:endParaRPr lang="en-US" sz="650" dirty="0"/>
          </a:p>
        </p:txBody>
      </p:sp>
      <p:sp>
        <p:nvSpPr>
          <p:cNvPr id="71" name="Shape 63"/>
          <p:cNvSpPr/>
          <p:nvPr/>
        </p:nvSpPr>
        <p:spPr>
          <a:xfrm>
            <a:off x="10104120" y="5504688"/>
            <a:ext cx="2011680" cy="0"/>
          </a:xfrm>
          <a:prstGeom prst="line">
            <a:avLst/>
          </a:prstGeom>
          <a:noFill/>
          <a:ln w="6350">
            <a:solidFill>
              <a:srgbClr val="E6E6E6"/>
            </a:solidFill>
            <a:prstDash val="solid"/>
          </a:ln>
        </p:spPr>
      </p:sp>
      <p:sp>
        <p:nvSpPr>
          <p:cNvPr id="72" name="Shape 64"/>
          <p:cNvSpPr/>
          <p:nvPr/>
        </p:nvSpPr>
        <p:spPr>
          <a:xfrm>
            <a:off x="10783824" y="5276088"/>
            <a:ext cx="316992" cy="155448"/>
          </a:xfrm>
          <a:prstGeom prst="rect">
            <a:avLst/>
          </a:prstGeom>
          <a:solidFill>
            <a:srgbClr val="53565A"/>
          </a:solidFill>
          <a:ln w="12700">
            <a:solidFill>
              <a:srgbClr val="53565A"/>
            </a:solidFill>
            <a:prstDash val="solid"/>
          </a:ln>
        </p:spPr>
      </p:sp>
      <p:sp>
        <p:nvSpPr>
          <p:cNvPr id="73" name="Text 65"/>
          <p:cNvSpPr txBox="1"/>
          <p:nvPr/>
        </p:nvSpPr>
        <p:spPr>
          <a:xfrm>
            <a:off x="9125712" y="5541264"/>
            <a:ext cx="960120" cy="274320"/>
          </a:xfrm>
          <a:prstGeom prst="rect">
            <a:avLst/>
          </a:prstGeom>
          <a:noFill/>
          <a:ln/>
        </p:spPr>
        <p:txBody>
          <a:bodyPr wrap="square" lIns="0" tIns="0" rIns="0" bIns="0" rtlCol="0" anchor="ctr"/>
          <a:lstStyle/>
          <a:p>
            <a:pPr indent="0" marL="0">
              <a:buNone/>
            </a:pPr>
            <a:r>
              <a:rPr lang="en-US" sz="650" dirty="0">
                <a:solidFill>
                  <a:srgbClr val="000000"/>
                </a:solidFill>
                <a:latin typeface="Arial" pitchFamily="34" charset="0"/>
                <a:ea typeface="Arial" pitchFamily="34" charset="-122"/>
                <a:cs typeface="Arial" pitchFamily="34" charset="-120"/>
              </a:rPr>
              <a:t>3rd category ramp</a:t>
            </a:r>
            <a:endParaRPr lang="en-US" sz="650" dirty="0"/>
          </a:p>
        </p:txBody>
      </p:sp>
      <p:sp>
        <p:nvSpPr>
          <p:cNvPr id="74" name="Shape 66"/>
          <p:cNvSpPr/>
          <p:nvPr/>
        </p:nvSpPr>
        <p:spPr>
          <a:xfrm>
            <a:off x="10104120" y="5833872"/>
            <a:ext cx="2011680" cy="0"/>
          </a:xfrm>
          <a:prstGeom prst="line">
            <a:avLst/>
          </a:prstGeom>
          <a:noFill/>
          <a:ln w="6350">
            <a:solidFill>
              <a:srgbClr val="E6E6E6"/>
            </a:solidFill>
            <a:prstDash val="solid"/>
          </a:ln>
        </p:spPr>
      </p:sp>
      <p:sp>
        <p:nvSpPr>
          <p:cNvPr id="75" name="Shape 67"/>
          <p:cNvSpPr/>
          <p:nvPr/>
        </p:nvSpPr>
        <p:spPr>
          <a:xfrm>
            <a:off x="11119104" y="5605272"/>
            <a:ext cx="987552" cy="155448"/>
          </a:xfrm>
          <a:prstGeom prst="rect">
            <a:avLst/>
          </a:prstGeom>
          <a:solidFill>
            <a:srgbClr val="26890D"/>
          </a:solidFill>
          <a:ln w="12700">
            <a:solidFill>
              <a:srgbClr val="26890D"/>
            </a:solidFill>
            <a:prstDash val="solid"/>
          </a:ln>
        </p:spPr>
      </p:sp>
      <p:sp>
        <p:nvSpPr>
          <p:cNvPr id="76" name="Shape 68"/>
          <p:cNvSpPr/>
          <p:nvPr/>
        </p:nvSpPr>
        <p:spPr>
          <a:xfrm>
            <a:off x="10698480" y="3200400"/>
            <a:ext cx="0" cy="2697480"/>
          </a:xfrm>
          <a:prstGeom prst="line">
            <a:avLst/>
          </a:prstGeom>
          <a:noFill/>
          <a:ln w="12700">
            <a:solidFill>
              <a:srgbClr val="C0392B"/>
            </a:solidFill>
            <a:prstDash val="dash"/>
          </a:ln>
        </p:spPr>
      </p:sp>
      <p:sp>
        <p:nvSpPr>
          <p:cNvPr id="77" name="Text 69"/>
          <p:cNvSpPr txBox="1"/>
          <p:nvPr/>
        </p:nvSpPr>
        <p:spPr>
          <a:xfrm>
            <a:off x="10716768" y="5733288"/>
            <a:ext cx="731520" cy="146304"/>
          </a:xfrm>
          <a:prstGeom prst="rect">
            <a:avLst/>
          </a:prstGeom>
          <a:noFill/>
          <a:ln/>
        </p:spPr>
        <p:txBody>
          <a:bodyPr wrap="square" lIns="0" tIns="0" rIns="0" bIns="0" rtlCol="0" anchor="ctr"/>
          <a:lstStyle/>
          <a:p>
            <a:pPr indent="0" marL="0">
              <a:buNone/>
            </a:pPr>
            <a:r>
              <a:rPr lang="en-US" sz="600" b="1" dirty="0">
                <a:solidFill>
                  <a:srgbClr val="C0392B"/>
                </a:solidFill>
                <a:latin typeface="Arial" pitchFamily="34" charset="0"/>
                <a:ea typeface="Arial" pitchFamily="34" charset="-122"/>
                <a:cs typeface="Arial" pitchFamily="34" charset="-120"/>
              </a:rPr>
              <a:t>Feb scale gate</a:t>
            </a:r>
            <a:endParaRPr lang="en-US" sz="600" dirty="0"/>
          </a:p>
        </p:txBody>
      </p:sp>
      <p:sp>
        <p:nvSpPr>
          <p:cNvPr id="78" name="Shape 70"/>
          <p:cNvSpPr/>
          <p:nvPr/>
        </p:nvSpPr>
        <p:spPr>
          <a:xfrm>
            <a:off x="0" y="5961888"/>
            <a:ext cx="12191695" cy="530352"/>
          </a:xfrm>
          <a:prstGeom prst="rect">
            <a:avLst/>
          </a:prstGeom>
          <a:solidFill>
            <a:srgbClr val="86BC25"/>
          </a:solidFill>
          <a:ln w="12700">
            <a:solidFill>
              <a:srgbClr val="86BC25"/>
            </a:solidFill>
            <a:prstDash val="solid"/>
          </a:ln>
        </p:spPr>
      </p:sp>
      <p:sp>
        <p:nvSpPr>
          <p:cNvPr id="79" name="Text 71"/>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Idea-to-shelf from ~11 months to 6: </a:t>
            </a:r>
            <a:pPr algn="ctr" indent="0" marL="0">
              <a:buNone/>
            </a:pPr>
            <a:r>
              <a:rPr lang="en-US" sz="1250" dirty="0">
                <a:solidFill>
                  <a:srgbClr val="000000"/>
                </a:solidFill>
                <a:latin typeface="Arial" pitchFamily="34" charset="0"/>
                <a:ea typeface="Arial" pitchFamily="34" charset="-122"/>
                <a:cs typeface="Arial" pitchFamily="34" charset="-120"/>
              </a:rPr>
              <a:t>faster because each gate has a date, an owner and a kill rule, not because tests are skipped.</a:t>
            </a:r>
            <a:endParaRPr lang="en-US" sz="1250" dirty="0"/>
          </a:p>
        </p:txBody>
      </p:sp>
      <p:sp>
        <p:nvSpPr>
          <p:cNvPr id="80" name="Text 72"/>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 6 and Section 1c (Tension 02); team stage-gate design; team roadmap. Growth simulator (tab 5) replays the iced tea and aloe vera launches through these gates.</a:t>
            </a:r>
            <a:endParaRPr lang="en-US" sz="730" dirty="0"/>
          </a:p>
        </p:txBody>
      </p:sp>
      <p:sp>
        <p:nvSpPr>
          <p:cNvPr id="81" name="Text 73"/>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10. What It Is Worth: Building Rs 108.5 Cr of New Revenue</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Small shares of large markets: Rs 77 Cr of spices is 0.10% of the market and Rs 31.5 Cr of premixes is 0.44%, built bottom to top from Exhibit 5</a:t>
            </a:r>
            <a:endParaRPr lang="en-US" sz="1250" dirty="0"/>
          </a:p>
        </p:txBody>
      </p:sp>
      <p:sp>
        <p:nvSpPr>
          <p:cNvPr id="6" name="Text 4"/>
          <p:cNvSpPr txBox="1"/>
          <p:nvPr/>
        </p:nvSpPr>
        <p:spPr>
          <a:xfrm>
            <a:off x="109728" y="749808"/>
            <a:ext cx="1197864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FY24 build, base case: market x organised x reach x realisation x share x multiplier x ramp</a:t>
            </a:r>
            <a:endParaRPr lang="en-US" sz="1100" dirty="0"/>
          </a:p>
        </p:txBody>
      </p:sp>
      <p:sp>
        <p:nvSpPr>
          <p:cNvPr id="7" name="Text 5"/>
          <p:cNvSpPr txBox="1"/>
          <p:nvPr/>
        </p:nvSpPr>
        <p:spPr>
          <a:xfrm>
            <a:off x="109728" y="1005840"/>
            <a:ext cx="822960" cy="457200"/>
          </a:xfrm>
          <a:prstGeom prst="rect">
            <a:avLst/>
          </a:prstGeom>
          <a:noFill/>
          <a:ln/>
        </p:spPr>
        <p:txBody>
          <a:bodyPr wrap="square" lIns="0" tIns="0" rIns="0" bIns="0" rtlCol="0" anchor="ctr"/>
          <a:lstStyle/>
          <a:p>
            <a:pPr indent="0" marL="0">
              <a:buNone/>
            </a:pPr>
            <a:r>
              <a:rPr lang="en-US" sz="900" b="1" dirty="0">
                <a:solidFill>
                  <a:srgbClr val="046A38"/>
                </a:solidFill>
                <a:latin typeface="Arial" pitchFamily="34" charset="0"/>
                <a:ea typeface="Arial" pitchFamily="34" charset="-122"/>
                <a:cs typeface="Arial" pitchFamily="34" charset="-120"/>
              </a:rPr>
              <a:t>Spices</a:t>
            </a:r>
            <a:endParaRPr lang="en-US" sz="900" dirty="0"/>
          </a:p>
        </p:txBody>
      </p:sp>
      <p:sp>
        <p:nvSpPr>
          <p:cNvPr id="8" name="Shape 6"/>
          <p:cNvSpPr/>
          <p:nvPr/>
        </p:nvSpPr>
        <p:spPr>
          <a:xfrm>
            <a:off x="960120" y="1005840"/>
            <a:ext cx="1188720" cy="457200"/>
          </a:xfrm>
          <a:prstGeom prst="rect">
            <a:avLst/>
          </a:prstGeom>
          <a:solidFill>
            <a:srgbClr val="FFFFFF"/>
          </a:solidFill>
          <a:ln w="12700">
            <a:solidFill>
              <a:srgbClr val="046A38"/>
            </a:solidFill>
            <a:prstDash val="solid"/>
          </a:ln>
        </p:spPr>
      </p:sp>
      <p:sp>
        <p:nvSpPr>
          <p:cNvPr id="9" name="Text 7"/>
          <p:cNvSpPr txBox="1"/>
          <p:nvPr/>
        </p:nvSpPr>
        <p:spPr>
          <a:xfrm>
            <a:off x="1014984"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Rs 1,06,675 Cr</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Market FY24</a:t>
            </a:r>
            <a:endParaRPr lang="en-US" sz="900" dirty="0"/>
          </a:p>
        </p:txBody>
      </p:sp>
      <p:sp>
        <p:nvSpPr>
          <p:cNvPr id="10" name="Text 8"/>
          <p:cNvSpPr txBox="1"/>
          <p:nvPr/>
        </p:nvSpPr>
        <p:spPr>
          <a:xfrm>
            <a:off x="2148840"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11" name="Shape 9"/>
          <p:cNvSpPr/>
          <p:nvPr/>
        </p:nvSpPr>
        <p:spPr>
          <a:xfrm>
            <a:off x="2350008" y="1005840"/>
            <a:ext cx="1188720" cy="457200"/>
          </a:xfrm>
          <a:prstGeom prst="rect">
            <a:avLst/>
          </a:prstGeom>
          <a:solidFill>
            <a:srgbClr val="FFFFFF"/>
          </a:solidFill>
          <a:ln w="12700">
            <a:solidFill>
              <a:srgbClr val="046A38"/>
            </a:solidFill>
            <a:prstDash val="solid"/>
          </a:ln>
        </p:spPr>
      </p:sp>
      <p:sp>
        <p:nvSpPr>
          <p:cNvPr id="12" name="Text 10"/>
          <p:cNvSpPr txBox="1"/>
          <p:nvPr/>
        </p:nvSpPr>
        <p:spPr>
          <a:xfrm>
            <a:off x="2404872"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42%</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Organised</a:t>
            </a:r>
            <a:endParaRPr lang="en-US" sz="900" dirty="0"/>
          </a:p>
        </p:txBody>
      </p:sp>
      <p:sp>
        <p:nvSpPr>
          <p:cNvPr id="13" name="Text 11"/>
          <p:cNvSpPr txBox="1"/>
          <p:nvPr/>
        </p:nvSpPr>
        <p:spPr>
          <a:xfrm>
            <a:off x="3538728"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14" name="Shape 12"/>
          <p:cNvSpPr/>
          <p:nvPr/>
        </p:nvSpPr>
        <p:spPr>
          <a:xfrm>
            <a:off x="3739896" y="1005840"/>
            <a:ext cx="1188720" cy="457200"/>
          </a:xfrm>
          <a:prstGeom prst="rect">
            <a:avLst/>
          </a:prstGeom>
          <a:solidFill>
            <a:srgbClr val="FFFFFF"/>
          </a:solidFill>
          <a:ln w="12700">
            <a:solidFill>
              <a:srgbClr val="046A38"/>
            </a:solidFill>
            <a:prstDash val="solid"/>
          </a:ln>
        </p:spPr>
      </p:sp>
      <p:sp>
        <p:nvSpPr>
          <p:cNvPr id="15" name="Text 13"/>
          <p:cNvSpPr txBox="1"/>
          <p:nvPr/>
        </p:nvSpPr>
        <p:spPr>
          <a:xfrm>
            <a:off x="3794760"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8%</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Our reach</a:t>
            </a:r>
            <a:endParaRPr lang="en-US" sz="900" dirty="0"/>
          </a:p>
        </p:txBody>
      </p:sp>
      <p:sp>
        <p:nvSpPr>
          <p:cNvPr id="16" name="Text 14"/>
          <p:cNvSpPr txBox="1"/>
          <p:nvPr/>
        </p:nvSpPr>
        <p:spPr>
          <a:xfrm>
            <a:off x="4928616"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17" name="Shape 15"/>
          <p:cNvSpPr/>
          <p:nvPr/>
        </p:nvSpPr>
        <p:spPr>
          <a:xfrm>
            <a:off x="5129784" y="1005840"/>
            <a:ext cx="1188720" cy="457200"/>
          </a:xfrm>
          <a:prstGeom prst="rect">
            <a:avLst/>
          </a:prstGeom>
          <a:solidFill>
            <a:srgbClr val="FFFFFF"/>
          </a:solidFill>
          <a:ln w="12700">
            <a:solidFill>
              <a:srgbClr val="046A38"/>
            </a:solidFill>
            <a:prstDash val="solid"/>
          </a:ln>
        </p:spPr>
      </p:sp>
      <p:sp>
        <p:nvSpPr>
          <p:cNvPr id="18" name="Text 16"/>
          <p:cNvSpPr txBox="1"/>
          <p:nvPr/>
        </p:nvSpPr>
        <p:spPr>
          <a:xfrm>
            <a:off x="5184648"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75.4%</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Net realisation</a:t>
            </a:r>
            <a:endParaRPr lang="en-US" sz="900" dirty="0"/>
          </a:p>
        </p:txBody>
      </p:sp>
      <p:sp>
        <p:nvSpPr>
          <p:cNvPr id="19" name="Text 17"/>
          <p:cNvSpPr txBox="1"/>
          <p:nvPr/>
        </p:nvSpPr>
        <p:spPr>
          <a:xfrm>
            <a:off x="6318504"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20" name="Shape 18"/>
          <p:cNvSpPr/>
          <p:nvPr/>
        </p:nvSpPr>
        <p:spPr>
          <a:xfrm>
            <a:off x="6519672" y="1005840"/>
            <a:ext cx="1188720" cy="457200"/>
          </a:xfrm>
          <a:prstGeom prst="rect">
            <a:avLst/>
          </a:prstGeom>
          <a:solidFill>
            <a:srgbClr val="FFFFFF"/>
          </a:solidFill>
          <a:ln w="12700">
            <a:solidFill>
              <a:srgbClr val="046A38"/>
            </a:solidFill>
            <a:prstDash val="solid"/>
          </a:ln>
        </p:spPr>
      </p:sp>
      <p:sp>
        <p:nvSpPr>
          <p:cNvPr id="21" name="Text 19"/>
          <p:cNvSpPr txBox="1"/>
          <p:nvPr/>
        </p:nvSpPr>
        <p:spPr>
          <a:xfrm>
            <a:off x="6574536"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3%</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Our share</a:t>
            </a:r>
            <a:endParaRPr lang="en-US" sz="900" dirty="0"/>
          </a:p>
        </p:txBody>
      </p:sp>
      <p:sp>
        <p:nvSpPr>
          <p:cNvPr id="22" name="Text 20"/>
          <p:cNvSpPr txBox="1"/>
          <p:nvPr/>
        </p:nvSpPr>
        <p:spPr>
          <a:xfrm>
            <a:off x="7708392"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23" name="Shape 21"/>
          <p:cNvSpPr/>
          <p:nvPr/>
        </p:nvSpPr>
        <p:spPr>
          <a:xfrm>
            <a:off x="7909560" y="1005840"/>
            <a:ext cx="1188720" cy="457200"/>
          </a:xfrm>
          <a:prstGeom prst="rect">
            <a:avLst/>
          </a:prstGeom>
          <a:solidFill>
            <a:srgbClr val="FFFFFF"/>
          </a:solidFill>
          <a:ln w="12700">
            <a:solidFill>
              <a:srgbClr val="046A38"/>
            </a:solidFill>
            <a:prstDash val="solid"/>
          </a:ln>
        </p:spPr>
      </p:sp>
      <p:sp>
        <p:nvSpPr>
          <p:cNvPr id="24" name="Text 22"/>
          <p:cNvSpPr txBox="1"/>
          <p:nvPr/>
        </p:nvSpPr>
        <p:spPr>
          <a:xfrm>
            <a:off x="7964424"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1.0</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Multiplier</a:t>
            </a:r>
            <a:endParaRPr lang="en-US" sz="900" dirty="0"/>
          </a:p>
        </p:txBody>
      </p:sp>
      <p:sp>
        <p:nvSpPr>
          <p:cNvPr id="25" name="Text 23"/>
          <p:cNvSpPr txBox="1"/>
          <p:nvPr/>
        </p:nvSpPr>
        <p:spPr>
          <a:xfrm>
            <a:off x="9098280"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26" name="Shape 24"/>
          <p:cNvSpPr/>
          <p:nvPr/>
        </p:nvSpPr>
        <p:spPr>
          <a:xfrm>
            <a:off x="9299448" y="1005840"/>
            <a:ext cx="1188720" cy="457200"/>
          </a:xfrm>
          <a:prstGeom prst="rect">
            <a:avLst/>
          </a:prstGeom>
          <a:solidFill>
            <a:srgbClr val="FFFFFF"/>
          </a:solidFill>
          <a:ln w="12700">
            <a:solidFill>
              <a:srgbClr val="046A38"/>
            </a:solidFill>
            <a:prstDash val="solid"/>
          </a:ln>
        </p:spPr>
      </p:sp>
      <p:sp>
        <p:nvSpPr>
          <p:cNvPr id="27" name="Text 25"/>
          <p:cNvSpPr txBox="1"/>
          <p:nvPr/>
        </p:nvSpPr>
        <p:spPr>
          <a:xfrm>
            <a:off x="9354312" y="1005840"/>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95%</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Launch ramp</a:t>
            </a:r>
            <a:endParaRPr lang="en-US" sz="900" dirty="0"/>
          </a:p>
        </p:txBody>
      </p:sp>
      <p:sp>
        <p:nvSpPr>
          <p:cNvPr id="28" name="Text 26"/>
          <p:cNvSpPr txBox="1"/>
          <p:nvPr/>
        </p:nvSpPr>
        <p:spPr>
          <a:xfrm>
            <a:off x="10488168" y="1005840"/>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29" name="Text 27"/>
          <p:cNvSpPr txBox="1"/>
          <p:nvPr/>
        </p:nvSpPr>
        <p:spPr>
          <a:xfrm>
            <a:off x="10469880" y="1005840"/>
            <a:ext cx="182880" cy="45720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30" name="Shape 28"/>
          <p:cNvSpPr/>
          <p:nvPr/>
        </p:nvSpPr>
        <p:spPr>
          <a:xfrm>
            <a:off x="10671048" y="1005840"/>
            <a:ext cx="1463040" cy="457200"/>
          </a:xfrm>
          <a:prstGeom prst="rect">
            <a:avLst/>
          </a:prstGeom>
          <a:solidFill>
            <a:srgbClr val="046A38"/>
          </a:solidFill>
          <a:ln w="12700">
            <a:solidFill>
              <a:srgbClr val="046A38"/>
            </a:solidFill>
            <a:prstDash val="solid"/>
          </a:ln>
        </p:spPr>
      </p:sp>
      <p:sp>
        <p:nvSpPr>
          <p:cNvPr id="31" name="Text 29"/>
          <p:cNvSpPr txBox="1"/>
          <p:nvPr/>
        </p:nvSpPr>
        <p:spPr>
          <a:xfrm>
            <a:off x="10725912" y="1005840"/>
            <a:ext cx="1371600" cy="4572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Rs 77.0 Cr</a:t>
            </a:r>
            <a:endParaRPr lang="en-US" sz="1100" dirty="0"/>
          </a:p>
          <a:p>
            <a:pPr indent="0" marL="0">
              <a:buNone/>
            </a:pPr>
            <a:r>
              <a:rPr lang="en-US" sz="650" dirty="0">
                <a:solidFill>
                  <a:srgbClr val="FFFFFF"/>
                </a:solidFill>
                <a:latin typeface="Arial" pitchFamily="34" charset="0"/>
                <a:ea typeface="Arial" pitchFamily="34" charset="-122"/>
                <a:cs typeface="Arial" pitchFamily="34" charset="-120"/>
              </a:rPr>
              <a:t>FY24 revenue</a:t>
            </a:r>
            <a:endParaRPr lang="en-US" sz="1100" dirty="0"/>
          </a:p>
        </p:txBody>
      </p:sp>
      <p:sp>
        <p:nvSpPr>
          <p:cNvPr id="32" name="Text 30"/>
          <p:cNvSpPr txBox="1"/>
          <p:nvPr/>
        </p:nvSpPr>
        <p:spPr>
          <a:xfrm>
            <a:off x="109728" y="1536192"/>
            <a:ext cx="822960" cy="457200"/>
          </a:xfrm>
          <a:prstGeom prst="rect">
            <a:avLst/>
          </a:prstGeom>
          <a:noFill/>
          <a:ln/>
        </p:spPr>
        <p:txBody>
          <a:bodyPr wrap="square" lIns="0" tIns="0" rIns="0" bIns="0" rtlCol="0" anchor="ctr"/>
          <a:lstStyle/>
          <a:p>
            <a:pPr indent="0" marL="0">
              <a:buNone/>
            </a:pPr>
            <a:r>
              <a:rPr lang="en-US" sz="900" b="1" dirty="0">
                <a:solidFill>
                  <a:srgbClr val="26890D"/>
                </a:solidFill>
                <a:latin typeface="Arial" pitchFamily="34" charset="0"/>
                <a:ea typeface="Arial" pitchFamily="34" charset="-122"/>
                <a:cs typeface="Arial" pitchFamily="34" charset="-120"/>
              </a:rPr>
              <a:t>Premixes</a:t>
            </a:r>
            <a:endParaRPr lang="en-US" sz="900" dirty="0"/>
          </a:p>
        </p:txBody>
      </p:sp>
      <p:sp>
        <p:nvSpPr>
          <p:cNvPr id="33" name="Shape 31"/>
          <p:cNvSpPr/>
          <p:nvPr/>
        </p:nvSpPr>
        <p:spPr>
          <a:xfrm>
            <a:off x="960120" y="1536192"/>
            <a:ext cx="1188720" cy="457200"/>
          </a:xfrm>
          <a:prstGeom prst="rect">
            <a:avLst/>
          </a:prstGeom>
          <a:solidFill>
            <a:srgbClr val="FFFFFF"/>
          </a:solidFill>
          <a:ln w="12700">
            <a:solidFill>
              <a:srgbClr val="26890D"/>
            </a:solidFill>
            <a:prstDash val="solid"/>
          </a:ln>
        </p:spPr>
      </p:sp>
      <p:sp>
        <p:nvSpPr>
          <p:cNvPr id="34" name="Text 32"/>
          <p:cNvSpPr txBox="1"/>
          <p:nvPr/>
        </p:nvSpPr>
        <p:spPr>
          <a:xfrm>
            <a:off x="1014984"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Rs 9,482 Cr</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Market FY24</a:t>
            </a:r>
            <a:endParaRPr lang="en-US" sz="900" dirty="0"/>
          </a:p>
        </p:txBody>
      </p:sp>
      <p:sp>
        <p:nvSpPr>
          <p:cNvPr id="35" name="Text 33"/>
          <p:cNvSpPr txBox="1"/>
          <p:nvPr/>
        </p:nvSpPr>
        <p:spPr>
          <a:xfrm>
            <a:off x="2148840"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36" name="Shape 34"/>
          <p:cNvSpPr/>
          <p:nvPr/>
        </p:nvSpPr>
        <p:spPr>
          <a:xfrm>
            <a:off x="2350008" y="1536192"/>
            <a:ext cx="1188720" cy="457200"/>
          </a:xfrm>
          <a:prstGeom prst="rect">
            <a:avLst/>
          </a:prstGeom>
          <a:solidFill>
            <a:srgbClr val="FFFFFF"/>
          </a:solidFill>
          <a:ln w="12700">
            <a:solidFill>
              <a:srgbClr val="26890D"/>
            </a:solidFill>
            <a:prstDash val="solid"/>
          </a:ln>
        </p:spPr>
      </p:sp>
      <p:sp>
        <p:nvSpPr>
          <p:cNvPr id="37" name="Text 35"/>
          <p:cNvSpPr txBox="1"/>
          <p:nvPr/>
        </p:nvSpPr>
        <p:spPr>
          <a:xfrm>
            <a:off x="2404872"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55%</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Organised</a:t>
            </a:r>
            <a:endParaRPr lang="en-US" sz="900" dirty="0"/>
          </a:p>
        </p:txBody>
      </p:sp>
      <p:sp>
        <p:nvSpPr>
          <p:cNvPr id="38" name="Text 36"/>
          <p:cNvSpPr txBox="1"/>
          <p:nvPr/>
        </p:nvSpPr>
        <p:spPr>
          <a:xfrm>
            <a:off x="3538728"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39" name="Shape 37"/>
          <p:cNvSpPr/>
          <p:nvPr/>
        </p:nvSpPr>
        <p:spPr>
          <a:xfrm>
            <a:off x="3739896" y="1536192"/>
            <a:ext cx="1188720" cy="457200"/>
          </a:xfrm>
          <a:prstGeom prst="rect">
            <a:avLst/>
          </a:prstGeom>
          <a:solidFill>
            <a:srgbClr val="FFFFFF"/>
          </a:solidFill>
          <a:ln w="12700">
            <a:solidFill>
              <a:srgbClr val="26890D"/>
            </a:solidFill>
            <a:prstDash val="solid"/>
          </a:ln>
        </p:spPr>
      </p:sp>
      <p:sp>
        <p:nvSpPr>
          <p:cNvPr id="40" name="Text 38"/>
          <p:cNvSpPr txBox="1"/>
          <p:nvPr/>
        </p:nvSpPr>
        <p:spPr>
          <a:xfrm>
            <a:off x="3794760"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8%</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Our reach</a:t>
            </a:r>
            <a:endParaRPr lang="en-US" sz="900" dirty="0"/>
          </a:p>
        </p:txBody>
      </p:sp>
      <p:sp>
        <p:nvSpPr>
          <p:cNvPr id="41" name="Text 39"/>
          <p:cNvSpPr txBox="1"/>
          <p:nvPr/>
        </p:nvSpPr>
        <p:spPr>
          <a:xfrm>
            <a:off x="4928616"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42" name="Shape 40"/>
          <p:cNvSpPr/>
          <p:nvPr/>
        </p:nvSpPr>
        <p:spPr>
          <a:xfrm>
            <a:off x="5129784" y="1536192"/>
            <a:ext cx="1188720" cy="457200"/>
          </a:xfrm>
          <a:prstGeom prst="rect">
            <a:avLst/>
          </a:prstGeom>
          <a:solidFill>
            <a:srgbClr val="FFFFFF"/>
          </a:solidFill>
          <a:ln w="12700">
            <a:solidFill>
              <a:srgbClr val="26890D"/>
            </a:solidFill>
            <a:prstDash val="solid"/>
          </a:ln>
        </p:spPr>
      </p:sp>
      <p:sp>
        <p:nvSpPr>
          <p:cNvPr id="43" name="Text 41"/>
          <p:cNvSpPr txBox="1"/>
          <p:nvPr/>
        </p:nvSpPr>
        <p:spPr>
          <a:xfrm>
            <a:off x="5184648"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75.4%</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Net realisation</a:t>
            </a:r>
            <a:endParaRPr lang="en-US" sz="900" dirty="0"/>
          </a:p>
        </p:txBody>
      </p:sp>
      <p:sp>
        <p:nvSpPr>
          <p:cNvPr id="44" name="Text 42"/>
          <p:cNvSpPr txBox="1"/>
          <p:nvPr/>
        </p:nvSpPr>
        <p:spPr>
          <a:xfrm>
            <a:off x="6318504"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45" name="Shape 43"/>
          <p:cNvSpPr/>
          <p:nvPr/>
        </p:nvSpPr>
        <p:spPr>
          <a:xfrm>
            <a:off x="6519672" y="1536192"/>
            <a:ext cx="1188720" cy="457200"/>
          </a:xfrm>
          <a:prstGeom prst="rect">
            <a:avLst/>
          </a:prstGeom>
          <a:solidFill>
            <a:srgbClr val="FFFFFF"/>
          </a:solidFill>
          <a:ln w="12700">
            <a:solidFill>
              <a:srgbClr val="26890D"/>
            </a:solidFill>
            <a:prstDash val="solid"/>
          </a:ln>
        </p:spPr>
      </p:sp>
      <p:sp>
        <p:nvSpPr>
          <p:cNvPr id="46" name="Text 44"/>
          <p:cNvSpPr txBox="1"/>
          <p:nvPr/>
        </p:nvSpPr>
        <p:spPr>
          <a:xfrm>
            <a:off x="6574536"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10%</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Our share</a:t>
            </a:r>
            <a:endParaRPr lang="en-US" sz="900" dirty="0"/>
          </a:p>
        </p:txBody>
      </p:sp>
      <p:sp>
        <p:nvSpPr>
          <p:cNvPr id="47" name="Text 45"/>
          <p:cNvSpPr txBox="1"/>
          <p:nvPr/>
        </p:nvSpPr>
        <p:spPr>
          <a:xfrm>
            <a:off x="7708392"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48" name="Shape 46"/>
          <p:cNvSpPr/>
          <p:nvPr/>
        </p:nvSpPr>
        <p:spPr>
          <a:xfrm>
            <a:off x="7909560" y="1536192"/>
            <a:ext cx="1188720" cy="457200"/>
          </a:xfrm>
          <a:prstGeom prst="rect">
            <a:avLst/>
          </a:prstGeom>
          <a:solidFill>
            <a:srgbClr val="FFFFFF"/>
          </a:solidFill>
          <a:ln w="12700">
            <a:solidFill>
              <a:srgbClr val="26890D"/>
            </a:solidFill>
            <a:prstDash val="solid"/>
          </a:ln>
        </p:spPr>
      </p:sp>
      <p:sp>
        <p:nvSpPr>
          <p:cNvPr id="49" name="Text 47"/>
          <p:cNvSpPr txBox="1"/>
          <p:nvPr/>
        </p:nvSpPr>
        <p:spPr>
          <a:xfrm>
            <a:off x="7964424"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1.0</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Multiplier</a:t>
            </a:r>
            <a:endParaRPr lang="en-US" sz="900" dirty="0"/>
          </a:p>
        </p:txBody>
      </p:sp>
      <p:sp>
        <p:nvSpPr>
          <p:cNvPr id="50" name="Text 48"/>
          <p:cNvSpPr txBox="1"/>
          <p:nvPr/>
        </p:nvSpPr>
        <p:spPr>
          <a:xfrm>
            <a:off x="9098280"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51" name="Shape 49"/>
          <p:cNvSpPr/>
          <p:nvPr/>
        </p:nvSpPr>
        <p:spPr>
          <a:xfrm>
            <a:off x="9299448" y="1536192"/>
            <a:ext cx="1188720" cy="457200"/>
          </a:xfrm>
          <a:prstGeom prst="rect">
            <a:avLst/>
          </a:prstGeom>
          <a:solidFill>
            <a:srgbClr val="FFFFFF"/>
          </a:solidFill>
          <a:ln w="12700">
            <a:solidFill>
              <a:srgbClr val="26890D"/>
            </a:solidFill>
            <a:prstDash val="solid"/>
          </a:ln>
        </p:spPr>
      </p:sp>
      <p:sp>
        <p:nvSpPr>
          <p:cNvPr id="52" name="Text 50"/>
          <p:cNvSpPr txBox="1"/>
          <p:nvPr/>
        </p:nvSpPr>
        <p:spPr>
          <a:xfrm>
            <a:off x="9354312" y="1536192"/>
            <a:ext cx="1097280" cy="457200"/>
          </a:xfrm>
          <a:prstGeom prst="rect">
            <a:avLst/>
          </a:prstGeom>
          <a:noFill/>
          <a:ln/>
        </p:spPr>
        <p:txBody>
          <a:bodyPr wrap="square" lIns="0" tIns="0" rIns="0" bIns="0" rtlCol="0" anchor="ctr"/>
          <a:lstStyle/>
          <a:p>
            <a:pPr indent="0" marL="0">
              <a:buNone/>
            </a:pPr>
            <a:r>
              <a:rPr lang="en-US" sz="900" b="1" dirty="0">
                <a:solidFill>
                  <a:srgbClr val="000000"/>
                </a:solidFill>
                <a:latin typeface="Arial" pitchFamily="34" charset="0"/>
                <a:ea typeface="Arial" pitchFamily="34" charset="-122"/>
                <a:cs typeface="Arial" pitchFamily="34" charset="-120"/>
              </a:rPr>
              <a:t>100%</a:t>
            </a:r>
            <a:endParaRPr lang="en-US" sz="900" dirty="0"/>
          </a:p>
          <a:p>
            <a:pPr indent="0" marL="0">
              <a:buNone/>
            </a:pPr>
            <a:r>
              <a:rPr lang="en-US" sz="650" dirty="0">
                <a:solidFill>
                  <a:srgbClr val="53565A"/>
                </a:solidFill>
                <a:latin typeface="Arial" pitchFamily="34" charset="0"/>
                <a:ea typeface="Arial" pitchFamily="34" charset="-122"/>
                <a:cs typeface="Arial" pitchFamily="34" charset="-120"/>
              </a:rPr>
              <a:t>Launch ramp</a:t>
            </a:r>
            <a:endParaRPr lang="en-US" sz="900" dirty="0"/>
          </a:p>
        </p:txBody>
      </p:sp>
      <p:sp>
        <p:nvSpPr>
          <p:cNvPr id="53" name="Text 51"/>
          <p:cNvSpPr txBox="1"/>
          <p:nvPr/>
        </p:nvSpPr>
        <p:spPr>
          <a:xfrm>
            <a:off x="10488168" y="1536192"/>
            <a:ext cx="201168" cy="457200"/>
          </a:xfrm>
          <a:prstGeom prst="rect">
            <a:avLst/>
          </a:prstGeom>
          <a:noFill/>
          <a:ln/>
        </p:spPr>
        <p:txBody>
          <a:bodyPr wrap="square" lIns="0" tIns="0" rIns="0" bIns="0" rtlCol="0" anchor="ctr"/>
          <a:lstStyle/>
          <a:p>
            <a:pPr algn="ctr" indent="0" marL="0">
              <a:buNone/>
            </a:pPr>
            <a:r>
              <a:rPr lang="en-US" sz="900" dirty="0">
                <a:solidFill>
                  <a:srgbClr val="53565A"/>
                </a:solidFill>
                <a:latin typeface="Arial" pitchFamily="34" charset="0"/>
                <a:ea typeface="Arial" pitchFamily="34" charset="-122"/>
                <a:cs typeface="Arial" pitchFamily="34" charset="-120"/>
              </a:rPr>
              <a:t>x</a:t>
            </a:r>
            <a:endParaRPr lang="en-US" sz="900" dirty="0"/>
          </a:p>
        </p:txBody>
      </p:sp>
      <p:sp>
        <p:nvSpPr>
          <p:cNvPr id="54" name="Text 52"/>
          <p:cNvSpPr txBox="1"/>
          <p:nvPr/>
        </p:nvSpPr>
        <p:spPr>
          <a:xfrm>
            <a:off x="10469880" y="1536192"/>
            <a:ext cx="182880" cy="457200"/>
          </a:xfrm>
          <a:prstGeom prst="rect">
            <a:avLst/>
          </a:prstGeom>
          <a:noFill/>
          <a:ln/>
        </p:spPr>
        <p:txBody>
          <a:bodyPr wrap="square" lIns="0" tIns="0" rIns="0" bIns="0" rtlCol="0" anchor="ctr"/>
          <a:lstStyle/>
          <a:p>
            <a:pPr algn="ctr" indent="0" marL="0">
              <a:buNone/>
            </a:pPr>
            <a:r>
              <a:rPr lang="en-US" sz="1100" b="1" dirty="0">
                <a:solidFill>
                  <a:srgbClr val="000000"/>
                </a:solidFill>
                <a:latin typeface="Arial" pitchFamily="34" charset="0"/>
                <a:ea typeface="Arial" pitchFamily="34" charset="-122"/>
                <a:cs typeface="Arial" pitchFamily="34" charset="-120"/>
              </a:rPr>
              <a:t>=</a:t>
            </a:r>
            <a:endParaRPr lang="en-US" sz="1100" dirty="0"/>
          </a:p>
        </p:txBody>
      </p:sp>
      <p:sp>
        <p:nvSpPr>
          <p:cNvPr id="55" name="Shape 53"/>
          <p:cNvSpPr/>
          <p:nvPr/>
        </p:nvSpPr>
        <p:spPr>
          <a:xfrm>
            <a:off x="10671048" y="1536192"/>
            <a:ext cx="1463040" cy="457200"/>
          </a:xfrm>
          <a:prstGeom prst="rect">
            <a:avLst/>
          </a:prstGeom>
          <a:solidFill>
            <a:srgbClr val="26890D"/>
          </a:solidFill>
          <a:ln w="12700">
            <a:solidFill>
              <a:srgbClr val="26890D"/>
            </a:solidFill>
            <a:prstDash val="solid"/>
          </a:ln>
        </p:spPr>
      </p:sp>
      <p:sp>
        <p:nvSpPr>
          <p:cNvPr id="56" name="Text 54"/>
          <p:cNvSpPr txBox="1"/>
          <p:nvPr/>
        </p:nvSpPr>
        <p:spPr>
          <a:xfrm>
            <a:off x="10725912" y="1536192"/>
            <a:ext cx="1371600" cy="4572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Rs 31.5 Cr</a:t>
            </a:r>
            <a:endParaRPr lang="en-US" sz="1100" dirty="0"/>
          </a:p>
          <a:p>
            <a:pPr indent="0" marL="0">
              <a:buNone/>
            </a:pPr>
            <a:r>
              <a:rPr lang="en-US" sz="650" dirty="0">
                <a:solidFill>
                  <a:srgbClr val="FFFFFF"/>
                </a:solidFill>
                <a:latin typeface="Arial" pitchFamily="34" charset="0"/>
                <a:ea typeface="Arial" pitchFamily="34" charset="-122"/>
                <a:cs typeface="Arial" pitchFamily="34" charset="-120"/>
              </a:rPr>
              <a:t>FY24 revenue</a:t>
            </a:r>
            <a:endParaRPr lang="en-US" sz="1100" dirty="0"/>
          </a:p>
        </p:txBody>
      </p:sp>
      <p:sp>
        <p:nvSpPr>
          <p:cNvPr id="57" name="Text 55"/>
          <p:cNvSpPr txBox="1"/>
          <p:nvPr/>
        </p:nvSpPr>
        <p:spPr>
          <a:xfrm>
            <a:off x="109728" y="2103120"/>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New-product revenue by line (Rs Cr, net)</a:t>
            </a:r>
            <a:endParaRPr lang="en-US" sz="1100" dirty="0"/>
          </a:p>
        </p:txBody>
      </p:sp>
      <p:graphicFrame>
        <p:nvGraphicFramePr>
          <p:cNvPr id="58" name="Chart 0" descr=""/>
          <p:cNvGraphicFramePr/>
          <p:nvPr/>
        </p:nvGraphicFramePr>
        <p:xfrm>
          <a:off x="109728" y="2331720"/>
          <a:ext cx="3931920" cy="2880360"/>
        </p:xfrm>
        <a:graphic xmlns:a="http://schemas.openxmlformats.org/drawingml/2006/main">
          <a:graphicData uri="http://schemas.openxmlformats.org/drawingml/2006/chart">
            <c:chart xmlns:c="http://schemas.openxmlformats.org/drawingml/2006/chart" r:id="rId1"/>
          </a:graphicData>
        </a:graphic>
      </p:graphicFrame>
      <p:sp>
        <p:nvSpPr>
          <p:cNvPr id="59" name="Text 56"/>
          <p:cNvSpPr txBox="1"/>
          <p:nvPr/>
        </p:nvSpPr>
        <p:spPr>
          <a:xfrm>
            <a:off x="566928" y="2340864"/>
            <a:ext cx="822960" cy="182880"/>
          </a:xfrm>
          <a:prstGeom prst="rect">
            <a:avLst/>
          </a:prstGeom>
          <a:noFill/>
          <a:ln/>
        </p:spPr>
        <p:txBody>
          <a:bodyPr wrap="square" lIns="0" tIns="0" rIns="0" bIns="0" rtlCol="0" anchor="ctr"/>
          <a:lstStyle/>
          <a:p>
            <a:pPr algn="ctr" indent="0" marL="0">
              <a:buNone/>
            </a:pPr>
            <a:r>
              <a:rPr lang="en-US" sz="680" b="1" dirty="0">
                <a:solidFill>
                  <a:srgbClr val="046A38"/>
                </a:solidFill>
                <a:latin typeface="Arial" pitchFamily="34" charset="0"/>
                <a:ea typeface="Arial" pitchFamily="34" charset="-122"/>
                <a:cs typeface="Arial" pitchFamily="34" charset="-120"/>
              </a:rPr>
              <a:t>Total 23.5</a:t>
            </a:r>
            <a:endParaRPr lang="en-US" sz="680" dirty="0"/>
          </a:p>
        </p:txBody>
      </p:sp>
      <p:sp>
        <p:nvSpPr>
          <p:cNvPr id="60" name="Text 57"/>
          <p:cNvSpPr txBox="1"/>
          <p:nvPr/>
        </p:nvSpPr>
        <p:spPr>
          <a:xfrm>
            <a:off x="1417320" y="2340864"/>
            <a:ext cx="822960" cy="182880"/>
          </a:xfrm>
          <a:prstGeom prst="rect">
            <a:avLst/>
          </a:prstGeom>
          <a:noFill/>
          <a:ln/>
        </p:spPr>
        <p:txBody>
          <a:bodyPr wrap="square" lIns="0" tIns="0" rIns="0" bIns="0" rtlCol="0" anchor="ctr"/>
          <a:lstStyle/>
          <a:p>
            <a:pPr algn="ctr" indent="0" marL="0">
              <a:buNone/>
            </a:pPr>
            <a:r>
              <a:rPr lang="en-US" sz="680" b="1" dirty="0">
                <a:solidFill>
                  <a:srgbClr val="046A38"/>
                </a:solidFill>
                <a:latin typeface="Arial" pitchFamily="34" charset="0"/>
                <a:ea typeface="Arial" pitchFamily="34" charset="-122"/>
                <a:cs typeface="Arial" pitchFamily="34" charset="-120"/>
              </a:rPr>
              <a:t>Total 36.5</a:t>
            </a:r>
            <a:endParaRPr lang="en-US" sz="680" dirty="0"/>
          </a:p>
        </p:txBody>
      </p:sp>
      <p:sp>
        <p:nvSpPr>
          <p:cNvPr id="61" name="Text 58"/>
          <p:cNvSpPr txBox="1"/>
          <p:nvPr/>
        </p:nvSpPr>
        <p:spPr>
          <a:xfrm>
            <a:off x="2267712" y="2340864"/>
            <a:ext cx="822960" cy="182880"/>
          </a:xfrm>
          <a:prstGeom prst="rect">
            <a:avLst/>
          </a:prstGeom>
          <a:noFill/>
          <a:ln/>
        </p:spPr>
        <p:txBody>
          <a:bodyPr wrap="square" lIns="0" tIns="0" rIns="0" bIns="0" rtlCol="0" anchor="ctr"/>
          <a:lstStyle/>
          <a:p>
            <a:pPr algn="ctr" indent="0" marL="0">
              <a:buNone/>
            </a:pPr>
            <a:r>
              <a:rPr lang="en-US" sz="680" b="1" dirty="0">
                <a:solidFill>
                  <a:srgbClr val="046A38"/>
                </a:solidFill>
                <a:latin typeface="Arial" pitchFamily="34" charset="0"/>
                <a:ea typeface="Arial" pitchFamily="34" charset="-122"/>
                <a:cs typeface="Arial" pitchFamily="34" charset="-120"/>
              </a:rPr>
              <a:t>Total 93.0</a:t>
            </a:r>
            <a:endParaRPr lang="en-US" sz="680" dirty="0"/>
          </a:p>
        </p:txBody>
      </p:sp>
      <p:sp>
        <p:nvSpPr>
          <p:cNvPr id="62" name="Text 59"/>
          <p:cNvSpPr txBox="1"/>
          <p:nvPr/>
        </p:nvSpPr>
        <p:spPr>
          <a:xfrm>
            <a:off x="3118104" y="2340864"/>
            <a:ext cx="822960" cy="182880"/>
          </a:xfrm>
          <a:prstGeom prst="rect">
            <a:avLst/>
          </a:prstGeom>
          <a:noFill/>
          <a:ln/>
        </p:spPr>
        <p:txBody>
          <a:bodyPr wrap="square" lIns="0" tIns="0" rIns="0" bIns="0" rtlCol="0" anchor="ctr"/>
          <a:lstStyle/>
          <a:p>
            <a:pPr algn="ctr" indent="0" marL="0">
              <a:buNone/>
            </a:pPr>
            <a:r>
              <a:rPr lang="en-US" sz="680" b="1" dirty="0">
                <a:solidFill>
                  <a:srgbClr val="046A38"/>
                </a:solidFill>
                <a:latin typeface="Arial" pitchFamily="34" charset="0"/>
                <a:ea typeface="Arial" pitchFamily="34" charset="-122"/>
                <a:cs typeface="Arial" pitchFamily="34" charset="-120"/>
              </a:rPr>
              <a:t>Total 139.8</a:t>
            </a:r>
            <a:endParaRPr lang="en-US" sz="680" dirty="0"/>
          </a:p>
        </p:txBody>
      </p:sp>
      <p:sp>
        <p:nvSpPr>
          <p:cNvPr id="63" name="Shape 60"/>
          <p:cNvSpPr/>
          <p:nvPr/>
        </p:nvSpPr>
        <p:spPr>
          <a:xfrm>
            <a:off x="109728" y="5257800"/>
            <a:ext cx="3931920" cy="640080"/>
          </a:xfrm>
          <a:prstGeom prst="rect">
            <a:avLst/>
          </a:prstGeom>
          <a:solidFill>
            <a:srgbClr val="E3F1D0"/>
          </a:solidFill>
          <a:ln w="12700">
            <a:solidFill>
              <a:srgbClr val="E3F1D0"/>
            </a:solidFill>
            <a:prstDash val="solid"/>
          </a:ln>
        </p:spPr>
      </p:sp>
      <p:sp>
        <p:nvSpPr>
          <p:cNvPr id="64" name="Text 61"/>
          <p:cNvSpPr txBox="1"/>
          <p:nvPr/>
        </p:nvSpPr>
        <p:spPr>
          <a:xfrm>
            <a:off x="182880" y="5257800"/>
            <a:ext cx="3794760" cy="640080"/>
          </a:xfrm>
          <a:prstGeom prst="rect">
            <a:avLst/>
          </a:prstGeom>
          <a:noFill/>
          <a:ln/>
        </p:spPr>
        <p:txBody>
          <a:bodyPr wrap="square" lIns="0" tIns="0" rIns="0" bIns="0" rtlCol="0" anchor="ctr"/>
          <a:lstStyle/>
          <a:p>
            <a:pPr indent="0" marL="0">
              <a:buNone/>
            </a:pPr>
            <a:r>
              <a:rPr lang="en-US" sz="740" b="1" dirty="0">
                <a:solidFill>
                  <a:srgbClr val="000000"/>
                </a:solidFill>
                <a:latin typeface="Arial" pitchFamily="34" charset="0"/>
                <a:ea typeface="Arial" pitchFamily="34" charset="-122"/>
                <a:cs typeface="Arial" pitchFamily="34" charset="-120"/>
              </a:rPr>
              <a:t>New-product share: </a:t>
            </a:r>
            <a:pPr indent="0" marL="0">
              <a:buNone/>
            </a:pPr>
            <a:r>
              <a:rPr lang="en-US" sz="740" dirty="0">
                <a:solidFill>
                  <a:srgbClr val="000000"/>
                </a:solidFill>
                <a:latin typeface="Arial" pitchFamily="34" charset="0"/>
                <a:ea typeface="Arial" pitchFamily="34" charset="-122"/>
                <a:cs typeface="Arial" pitchFamily="34" charset="-120"/>
              </a:rPr>
              <a:t>4.2% FY21, 6.1% FY22, 13.6% FY23, 18.5% FY24. Ramps: premixes 30/75/100%, spices 5/60/95% (launch one quarter later).</a:t>
            </a:r>
            <a:endParaRPr lang="en-US" sz="740" dirty="0"/>
          </a:p>
        </p:txBody>
      </p:sp>
      <p:sp>
        <p:nvSpPr>
          <p:cNvPr id="65" name="Text 62"/>
          <p:cNvSpPr txBox="1"/>
          <p:nvPr/>
        </p:nvSpPr>
        <p:spPr>
          <a:xfrm>
            <a:off x="4206240" y="2103120"/>
            <a:ext cx="40233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Company revenue build (Rs Cr)</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06240" y="2359152"/>
          <a:ext cx="4023360" cy="914400"/>
        </p:xfrm>
        <a:graphic>
          <a:graphicData uri="http://schemas.openxmlformats.org/drawingml/2006/table">
            <a:tbl>
              <a:tblPr/>
              <a:tblGrid>
                <a:gridCol w="1645920"/>
                <a:gridCol w="594360"/>
                <a:gridCol w="594360"/>
                <a:gridCol w="594360"/>
                <a:gridCol w="59436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FY21</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FY22</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Legacy range (4.8% p.a.)</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536.5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562.2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589.2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617.5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Today's new products (10% p.a.)</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25.9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28.5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31.3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Winter premixes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20.7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31.5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Spices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43.8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77.0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Company revenue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560.0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598.7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682.2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757.3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b="1" dirty="0">
                          <a:solidFill>
                            <a:srgbClr val="000000"/>
                          </a:solidFill>
                          <a:latin typeface="Arial" pitchFamily="34" charset="0"/>
                          <a:ea typeface="Arial" pitchFamily="34" charset="-122"/>
                          <a:cs typeface="Arial" pitchFamily="34" charset="-120"/>
                        </a:rPr>
                        <a:t>New-product share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4.2%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6.1%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13.6%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18.5%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bl>
          </a:graphicData>
        </a:graphic>
      </p:graphicFrame>
      <p:sp>
        <p:nvSpPr>
          <p:cNvPr id="67" name="Text 63"/>
          <p:cNvSpPr txBox="1"/>
          <p:nvPr/>
        </p:nvSpPr>
        <p:spPr>
          <a:xfrm>
            <a:off x="4206240" y="4251960"/>
            <a:ext cx="40233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Market growth behind it (Exh. 5 CAGRs)</a:t>
            </a:r>
            <a:endParaRPr lang="en-US" sz="11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206240" y="4507992"/>
          <a:ext cx="4023360" cy="914400"/>
        </p:xfrm>
        <a:graphic>
          <a:graphicData uri="http://schemas.openxmlformats.org/drawingml/2006/table">
            <a:tbl>
              <a:tblPr/>
              <a:tblGrid>
                <a:gridCol w="1234440"/>
                <a:gridCol w="594360"/>
                <a:gridCol w="731520"/>
                <a:gridCol w="777240"/>
                <a:gridCol w="685800"/>
              </a:tblGrid>
              <a:tr h="256032">
                <a:tc>
                  <a:txBody>
                    <a:bodyPr/>
                    <a:lstStyle/>
                    <a:p>
                      <a:pPr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FY21</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Our FY24 share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Spices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78,000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1,06,675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0.10%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Premixes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6,400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9,482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0.44%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56032">
                <a:tc>
                  <a:txBody>
                    <a:bodyPr/>
                    <a:lstStyle/>
                    <a:p>
                      <a:pPr indent="0" marL="0">
                        <a:buNone/>
                      </a:pPr>
                      <a:r>
                        <a:rPr lang="en-US" sz="780" dirty="0">
                          <a:solidFill>
                            <a:srgbClr val="000000"/>
                          </a:solidFill>
                          <a:latin typeface="Arial" pitchFamily="34" charset="0"/>
                          <a:ea typeface="Arial" pitchFamily="34" charset="-122"/>
                          <a:cs typeface="Arial" pitchFamily="34" charset="-120"/>
                        </a:rPr>
                        <a:t>Pickles / RTC (options)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13% / 17%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12,500 / 9,800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18,036 / 15,696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Gated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69" name="Text 64"/>
          <p:cNvSpPr txBox="1"/>
          <p:nvPr/>
        </p:nvSpPr>
        <p:spPr>
          <a:xfrm>
            <a:off x="8394192" y="2103120"/>
            <a:ext cx="3721608"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Two models, one plan: we commit to the lower number</a:t>
            </a:r>
            <a:endParaRPr lang="en-US" sz="1100" dirty="0"/>
          </a:p>
        </p:txBody>
      </p:sp>
      <p:graphicFrame>
        <p:nvGraphicFramePr>
          <p:cNvPr id="70" name="Chart 1" descr=""/>
          <p:cNvGraphicFramePr/>
          <p:nvPr/>
        </p:nvGraphicFramePr>
        <p:xfrm>
          <a:off x="8394192" y="2331720"/>
          <a:ext cx="3721608" cy="1371600"/>
        </p:xfrm>
        <a:graphic xmlns:a="http://schemas.openxmlformats.org/drawingml/2006/main">
          <a:graphicData uri="http://schemas.openxmlformats.org/drawingml/2006/chart">
            <c:chart xmlns:c="http://schemas.openxmlformats.org/drawingml/2006/chart" r:id="rId2"/>
          </a:graphicData>
        </a:graphic>
      </p:graphicFrame>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8394192" y="3749040"/>
          <a:ext cx="3721608" cy="914400"/>
        </p:xfrm>
        <a:graphic>
          <a:graphicData uri="http://schemas.openxmlformats.org/drawingml/2006/table">
            <a:tbl>
              <a:tblPr/>
              <a:tblGrid>
                <a:gridCol w="868680"/>
                <a:gridCol w="1426464"/>
                <a:gridCol w="1426464"/>
              </a:tblGrid>
              <a:tr h="237744">
                <a:tc>
                  <a:txBody>
                    <a:bodyPr/>
                    <a:lstStyle/>
                    <a:p>
                      <a:pPr indent="0" marL="0">
                        <a:buNone/>
                      </a:pP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Top-down (plan)</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Bottom-up (Excel)</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37744">
                <a:tc>
                  <a:txBody>
                    <a:bodyPr/>
                    <a:lstStyle/>
                    <a:p>
                      <a:pPr indent="0" marL="0">
                        <a:buNone/>
                      </a:pPr>
                      <a:r>
                        <a:rPr lang="en-US" sz="700" b="1" dirty="0">
                          <a:solidFill>
                            <a:srgbClr val="000000"/>
                          </a:solidFill>
                          <a:latin typeface="Arial" pitchFamily="34" charset="0"/>
                          <a:ea typeface="Arial" pitchFamily="34" charset="-122"/>
                          <a:cs typeface="Arial" pitchFamily="34" charset="-120"/>
                        </a:rPr>
                        <a:t>Driver</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Share of reached market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Outlets x packs per outlet a week</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b="1" dirty="0">
                          <a:solidFill>
                            <a:srgbClr val="000000"/>
                          </a:solidFill>
                          <a:latin typeface="Arial" pitchFamily="34" charset="0"/>
                          <a:ea typeface="Arial" pitchFamily="34" charset="-122"/>
                          <a:cs typeface="Arial" pitchFamily="34" charset="-120"/>
                        </a:rPr>
                        <a:t>Spices FY24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Rs 77 Cr (0.10% of market)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Rs 185 Cr (0.23% at MRP)</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b="1" dirty="0">
                          <a:solidFill>
                            <a:srgbClr val="000000"/>
                          </a:solidFill>
                          <a:latin typeface="Arial" pitchFamily="34" charset="0"/>
                          <a:ea typeface="Arial" pitchFamily="34" charset="-122"/>
                          <a:cs typeface="Arial" pitchFamily="34" charset="-120"/>
                        </a:rPr>
                        <a:t>Categories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Spices + premixes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 condiments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b="1" dirty="0">
                          <a:solidFill>
                            <a:srgbClr val="000000"/>
                          </a:solidFill>
                          <a:latin typeface="Arial" pitchFamily="34" charset="0"/>
                          <a:ea typeface="Arial" pitchFamily="34" charset="-122"/>
                          <a:cs typeface="Arial" pitchFamily="34" charset="-120"/>
                        </a:rPr>
                        <a:t>Status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Conservative; reasoned shares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Velocities not yet validated</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72" name="Text 65"/>
          <p:cNvSpPr txBox="1"/>
          <p:nvPr/>
        </p:nvSpPr>
        <p:spPr>
          <a:xfrm>
            <a:off x="8394192" y="5001768"/>
            <a:ext cx="3721608" cy="896112"/>
          </a:xfrm>
          <a:prstGeom prst="rect">
            <a:avLst/>
          </a:prstGeom>
          <a:noFill/>
          <a:ln/>
        </p:spPr>
        <p:txBody>
          <a:bodyPr wrap="square" lIns="0" tIns="0" rIns="0" bIns="0" rtlCol="0" anchor="ctr"/>
          <a:lstStyle/>
          <a:p>
            <a:pPr indent="0" marL="0">
              <a:buNone/>
            </a:pPr>
            <a:r>
              <a:rPr lang="en-US" sz="730" b="1" dirty="0">
                <a:solidFill>
                  <a:srgbClr val="26890D"/>
                </a:solidFill>
                <a:latin typeface="Arial" pitchFamily="34" charset="0"/>
                <a:ea typeface="Arial" pitchFamily="34" charset="-122"/>
                <a:cs typeface="Arial" pitchFamily="34" charset="-120"/>
              </a:rPr>
              <a:t>Velocity check: Rs 297 a month per stocking outlet for spices (~6 Rs 49 packs), Rs 291 for premixes in season, with half our 4.5 L outlets stocking.</a:t>
            </a:r>
            <a:endParaRPr lang="en-US" sz="730" dirty="0"/>
          </a:p>
        </p:txBody>
      </p:sp>
      <p:sp>
        <p:nvSpPr>
          <p:cNvPr id="73" name="Shape 66"/>
          <p:cNvSpPr/>
          <p:nvPr/>
        </p:nvSpPr>
        <p:spPr>
          <a:xfrm>
            <a:off x="0" y="5961888"/>
            <a:ext cx="12191695" cy="530352"/>
          </a:xfrm>
          <a:prstGeom prst="rect">
            <a:avLst/>
          </a:prstGeom>
          <a:solidFill>
            <a:srgbClr val="86BC25"/>
          </a:solidFill>
          <a:ln w="12700">
            <a:solidFill>
              <a:srgbClr val="86BC25"/>
            </a:solidFill>
            <a:prstDash val="solid"/>
          </a:ln>
        </p:spPr>
      </p:sp>
      <p:sp>
        <p:nvSpPr>
          <p:cNvPr id="74" name="Text 67"/>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A conservative build: </a:t>
            </a:r>
            <a:pPr algn="ctr" indent="0" marL="0">
              <a:buNone/>
            </a:pPr>
            <a:r>
              <a:rPr lang="en-US" sz="1250" dirty="0">
                <a:solidFill>
                  <a:srgbClr val="000000"/>
                </a:solidFill>
                <a:latin typeface="Arial" pitchFamily="34" charset="0"/>
                <a:ea typeface="Arial" pitchFamily="34" charset="-122"/>
                <a:cs typeface="Arial" pitchFamily="34" charset="-120"/>
              </a:rPr>
              <a:t>two categories reach 18.5% at a tenth of a percent of the spices market; pilot data replaces every estimate at each gate.</a:t>
            </a:r>
            <a:endParaRPr lang="en-US" sz="1250" dirty="0"/>
          </a:p>
        </p:txBody>
      </p:sp>
      <p:sp>
        <p:nvSpPr>
          <p:cNvPr id="75" name="Text 68"/>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1, 5; team category model (top-down build, replicated to the decimal); team Excel model (bottom-up velocities). Net realisation 75.4% of MRP (Exh. 2-3). FY24 market = FY21 x (1 + CAGR)^3.</a:t>
            </a:r>
            <a:endParaRPr lang="en-US" sz="730" dirty="0"/>
          </a:p>
        </p:txBody>
      </p:sp>
      <p:sp>
        <p:nvSpPr>
          <p:cNvPr id="76" name="Text 69"/>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11. Unit Economics, P&amp;L and the Rs 75 Cr</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Regular packs earn 27-33% in GT; the base case turns EBITDA-positive in FY24 and recovers its cash in FY26E, spending Rs 52 Cr of the Rs 75 Cr</a:t>
            </a:r>
            <a:endParaRPr lang="en-US" sz="1250" dirty="0"/>
          </a:p>
        </p:txBody>
      </p:sp>
      <p:sp>
        <p:nvSpPr>
          <p:cNvPr id="6" name="Text 4"/>
          <p:cNvSpPr txBox="1"/>
          <p:nvPr/>
        </p:nvSpPr>
        <p:spPr>
          <a:xfrm>
            <a:off x="109728" y="749808"/>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Rs 99 ginger-lemon 10-sachet in GT: where the rupee goes</a:t>
            </a:r>
            <a:endParaRPr lang="en-US" sz="1100" dirty="0"/>
          </a:p>
        </p:txBody>
      </p:sp>
      <p:sp>
        <p:nvSpPr>
          <p:cNvPr id="7" name="Shape 5"/>
          <p:cNvSpPr/>
          <p:nvPr/>
        </p:nvSpPr>
        <p:spPr>
          <a:xfrm>
            <a:off x="228600" y="2871216"/>
            <a:ext cx="3657600" cy="0"/>
          </a:xfrm>
          <a:prstGeom prst="line">
            <a:avLst/>
          </a:prstGeom>
          <a:noFill/>
          <a:ln w="9525">
            <a:solidFill>
              <a:srgbClr val="53565A"/>
            </a:solidFill>
            <a:prstDash val="solid"/>
          </a:ln>
        </p:spPr>
      </p:sp>
      <p:sp>
        <p:nvSpPr>
          <p:cNvPr id="8" name="Shape 6"/>
          <p:cNvSpPr/>
          <p:nvPr/>
        </p:nvSpPr>
        <p:spPr>
          <a:xfrm>
            <a:off x="274320" y="1259860"/>
            <a:ext cx="548640" cy="1611356"/>
          </a:xfrm>
          <a:prstGeom prst="rect">
            <a:avLst/>
          </a:prstGeom>
          <a:solidFill>
            <a:srgbClr val="53565A"/>
          </a:solidFill>
          <a:ln w="12700">
            <a:solidFill>
              <a:srgbClr val="53565A"/>
            </a:solidFill>
            <a:prstDash val="solid"/>
          </a:ln>
        </p:spPr>
      </p:sp>
      <p:sp>
        <p:nvSpPr>
          <p:cNvPr id="9" name="Text 7"/>
          <p:cNvSpPr txBox="1"/>
          <p:nvPr/>
        </p:nvSpPr>
        <p:spPr>
          <a:xfrm>
            <a:off x="182880" y="1076980"/>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99</a:t>
            </a:r>
            <a:endParaRPr lang="en-US" sz="700" dirty="0"/>
          </a:p>
        </p:txBody>
      </p:sp>
      <p:sp>
        <p:nvSpPr>
          <p:cNvPr id="10" name="Text 8"/>
          <p:cNvSpPr txBox="1"/>
          <p:nvPr/>
        </p:nvSpPr>
        <p:spPr>
          <a:xfrm>
            <a:off x="219456"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MRP</a:t>
            </a:r>
            <a:endParaRPr lang="en-US" sz="630" dirty="0"/>
          </a:p>
        </p:txBody>
      </p:sp>
      <p:sp>
        <p:nvSpPr>
          <p:cNvPr id="11" name="Shape 9"/>
          <p:cNvSpPr/>
          <p:nvPr/>
        </p:nvSpPr>
        <p:spPr>
          <a:xfrm>
            <a:off x="886968" y="1259860"/>
            <a:ext cx="548640" cy="402839"/>
          </a:xfrm>
          <a:prstGeom prst="rect">
            <a:avLst/>
          </a:prstGeom>
          <a:solidFill>
            <a:srgbClr val="D0D0CE"/>
          </a:solidFill>
          <a:ln w="12700">
            <a:solidFill>
              <a:srgbClr val="D0D0CE"/>
            </a:solidFill>
            <a:prstDash val="solid"/>
          </a:ln>
        </p:spPr>
      </p:sp>
      <p:sp>
        <p:nvSpPr>
          <p:cNvPr id="12" name="Text 10"/>
          <p:cNvSpPr txBox="1"/>
          <p:nvPr/>
        </p:nvSpPr>
        <p:spPr>
          <a:xfrm>
            <a:off x="795528" y="1076980"/>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-24.75</a:t>
            </a:r>
            <a:endParaRPr lang="en-US" sz="700" dirty="0"/>
          </a:p>
        </p:txBody>
      </p:sp>
      <p:sp>
        <p:nvSpPr>
          <p:cNvPr id="13" name="Text 11"/>
          <p:cNvSpPr txBox="1"/>
          <p:nvPr/>
        </p:nvSpPr>
        <p:spPr>
          <a:xfrm>
            <a:off x="832104"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Retailer +</a:t>
            </a:r>
            <a:endParaRPr lang="en-US" sz="630" dirty="0"/>
          </a:p>
          <a:p>
            <a:pPr algn="ctr" indent="0" marL="0">
              <a:buNone/>
            </a:pPr>
            <a:r>
              <a:rPr lang="en-US" sz="630" dirty="0">
                <a:solidFill>
                  <a:srgbClr val="000000"/>
                </a:solidFill>
                <a:latin typeface="Arial" pitchFamily="34" charset="0"/>
                <a:ea typeface="Arial" pitchFamily="34" charset="-122"/>
                <a:cs typeface="Arial" pitchFamily="34" charset="-120"/>
              </a:rPr>
              <a:t>distributor</a:t>
            </a:r>
            <a:endParaRPr lang="en-US" sz="630" dirty="0"/>
          </a:p>
        </p:txBody>
      </p:sp>
      <p:sp>
        <p:nvSpPr>
          <p:cNvPr id="14" name="Shape 12"/>
          <p:cNvSpPr/>
          <p:nvPr/>
        </p:nvSpPr>
        <p:spPr>
          <a:xfrm>
            <a:off x="1499616" y="1662699"/>
            <a:ext cx="548640" cy="1208517"/>
          </a:xfrm>
          <a:prstGeom prst="rect">
            <a:avLst/>
          </a:prstGeom>
          <a:solidFill>
            <a:srgbClr val="046A38"/>
          </a:solidFill>
          <a:ln w="12700">
            <a:solidFill>
              <a:srgbClr val="046A38"/>
            </a:solidFill>
            <a:prstDash val="solid"/>
          </a:ln>
        </p:spPr>
      </p:sp>
      <p:sp>
        <p:nvSpPr>
          <p:cNvPr id="15" name="Text 13"/>
          <p:cNvSpPr txBox="1"/>
          <p:nvPr/>
        </p:nvSpPr>
        <p:spPr>
          <a:xfrm>
            <a:off x="1408176" y="1479819"/>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74.25</a:t>
            </a:r>
            <a:endParaRPr lang="en-US" sz="700" dirty="0"/>
          </a:p>
        </p:txBody>
      </p:sp>
      <p:sp>
        <p:nvSpPr>
          <p:cNvPr id="16" name="Text 14"/>
          <p:cNvSpPr txBox="1"/>
          <p:nvPr/>
        </p:nvSpPr>
        <p:spPr>
          <a:xfrm>
            <a:off x="1444752"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Net realisation</a:t>
            </a:r>
            <a:endParaRPr lang="en-US" sz="630" dirty="0"/>
          </a:p>
        </p:txBody>
      </p:sp>
      <p:sp>
        <p:nvSpPr>
          <p:cNvPr id="17" name="Shape 15"/>
          <p:cNvSpPr/>
          <p:nvPr/>
        </p:nvSpPr>
        <p:spPr>
          <a:xfrm>
            <a:off x="2112264" y="1662699"/>
            <a:ext cx="548640" cy="716158"/>
          </a:xfrm>
          <a:prstGeom prst="rect">
            <a:avLst/>
          </a:prstGeom>
          <a:solidFill>
            <a:srgbClr val="D0D0CE"/>
          </a:solidFill>
          <a:ln w="12700">
            <a:solidFill>
              <a:srgbClr val="D0D0CE"/>
            </a:solidFill>
            <a:prstDash val="solid"/>
          </a:ln>
        </p:spPr>
      </p:sp>
      <p:sp>
        <p:nvSpPr>
          <p:cNvPr id="18" name="Text 16"/>
          <p:cNvSpPr txBox="1"/>
          <p:nvPr/>
        </p:nvSpPr>
        <p:spPr>
          <a:xfrm>
            <a:off x="2020824" y="1479819"/>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-44</a:t>
            </a:r>
            <a:endParaRPr lang="en-US" sz="700" dirty="0"/>
          </a:p>
        </p:txBody>
      </p:sp>
      <p:sp>
        <p:nvSpPr>
          <p:cNvPr id="19" name="Text 17"/>
          <p:cNvSpPr txBox="1"/>
          <p:nvPr/>
        </p:nvSpPr>
        <p:spPr>
          <a:xfrm>
            <a:off x="2057400"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COGS</a:t>
            </a:r>
            <a:endParaRPr lang="en-US" sz="630" dirty="0"/>
          </a:p>
        </p:txBody>
      </p:sp>
      <p:sp>
        <p:nvSpPr>
          <p:cNvPr id="20" name="Shape 18"/>
          <p:cNvSpPr/>
          <p:nvPr/>
        </p:nvSpPr>
        <p:spPr>
          <a:xfrm>
            <a:off x="2724912" y="2378857"/>
            <a:ext cx="548640" cy="94728"/>
          </a:xfrm>
          <a:prstGeom prst="rect">
            <a:avLst/>
          </a:prstGeom>
          <a:solidFill>
            <a:srgbClr val="D0D0CE"/>
          </a:solidFill>
          <a:ln w="12700">
            <a:solidFill>
              <a:srgbClr val="D0D0CE"/>
            </a:solidFill>
            <a:prstDash val="solid"/>
          </a:ln>
        </p:spPr>
      </p:sp>
      <p:sp>
        <p:nvSpPr>
          <p:cNvPr id="21" name="Text 19"/>
          <p:cNvSpPr txBox="1"/>
          <p:nvPr/>
        </p:nvSpPr>
        <p:spPr>
          <a:xfrm>
            <a:off x="2633472" y="2195977"/>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-5.82</a:t>
            </a:r>
            <a:endParaRPr lang="en-US" sz="700" dirty="0"/>
          </a:p>
        </p:txBody>
      </p:sp>
      <p:sp>
        <p:nvSpPr>
          <p:cNvPr id="22" name="Text 20"/>
          <p:cNvSpPr txBox="1"/>
          <p:nvPr/>
        </p:nvSpPr>
        <p:spPr>
          <a:xfrm>
            <a:off x="2670048"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Trade, freight</a:t>
            </a:r>
            <a:endParaRPr lang="en-US" sz="630" dirty="0"/>
          </a:p>
        </p:txBody>
      </p:sp>
      <p:sp>
        <p:nvSpPr>
          <p:cNvPr id="23" name="Shape 21"/>
          <p:cNvSpPr/>
          <p:nvPr/>
        </p:nvSpPr>
        <p:spPr>
          <a:xfrm>
            <a:off x="3337560" y="2473586"/>
            <a:ext cx="548640" cy="397630"/>
          </a:xfrm>
          <a:prstGeom prst="rect">
            <a:avLst/>
          </a:prstGeom>
          <a:solidFill>
            <a:srgbClr val="86BC25"/>
          </a:solidFill>
          <a:ln w="12700">
            <a:solidFill>
              <a:srgbClr val="86BC25"/>
            </a:solidFill>
            <a:prstDash val="solid"/>
          </a:ln>
        </p:spPr>
      </p:sp>
      <p:sp>
        <p:nvSpPr>
          <p:cNvPr id="24" name="Text 22"/>
          <p:cNvSpPr txBox="1"/>
          <p:nvPr/>
        </p:nvSpPr>
        <p:spPr>
          <a:xfrm>
            <a:off x="3246120" y="2290706"/>
            <a:ext cx="731520" cy="164592"/>
          </a:xfrm>
          <a:prstGeom prst="rect">
            <a:avLst/>
          </a:prstGeom>
          <a:noFill/>
          <a:ln/>
        </p:spPr>
        <p:txBody>
          <a:bodyPr wrap="square" lIns="0" tIns="0" rIns="0" bIns="0" rtlCol="0" anchor="ctr"/>
          <a:lstStyle/>
          <a:p>
            <a:pPr algn="ctr" indent="0" marL="0">
              <a:buNone/>
            </a:pPr>
            <a:r>
              <a:rPr lang="en-US" sz="700" b="1" dirty="0">
                <a:solidFill>
                  <a:srgbClr val="000000"/>
                </a:solidFill>
                <a:latin typeface="Arial" pitchFamily="34" charset="0"/>
                <a:ea typeface="Arial" pitchFamily="34" charset="-122"/>
                <a:cs typeface="Arial" pitchFamily="34" charset="-120"/>
              </a:rPr>
              <a:t>24.43</a:t>
            </a:r>
            <a:endParaRPr lang="en-US" sz="700" dirty="0"/>
          </a:p>
        </p:txBody>
      </p:sp>
      <p:sp>
        <p:nvSpPr>
          <p:cNvPr id="25" name="Text 23"/>
          <p:cNvSpPr txBox="1"/>
          <p:nvPr/>
        </p:nvSpPr>
        <p:spPr>
          <a:xfrm>
            <a:off x="3282696" y="2898648"/>
            <a:ext cx="658368" cy="292608"/>
          </a:xfrm>
          <a:prstGeom prst="rect">
            <a:avLst/>
          </a:prstGeom>
          <a:noFill/>
          <a:ln/>
        </p:spPr>
        <p:txBody>
          <a:bodyPr wrap="square" lIns="0" tIns="0" rIns="0" bIns="0" rtlCol="0" anchor="t"/>
          <a:lstStyle/>
          <a:p>
            <a:pPr algn="ctr" indent="0" marL="0">
              <a:buNone/>
            </a:pPr>
            <a:r>
              <a:rPr lang="en-US" sz="630" dirty="0">
                <a:solidFill>
                  <a:srgbClr val="000000"/>
                </a:solidFill>
                <a:latin typeface="Arial" pitchFamily="34" charset="0"/>
                <a:ea typeface="Arial" pitchFamily="34" charset="-122"/>
                <a:cs typeface="Arial" pitchFamily="34" charset="-120"/>
              </a:rPr>
              <a:t>Contribution</a:t>
            </a:r>
            <a:endParaRPr lang="en-US" sz="630" dirty="0"/>
          </a:p>
        </p:txBody>
      </p:sp>
      <p:sp>
        <p:nvSpPr>
          <p:cNvPr id="26" name="Text 24"/>
          <p:cNvSpPr txBox="1"/>
          <p:nvPr/>
        </p:nvSpPr>
        <p:spPr>
          <a:xfrm>
            <a:off x="109728" y="3200400"/>
            <a:ext cx="3931920" cy="274320"/>
          </a:xfrm>
          <a:prstGeom prst="rect">
            <a:avLst/>
          </a:prstGeom>
          <a:noFill/>
          <a:ln/>
        </p:spPr>
        <p:txBody>
          <a:bodyPr wrap="square" lIns="0" tIns="0" rIns="0" bIns="0" rtlCol="0" anchor="ctr"/>
          <a:lstStyle/>
          <a:p>
            <a:pPr indent="0" marL="0">
              <a:buNone/>
            </a:pPr>
            <a:r>
              <a:rPr lang="en-US" sz="650" i="1" dirty="0">
                <a:solidFill>
                  <a:srgbClr val="53565A"/>
                </a:solidFill>
                <a:latin typeface="Arial" pitchFamily="34" charset="0"/>
                <a:ea typeface="Arial" pitchFamily="34" charset="-122"/>
                <a:cs typeface="Arial" pitchFamily="34" charset="-120"/>
              </a:rPr>
              <a:t>Rs per pack. Contribution 32.9% of net realisation; trade spend and freight are the balance in the team Excel.</a:t>
            </a:r>
            <a:endParaRPr lang="en-US" sz="650" dirty="0"/>
          </a:p>
        </p:txBody>
      </p:sp>
      <p:sp>
        <p:nvSpPr>
          <p:cNvPr id="27" name="Text 25"/>
          <p:cNvSpPr txBox="1"/>
          <p:nvPr/>
        </p:nvSpPr>
        <p:spPr>
          <a:xfrm>
            <a:off x="109728" y="3493008"/>
            <a:ext cx="39319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Pack-level unit economics, general trade (Rs)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09728" y="3749040"/>
          <a:ext cx="3931920" cy="914400"/>
        </p:xfrm>
        <a:graphic>
          <a:graphicData uri="http://schemas.openxmlformats.org/drawingml/2006/table">
            <a:tbl>
              <a:tblPr/>
              <a:tblGrid>
                <a:gridCol w="1463040"/>
                <a:gridCol w="502920"/>
                <a:gridCol w="640080"/>
                <a:gridCol w="685800"/>
                <a:gridCol w="640080"/>
              </a:tblGrid>
              <a:tr h="274320">
                <a:tc>
                  <a:txBody>
                    <a:bodyPr/>
                    <a:lstStyle/>
                    <a:p>
                      <a:pPr indent="0" marL="0">
                        <a:buNone/>
                      </a:pPr>
                      <a:r>
                        <a:rPr lang="en-US" sz="800" b="1" dirty="0">
                          <a:solidFill>
                            <a:srgbClr val="FFFFFF"/>
                          </a:solidFill>
                          <a:latin typeface="Arial" pitchFamily="34" charset="0"/>
                          <a:ea typeface="Arial" pitchFamily="34" charset="-122"/>
                          <a:cs typeface="Arial" pitchFamily="34" charset="-120"/>
                        </a:rPr>
                        <a:t>Pack</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MRP</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Net real.</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COGS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Contrib.</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Ginger-lemon 10-sachet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99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74.25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32.9%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Badam-elaichi 150g</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99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74.25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45.5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30.9%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Sabzi masala 50g</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36.75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28.2%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Garam masala 50g</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36.75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26.8%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dirty="0">
                          <a:solidFill>
                            <a:srgbClr val="000000"/>
                          </a:solidFill>
                          <a:latin typeface="Arial" pitchFamily="34" charset="0"/>
                          <a:ea typeface="Arial" pitchFamily="34" charset="-122"/>
                          <a:cs typeface="Arial" pitchFamily="34" charset="-120"/>
                        </a:rPr>
                        <a:t>Rs 10 trial packs (4)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7.50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4.35-5.35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ED8B00"/>
                          </a:solidFill>
                          <a:latin typeface="Arial" pitchFamily="34" charset="0"/>
                          <a:ea typeface="Arial" pitchFamily="34" charset="-122"/>
                          <a:cs typeface="Arial" pitchFamily="34" charset="-120"/>
                        </a:rPr>
                        <a:t>9-22%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29" name="Text 26"/>
          <p:cNvSpPr txBox="1"/>
          <p:nvPr/>
        </p:nvSpPr>
        <p:spPr>
          <a:xfrm>
            <a:off x="109728" y="5440680"/>
            <a:ext cx="3931920" cy="411480"/>
          </a:xfrm>
          <a:prstGeom prst="rect">
            <a:avLst/>
          </a:prstGeom>
          <a:noFill/>
          <a:ln/>
        </p:spPr>
        <p:txBody>
          <a:bodyPr wrap="square" lIns="0" tIns="0" rIns="0" bIns="0" rtlCol="0" anchor="ctr"/>
          <a:lstStyle/>
          <a:p>
            <a:pPr indent="0" marL="0">
              <a:buNone/>
            </a:pPr>
            <a:r>
              <a:rPr lang="en-US" sz="700" i="1" dirty="0">
                <a:solidFill>
                  <a:srgbClr val="53565A"/>
                </a:solidFill>
                <a:latin typeface="Arial" pitchFamily="34" charset="0"/>
                <a:ea typeface="Arial" pitchFamily="34" charset="-122"/>
                <a:cs typeface="Arial" pitchFamily="34" charset="-120"/>
              </a:rPr>
              <a:t>Category contribution after channel mix: premixes 25.6%, spices 19.9% (Exh. 2 flagship: 27.3%).</a:t>
            </a:r>
            <a:endParaRPr lang="en-US" sz="700" dirty="0"/>
          </a:p>
        </p:txBody>
      </p:sp>
      <p:sp>
        <p:nvSpPr>
          <p:cNvPr id="30" name="Text 27"/>
          <p:cNvSpPr txBox="1"/>
          <p:nvPr/>
        </p:nvSpPr>
        <p:spPr>
          <a:xfrm>
            <a:off x="4206240" y="749808"/>
            <a:ext cx="40690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Incremental P&amp;L and cash, base case (Rs Cr)</a:t>
            </a:r>
            <a:endParaRPr lang="en-US" sz="11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206240" y="1005840"/>
          <a:ext cx="4069080" cy="914400"/>
        </p:xfrm>
        <a:graphic>
          <a:graphicData uri="http://schemas.openxmlformats.org/drawingml/2006/table">
            <a:tbl>
              <a:tblPr/>
              <a:tblGrid>
                <a:gridCol w="1463040"/>
                <a:gridCol w="521208"/>
                <a:gridCol w="521208"/>
                <a:gridCol w="521208"/>
                <a:gridCol w="521208"/>
                <a:gridCol w="521208"/>
              </a:tblGrid>
              <a:tr h="246888">
                <a:tc>
                  <a:txBody>
                    <a:bodyPr/>
                    <a:lstStyle/>
                    <a:p>
                      <a:pPr indent="0" marL="0">
                        <a:buNone/>
                      </a:pP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FY22</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FY25E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FY26E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New-category sales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10.6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64.5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108.5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125.9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140.8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Contribution</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27.1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30.3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Programme A&amp;P, R&amp;D-QA, selling</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-12.0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-18.0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-17.0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-10.6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-11.4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b="1" dirty="0">
                          <a:solidFill>
                            <a:srgbClr val="000000"/>
                          </a:solidFill>
                          <a:latin typeface="Arial" pitchFamily="34" charset="0"/>
                          <a:ea typeface="Arial" pitchFamily="34" charset="-122"/>
                          <a:cs typeface="Arial" pitchFamily="34" charset="-120"/>
                        </a:rPr>
                        <a:t>Incremental EBITDA</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-9.5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-4.0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6.4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16.5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046A38"/>
                          </a:solidFill>
                          <a:latin typeface="Arial" pitchFamily="34" charset="0"/>
                          <a:ea typeface="Arial" pitchFamily="34" charset="-122"/>
                          <a:cs typeface="Arial" pitchFamily="34" charset="-120"/>
                        </a:rPr>
                        <a:t>18.9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Change in working capital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-0.7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-3.5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-2.8</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Capex</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-2.0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-2.0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dirty="0">
                          <a:solidFill>
                            <a:srgbClr val="000000"/>
                          </a:solidFill>
                          <a:latin typeface="Arial" pitchFamily="34" charset="0"/>
                          <a:ea typeface="Arial" pitchFamily="34" charset="-122"/>
                          <a:cs typeface="Arial" pitchFamily="34" charset="-120"/>
                        </a:rPr>
                        <a:t>Free cash flow</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-11.2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C0392B"/>
                          </a:solidFill>
                          <a:latin typeface="Arial" pitchFamily="34" charset="0"/>
                          <a:ea typeface="Arial" pitchFamily="34" charset="-122"/>
                          <a:cs typeface="Arial" pitchFamily="34" charset="-120"/>
                        </a:rPr>
                        <a:t>-9.4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14.4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16.9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80" b="1" dirty="0">
                          <a:solidFill>
                            <a:srgbClr val="000000"/>
                          </a:solidFill>
                          <a:latin typeface="Arial" pitchFamily="34" charset="0"/>
                          <a:ea typeface="Arial" pitchFamily="34" charset="-122"/>
                          <a:cs typeface="Arial" pitchFamily="34" charset="-120"/>
                        </a:rPr>
                        <a:t>Cumulative pre-tax FCF</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-11.2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-20.6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-19.1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C0392B"/>
                          </a:solidFill>
                          <a:latin typeface="Arial" pitchFamily="34" charset="0"/>
                          <a:ea typeface="Arial" pitchFamily="34" charset="-122"/>
                          <a:cs typeface="Arial" pitchFamily="34" charset="-120"/>
                        </a:rPr>
                        <a:t>-4.6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12.3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bl>
          </a:graphicData>
        </a:graphic>
      </p:graphicFrame>
      <p:sp>
        <p:nvSpPr>
          <p:cNvPr id="32" name="Text 28"/>
          <p:cNvSpPr txBox="1"/>
          <p:nvPr/>
        </p:nvSpPr>
        <p:spPr>
          <a:xfrm>
            <a:off x="4206240" y="3291840"/>
            <a:ext cx="40690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Cumulative FCF by scenario (Rs Cr)</a:t>
            </a:r>
            <a:endParaRPr lang="en-US" sz="1100" dirty="0"/>
          </a:p>
        </p:txBody>
      </p:sp>
      <p:graphicFrame>
        <p:nvGraphicFramePr>
          <p:cNvPr id="33" name="Chart 0" descr=""/>
          <p:cNvGraphicFramePr/>
          <p:nvPr/>
        </p:nvGraphicFramePr>
        <p:xfrm>
          <a:off x="4206240" y="3520440"/>
          <a:ext cx="4069080" cy="2377440"/>
        </p:xfrm>
        <a:graphic xmlns:a="http://schemas.openxmlformats.org/drawingml/2006/main">
          <a:graphicData uri="http://schemas.openxmlformats.org/drawingml/2006/chart">
            <c:chart xmlns:c="http://schemas.openxmlformats.org/drawingml/2006/chart" r:id="rId1"/>
          </a:graphicData>
        </a:graphic>
      </p:graphicFrame>
      <p:sp>
        <p:nvSpPr>
          <p:cNvPr id="34" name="Text 29"/>
          <p:cNvSpPr txBox="1"/>
          <p:nvPr/>
        </p:nvSpPr>
        <p:spPr>
          <a:xfrm>
            <a:off x="7818120" y="3566160"/>
            <a:ext cx="411480" cy="182880"/>
          </a:xfrm>
          <a:prstGeom prst="rect">
            <a:avLst/>
          </a:prstGeom>
          <a:noFill/>
          <a:ln/>
        </p:spPr>
        <p:txBody>
          <a:bodyPr wrap="square" lIns="0" tIns="0" rIns="0" bIns="0" rtlCol="0" anchor="ctr"/>
          <a:lstStyle/>
          <a:p>
            <a:pPr indent="0" marL="0">
              <a:buNone/>
            </a:pPr>
            <a:r>
              <a:rPr lang="en-US" sz="750" b="1" dirty="0">
                <a:solidFill>
                  <a:srgbClr val="046A38"/>
                </a:solidFill>
                <a:latin typeface="Arial" pitchFamily="34" charset="0"/>
                <a:ea typeface="Arial" pitchFamily="34" charset="-122"/>
                <a:cs typeface="Arial" pitchFamily="34" charset="-120"/>
              </a:rPr>
              <a:t>+72</a:t>
            </a:r>
            <a:endParaRPr lang="en-US" sz="750" dirty="0"/>
          </a:p>
        </p:txBody>
      </p:sp>
      <p:sp>
        <p:nvSpPr>
          <p:cNvPr id="35" name="Text 30"/>
          <p:cNvSpPr txBox="1"/>
          <p:nvPr/>
        </p:nvSpPr>
        <p:spPr>
          <a:xfrm>
            <a:off x="7818120" y="4526280"/>
            <a:ext cx="411480" cy="182880"/>
          </a:xfrm>
          <a:prstGeom prst="rect">
            <a:avLst/>
          </a:prstGeom>
          <a:noFill/>
          <a:ln/>
        </p:spPr>
        <p:txBody>
          <a:bodyPr wrap="square" lIns="0" tIns="0" rIns="0" bIns="0" rtlCol="0" anchor="ctr"/>
          <a:lstStyle/>
          <a:p>
            <a:pPr indent="0" marL="0">
              <a:buNone/>
            </a:pPr>
            <a:r>
              <a:rPr lang="en-US" sz="750" b="1" dirty="0">
                <a:solidFill>
                  <a:srgbClr val="26890D"/>
                </a:solidFill>
                <a:latin typeface="Arial" pitchFamily="34" charset="0"/>
                <a:ea typeface="Arial" pitchFamily="34" charset="-122"/>
                <a:cs typeface="Arial" pitchFamily="34" charset="-120"/>
              </a:rPr>
              <a:t>+12</a:t>
            </a:r>
            <a:endParaRPr lang="en-US" sz="750" dirty="0"/>
          </a:p>
        </p:txBody>
      </p:sp>
      <p:sp>
        <p:nvSpPr>
          <p:cNvPr id="36" name="Text 31"/>
          <p:cNvSpPr txBox="1"/>
          <p:nvPr/>
        </p:nvSpPr>
        <p:spPr>
          <a:xfrm>
            <a:off x="7818120" y="5138928"/>
            <a:ext cx="411480" cy="182880"/>
          </a:xfrm>
          <a:prstGeom prst="rect">
            <a:avLst/>
          </a:prstGeom>
          <a:noFill/>
          <a:ln/>
        </p:spPr>
        <p:txBody>
          <a:bodyPr wrap="square" lIns="0" tIns="0" rIns="0" bIns="0" rtlCol="0" anchor="ctr"/>
          <a:lstStyle/>
          <a:p>
            <a:pPr indent="0" marL="0">
              <a:buNone/>
            </a:pPr>
            <a:r>
              <a:rPr lang="en-US" sz="750" b="1" dirty="0">
                <a:solidFill>
                  <a:srgbClr val="C0392B"/>
                </a:solidFill>
                <a:latin typeface="Arial" pitchFamily="34" charset="0"/>
                <a:ea typeface="Arial" pitchFamily="34" charset="-122"/>
                <a:cs typeface="Arial" pitchFamily="34" charset="-120"/>
              </a:rPr>
              <a:t>-31</a:t>
            </a:r>
            <a:endParaRPr lang="en-US" sz="750" dirty="0"/>
          </a:p>
        </p:txBody>
      </p:sp>
      <p:sp>
        <p:nvSpPr>
          <p:cNvPr id="37" name="Text 32"/>
          <p:cNvSpPr txBox="1"/>
          <p:nvPr/>
        </p:nvSpPr>
        <p:spPr>
          <a:xfrm>
            <a:off x="8439912" y="749808"/>
            <a:ext cx="3675888"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Rs 75 Cr: allocation and release</a:t>
            </a:r>
            <a:endParaRPr lang="en-US" sz="1100" dirty="0"/>
          </a:p>
        </p:txBody>
      </p:sp>
      <p:graphicFrame>
        <p:nvGraphicFramePr>
          <p:cNvPr id="38" name="Chart 1" descr=""/>
          <p:cNvGraphicFramePr/>
          <p:nvPr/>
        </p:nvGraphicFramePr>
        <p:xfrm>
          <a:off x="8439912" y="960120"/>
          <a:ext cx="1600200" cy="1600200"/>
        </p:xfrm>
        <a:graphic xmlns:a="http://schemas.openxmlformats.org/drawingml/2006/main">
          <a:graphicData uri="http://schemas.openxmlformats.org/drawingml/2006/chart">
            <c:chart xmlns:c="http://schemas.openxmlformats.org/drawingml/2006/chart" r:id="rId2"/>
          </a:graphicData>
        </a:graphic>
      </p:graphicFrame>
      <p:sp>
        <p:nvSpPr>
          <p:cNvPr id="39" name="Text 33"/>
          <p:cNvSpPr txBox="1"/>
          <p:nvPr/>
        </p:nvSpPr>
        <p:spPr>
          <a:xfrm>
            <a:off x="8942832" y="1536192"/>
            <a:ext cx="594360" cy="457200"/>
          </a:xfrm>
          <a:prstGeom prst="rect">
            <a:avLst/>
          </a:prstGeom>
          <a:noFill/>
          <a:ln/>
        </p:spPr>
        <p:txBody>
          <a:bodyPr wrap="square" lIns="0" tIns="0" rIns="0" bIns="0" rtlCol="0" anchor="ctr"/>
          <a:lstStyle/>
          <a:p>
            <a:pPr algn="ctr" indent="0" marL="0">
              <a:buNone/>
            </a:pPr>
            <a:r>
              <a:rPr lang="en-US" sz="1000" b="1" dirty="0">
                <a:solidFill>
                  <a:srgbClr val="000000"/>
                </a:solidFill>
                <a:latin typeface="Arial" pitchFamily="34" charset="0"/>
                <a:ea typeface="Arial" pitchFamily="34" charset="-122"/>
                <a:cs typeface="Arial" pitchFamily="34" charset="-120"/>
              </a:rPr>
              <a:t>Rs 75</a:t>
            </a:r>
            <a:endParaRPr lang="en-US" sz="1000" dirty="0"/>
          </a:p>
          <a:p>
            <a:pPr algn="ctr" indent="0" marL="0">
              <a:buNone/>
            </a:pPr>
            <a:r>
              <a:rPr lang="en-US" sz="700" dirty="0">
                <a:solidFill>
                  <a:srgbClr val="000000"/>
                </a:solidFill>
                <a:latin typeface="Arial" pitchFamily="34" charset="0"/>
                <a:ea typeface="Arial" pitchFamily="34" charset="-122"/>
                <a:cs typeface="Arial" pitchFamily="34" charset="-120"/>
              </a:rPr>
              <a:t>Cr</a:t>
            </a:r>
            <a:endParaRPr lang="en-US" sz="1000" dirty="0"/>
          </a:p>
        </p:txBody>
      </p:sp>
      <p:sp>
        <p:nvSpPr>
          <p:cNvPr id="40" name="Shape 34"/>
          <p:cNvSpPr/>
          <p:nvPr/>
        </p:nvSpPr>
        <p:spPr>
          <a:xfrm>
            <a:off x="10104120" y="1024128"/>
            <a:ext cx="128016" cy="128016"/>
          </a:xfrm>
          <a:prstGeom prst="rect">
            <a:avLst/>
          </a:prstGeom>
          <a:solidFill>
            <a:srgbClr val="046A38"/>
          </a:solidFill>
          <a:ln w="12700">
            <a:solidFill>
              <a:srgbClr val="046A38"/>
            </a:solidFill>
            <a:prstDash val="solid"/>
          </a:ln>
        </p:spPr>
      </p:sp>
      <p:sp>
        <p:nvSpPr>
          <p:cNvPr id="41" name="Text 35"/>
          <p:cNvSpPr txBox="1"/>
          <p:nvPr/>
        </p:nvSpPr>
        <p:spPr>
          <a:xfrm>
            <a:off x="10277856" y="969264"/>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35 Launch A&amp;P, sampling</a:t>
            </a:r>
            <a:endParaRPr lang="en-US" sz="690" dirty="0"/>
          </a:p>
        </p:txBody>
      </p:sp>
      <p:sp>
        <p:nvSpPr>
          <p:cNvPr id="42" name="Shape 36"/>
          <p:cNvSpPr/>
          <p:nvPr/>
        </p:nvSpPr>
        <p:spPr>
          <a:xfrm>
            <a:off x="10104120" y="1280160"/>
            <a:ext cx="128016" cy="128016"/>
          </a:xfrm>
          <a:prstGeom prst="rect">
            <a:avLst/>
          </a:prstGeom>
          <a:solidFill>
            <a:srgbClr val="26890D"/>
          </a:solidFill>
          <a:ln w="12700">
            <a:solidFill>
              <a:srgbClr val="26890D"/>
            </a:solidFill>
            <a:prstDash val="solid"/>
          </a:ln>
        </p:spPr>
      </p:sp>
      <p:sp>
        <p:nvSpPr>
          <p:cNvPr id="43" name="Text 37"/>
          <p:cNvSpPr txBox="1"/>
          <p:nvPr/>
        </p:nvSpPr>
        <p:spPr>
          <a:xfrm>
            <a:off x="10277856" y="1225296"/>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18 Working-capital envelope</a:t>
            </a:r>
            <a:endParaRPr lang="en-US" sz="690" dirty="0"/>
          </a:p>
        </p:txBody>
      </p:sp>
      <p:sp>
        <p:nvSpPr>
          <p:cNvPr id="44" name="Shape 38"/>
          <p:cNvSpPr/>
          <p:nvPr/>
        </p:nvSpPr>
        <p:spPr>
          <a:xfrm>
            <a:off x="10104120" y="1536192"/>
            <a:ext cx="128016" cy="128016"/>
          </a:xfrm>
          <a:prstGeom prst="rect">
            <a:avLst/>
          </a:prstGeom>
          <a:solidFill>
            <a:srgbClr val="86BC25"/>
          </a:solidFill>
          <a:ln w="12700">
            <a:solidFill>
              <a:srgbClr val="86BC25"/>
            </a:solidFill>
            <a:prstDash val="solid"/>
          </a:ln>
        </p:spPr>
      </p:sp>
      <p:sp>
        <p:nvSpPr>
          <p:cNvPr id="45" name="Text 39"/>
          <p:cNvSpPr txBox="1"/>
          <p:nvPr/>
        </p:nvSpPr>
        <p:spPr>
          <a:xfrm>
            <a:off x="10277856" y="1481328"/>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7 Development, testing, QA</a:t>
            </a:r>
            <a:endParaRPr lang="en-US" sz="690" dirty="0"/>
          </a:p>
        </p:txBody>
      </p:sp>
      <p:sp>
        <p:nvSpPr>
          <p:cNvPr id="46" name="Shape 40"/>
          <p:cNvSpPr/>
          <p:nvPr/>
        </p:nvSpPr>
        <p:spPr>
          <a:xfrm>
            <a:off x="10104120" y="1792224"/>
            <a:ext cx="128016" cy="128016"/>
          </a:xfrm>
          <a:prstGeom prst="rect">
            <a:avLst/>
          </a:prstGeom>
          <a:solidFill>
            <a:srgbClr val="0097A9"/>
          </a:solidFill>
          <a:ln w="12700">
            <a:solidFill>
              <a:srgbClr val="0097A9"/>
            </a:solidFill>
            <a:prstDash val="solid"/>
          </a:ln>
        </p:spPr>
      </p:sp>
      <p:sp>
        <p:nvSpPr>
          <p:cNvPr id="47" name="Text 41"/>
          <p:cNvSpPr txBox="1"/>
          <p:nvPr/>
        </p:nvSpPr>
        <p:spPr>
          <a:xfrm>
            <a:off x="10277856" y="1737360"/>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5 Field selling, training</a:t>
            </a:r>
            <a:endParaRPr lang="en-US" sz="690" dirty="0"/>
          </a:p>
        </p:txBody>
      </p:sp>
      <p:sp>
        <p:nvSpPr>
          <p:cNvPr id="48" name="Shape 42"/>
          <p:cNvSpPr/>
          <p:nvPr/>
        </p:nvSpPr>
        <p:spPr>
          <a:xfrm>
            <a:off x="10104120" y="2048256"/>
            <a:ext cx="128016" cy="128016"/>
          </a:xfrm>
          <a:prstGeom prst="rect">
            <a:avLst/>
          </a:prstGeom>
          <a:solidFill>
            <a:srgbClr val="53565A"/>
          </a:solidFill>
          <a:ln w="12700">
            <a:solidFill>
              <a:srgbClr val="53565A"/>
            </a:solidFill>
            <a:prstDash val="solid"/>
          </a:ln>
        </p:spPr>
      </p:sp>
      <p:sp>
        <p:nvSpPr>
          <p:cNvPr id="49" name="Text 43"/>
          <p:cNvSpPr txBox="1"/>
          <p:nvPr/>
        </p:nvSpPr>
        <p:spPr>
          <a:xfrm>
            <a:off x="10277856" y="1993392"/>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5 Small capex</a:t>
            </a:r>
            <a:endParaRPr lang="en-US" sz="690" dirty="0"/>
          </a:p>
        </p:txBody>
      </p:sp>
      <p:sp>
        <p:nvSpPr>
          <p:cNvPr id="50" name="Shape 44"/>
          <p:cNvSpPr/>
          <p:nvPr/>
        </p:nvSpPr>
        <p:spPr>
          <a:xfrm>
            <a:off x="10104120" y="2304288"/>
            <a:ext cx="128016" cy="128016"/>
          </a:xfrm>
          <a:prstGeom prst="rect">
            <a:avLst/>
          </a:prstGeom>
          <a:solidFill>
            <a:srgbClr val="D0D0CE"/>
          </a:solidFill>
          <a:ln w="12700">
            <a:solidFill>
              <a:srgbClr val="D0D0CE"/>
            </a:solidFill>
            <a:prstDash val="solid"/>
          </a:ln>
        </p:spPr>
      </p:sp>
      <p:sp>
        <p:nvSpPr>
          <p:cNvPr id="51" name="Text 45"/>
          <p:cNvSpPr txBox="1"/>
          <p:nvPr/>
        </p:nvSpPr>
        <p:spPr>
          <a:xfrm>
            <a:off x="10277856" y="2249424"/>
            <a:ext cx="1828800" cy="237744"/>
          </a:xfrm>
          <a:prstGeom prst="rect">
            <a:avLst/>
          </a:prstGeom>
          <a:noFill/>
          <a:ln/>
        </p:spPr>
        <p:txBody>
          <a:bodyPr wrap="square" lIns="0" tIns="0" rIns="0" bIns="0" rtlCol="0" anchor="ctr"/>
          <a:lstStyle/>
          <a:p>
            <a:pPr indent="0" marL="0">
              <a:buNone/>
            </a:pPr>
            <a:r>
              <a:rPr lang="en-US" sz="690" dirty="0">
                <a:solidFill>
                  <a:srgbClr val="000000"/>
                </a:solidFill>
                <a:latin typeface="Arial" pitchFamily="34" charset="0"/>
                <a:ea typeface="Arial" pitchFamily="34" charset="-122"/>
                <a:cs typeface="Arial" pitchFamily="34" charset="-120"/>
              </a:rPr>
              <a:t>5 Contingency (unspent)</a:t>
            </a:r>
            <a:endParaRPr lang="en-US" sz="690" dirty="0"/>
          </a:p>
        </p:txBody>
      </p:sp>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8439912" y="2651760"/>
          <a:ext cx="3675888" cy="914400"/>
        </p:xfrm>
        <a:graphic>
          <a:graphicData uri="http://schemas.openxmlformats.org/drawingml/2006/table">
            <a:tbl>
              <a:tblPr/>
              <a:tblGrid>
                <a:gridCol w="960120"/>
                <a:gridCol w="393192"/>
                <a:gridCol w="393192"/>
                <a:gridCol w="393192"/>
                <a:gridCol w="438912"/>
                <a:gridCol w="1097280"/>
              </a:tblGrid>
              <a:tr h="237744">
                <a:tc>
                  <a:txBody>
                    <a:bodyPr/>
                    <a:lstStyle/>
                    <a:p>
                      <a:pPr indent="0" marL="0">
                        <a:buNone/>
                      </a:pPr>
                      <a:r>
                        <a:rPr lang="en-US" sz="800" b="1" dirty="0">
                          <a:solidFill>
                            <a:srgbClr val="FFFFFF"/>
                          </a:solidFill>
                          <a:latin typeface="Arial" pitchFamily="34" charset="0"/>
                          <a:ea typeface="Arial" pitchFamily="34" charset="-122"/>
                          <a:cs typeface="Arial" pitchFamily="34" charset="-120"/>
                        </a:rPr>
                        <a:t>Use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FY22</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Treatment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Launch A&amp;P</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13</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35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Opex</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Working capital</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Reserve; base uses Rs 7 Cr</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Development, QA</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3</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Opex</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Field selling</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Opex</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Small capex</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Capex</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dirty="0">
                          <a:solidFill>
                            <a:srgbClr val="000000"/>
                          </a:solidFill>
                          <a:latin typeface="Arial" pitchFamily="34" charset="0"/>
                          <a:ea typeface="Arial" pitchFamily="34" charset="-122"/>
                          <a:cs typeface="Arial" pitchFamily="34" charset="-120"/>
                        </a:rPr>
                        <a:t>Contingency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Funds 3rd-category gate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37744">
                <a:tc>
                  <a:txBody>
                    <a:bodyPr/>
                    <a:lstStyle/>
                    <a:p>
                      <a:pPr indent="0" marL="0">
                        <a:buNone/>
                      </a:pPr>
                      <a:r>
                        <a:rPr lang="en-US" sz="700" b="1" dirty="0">
                          <a:solidFill>
                            <a:srgbClr val="000000"/>
                          </a:solidFill>
                          <a:latin typeface="Arial" pitchFamily="34" charset="0"/>
                          <a:ea typeface="Arial" pitchFamily="34" charset="-122"/>
                          <a:cs typeface="Arial" pitchFamily="34" charset="-120"/>
                        </a:rPr>
                        <a:t>Total</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29</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75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c>
                  <a:txBody>
                    <a:bodyPr/>
                    <a:lstStyle/>
                    <a:p>
                      <a:pPr indent="0" marL="0">
                        <a:buNone/>
                      </a:pP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53" name="Shape 46"/>
          <p:cNvSpPr/>
          <p:nvPr/>
        </p:nvSpPr>
        <p:spPr>
          <a:xfrm>
            <a:off x="8439912" y="4663440"/>
            <a:ext cx="3675888" cy="1234440"/>
          </a:xfrm>
          <a:prstGeom prst="rect">
            <a:avLst/>
          </a:prstGeom>
          <a:solidFill>
            <a:srgbClr val="E3F1D0"/>
          </a:solidFill>
          <a:ln w="12700">
            <a:solidFill>
              <a:srgbClr val="E3F1D0"/>
            </a:solidFill>
            <a:prstDash val="solid"/>
          </a:ln>
        </p:spPr>
      </p:sp>
      <p:sp>
        <p:nvSpPr>
          <p:cNvPr id="54" name="Text 47"/>
          <p:cNvSpPr txBox="1"/>
          <p:nvPr/>
        </p:nvSpPr>
        <p:spPr>
          <a:xfrm>
            <a:off x="8503920" y="4690872"/>
            <a:ext cx="3566160" cy="1188720"/>
          </a:xfrm>
          <a:prstGeom prst="rect">
            <a:avLst/>
          </a:prstGeom>
          <a:noFill/>
          <a:ln/>
        </p:spPr>
        <p:txBody>
          <a:bodyPr wrap="square" lIns="0" tIns="0" rIns="0" bIns="0" rtlCol="0" anchor="t"/>
          <a:lstStyle/>
          <a:p>
            <a:pPr indent="0" marL="0">
              <a:spcAft>
                <a:spcPts val="150"/>
              </a:spcAft>
              <a:buNone/>
            </a:pPr>
            <a:r>
              <a:rPr lang="en-US" sz="710" b="1" dirty="0">
                <a:solidFill>
                  <a:srgbClr val="000000"/>
                </a:solidFill>
                <a:latin typeface="Arial" pitchFamily="34" charset="0"/>
                <a:ea typeface="Arial" pitchFamily="34" charset="-122"/>
                <a:cs typeface="Arial" pitchFamily="34" charset="-120"/>
              </a:rPr>
              <a:t>Capex-light by design</a:t>
            </a:r>
            <a:endParaRPr lang="en-US" sz="710" dirty="0"/>
          </a:p>
          <a:p>
            <a:pPr marL="127000" indent="-127000">
              <a:spcAft>
                <a:spcPts val="150"/>
              </a:spcAft>
              <a:buSzPct val="100000"/>
              <a:buChar char="■"/>
            </a:pPr>
            <a:r>
              <a:rPr lang="en-US" sz="710" dirty="0">
                <a:solidFill>
                  <a:srgbClr val="000000"/>
                </a:solidFill>
                <a:latin typeface="Arial" pitchFamily="34" charset="0"/>
                <a:ea typeface="Arial" pitchFamily="34" charset="-122"/>
                <a:cs typeface="Arial" pitchFamily="34" charset="-120"/>
              </a:rPr>
              <a:t>Rs 5 Cr capex in Rs 75 Cr; premixes use idle Q3 lines</a:t>
            </a:r>
            <a:endParaRPr lang="en-US" sz="710" dirty="0"/>
          </a:p>
          <a:p>
            <a:pPr marL="127000" indent="-127000">
              <a:spcAft>
                <a:spcPts val="150"/>
              </a:spcAft>
              <a:buSzPct val="100000"/>
              <a:buChar char="■"/>
            </a:pPr>
            <a:r>
              <a:rPr lang="en-US" sz="710" dirty="0">
                <a:solidFill>
                  <a:srgbClr val="000000"/>
                </a:solidFill>
                <a:latin typeface="Arial" pitchFamily="34" charset="0"/>
                <a:ea typeface="Arial" pitchFamily="34" charset="-122"/>
                <a:cs typeface="Arial" pitchFamily="34" charset="-120"/>
              </a:rPr>
              <a:t>Only Rs 52 Cr is spent; WC and contingency are reserves</a:t>
            </a:r>
            <a:endParaRPr lang="en-US" sz="710" dirty="0"/>
          </a:p>
          <a:p>
            <a:pPr marL="127000" indent="-127000">
              <a:spcAft>
                <a:spcPts val="150"/>
              </a:spcAft>
              <a:buSzPct val="100000"/>
              <a:buChar char="■"/>
            </a:pPr>
            <a:r>
              <a:rPr lang="en-US" sz="710" dirty="0">
                <a:solidFill>
                  <a:srgbClr val="000000"/>
                </a:solidFill>
                <a:latin typeface="Arial" pitchFamily="34" charset="0"/>
                <a:ea typeface="Arial" pitchFamily="34" charset="-122"/>
                <a:cs typeface="Arial" pitchFamily="34" charset="-120"/>
              </a:rPr>
              <a:t>Base working capital 6.4% of sales: Rs 7.0 Cr in FY24</a:t>
            </a:r>
            <a:endParaRPr lang="en-US" sz="710" dirty="0"/>
          </a:p>
          <a:p>
            <a:pPr marL="127000" indent="-127000">
              <a:spcAft>
                <a:spcPts val="150"/>
              </a:spcAft>
              <a:buSzPct val="100000"/>
              <a:buChar char="■"/>
            </a:pPr>
            <a:r>
              <a:rPr lang="en-US" sz="710" dirty="0">
                <a:solidFill>
                  <a:srgbClr val="000000"/>
                </a:solidFill>
                <a:latin typeface="Arial" pitchFamily="34" charset="0"/>
                <a:ea typeface="Arial" pitchFamily="34" charset="-122"/>
                <a:cs typeface="Arial" pitchFamily="34" charset="-120"/>
              </a:rPr>
              <a:t>Downside loss capped at the spend released before a gate stops it</a:t>
            </a:r>
            <a:endParaRPr lang="en-US" sz="710" dirty="0"/>
          </a:p>
        </p:txBody>
      </p:sp>
      <p:sp>
        <p:nvSpPr>
          <p:cNvPr id="55" name="Shape 48"/>
          <p:cNvSpPr/>
          <p:nvPr/>
        </p:nvSpPr>
        <p:spPr>
          <a:xfrm>
            <a:off x="0" y="5961888"/>
            <a:ext cx="12191695" cy="530352"/>
          </a:xfrm>
          <a:prstGeom prst="rect">
            <a:avLst/>
          </a:prstGeom>
          <a:solidFill>
            <a:srgbClr val="86BC25"/>
          </a:solidFill>
          <a:ln w="12700">
            <a:solidFill>
              <a:srgbClr val="86BC25"/>
            </a:solidFill>
            <a:prstDash val="solid"/>
          </a:ln>
        </p:spPr>
      </p:sp>
      <p:sp>
        <p:nvSpPr>
          <p:cNvPr id="56" name="Text 49"/>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Capex-light and gated: </a:t>
            </a:r>
            <a:pPr algn="ctr" indent="0" marL="0">
              <a:buNone/>
            </a:pPr>
            <a:r>
              <a:rPr lang="en-US" sz="1250" dirty="0">
                <a:solidFill>
                  <a:srgbClr val="000000"/>
                </a:solidFill>
                <a:latin typeface="Arial" pitchFamily="34" charset="0"/>
                <a:ea typeface="Arial" pitchFamily="34" charset="-122"/>
                <a:cs typeface="Arial" pitchFamily="34" charset="-120"/>
              </a:rPr>
              <a:t>base case cash-positive in FY26E, stretch inside three years, downside capped by the gates.</a:t>
            </a:r>
            <a:endParaRPr lang="en-US" sz="1250" dirty="0"/>
          </a:p>
        </p:txBody>
      </p:sp>
      <p:sp>
        <p:nvSpPr>
          <p:cNvPr id="57" name="Text 50"/>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team Excel model (pack COGS, margins, budget, working capital 6.4% of sales); team category model (volumes, scenarios); Case Exhibits 2, 3. FY25E-26E: market CAGR at full ramp, sustaining A&amp;P 6% of sales + Rs 3 Cr, capex Rs 1 Cr. Pre-tax, excludes depreciation.</a:t>
            </a:r>
            <a:endParaRPr lang="en-US" sz="730" dirty="0"/>
          </a:p>
        </p:txBody>
      </p:sp>
      <p:sp>
        <p:nvSpPr>
          <p:cNvPr id="58" name="Text 51"/>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12. The Path to 30%, the Risks and Our Ask</a:t>
            </a:r>
            <a:endParaRPr lang="en-US" sz="1700" dirty="0"/>
          </a:p>
        </p:txBody>
      </p:sp>
      <p:sp>
        <p:nvSpPr>
          <p:cNvPr id="3" name="Shape 1"/>
          <p:cNvSpPr/>
          <p:nvPr/>
        </p:nvSpPr>
        <p:spPr>
          <a:xfrm>
            <a:off x="6949440" y="64008"/>
            <a:ext cx="1463040" cy="237744"/>
          </a:xfrm>
          <a:prstGeom prst="rect">
            <a:avLst/>
          </a:prstGeom>
          <a:solidFill>
            <a:srgbClr val="046A38"/>
          </a:solidFill>
          <a:ln w="12700">
            <a:solidFill>
              <a:srgbClr val="046A38"/>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FINAL ROUND</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18.5% is the commitment; 30% needs reach and spices share to beat plan and a third category to pass its gate, so we ask the Board to fund gates, not a forecast</a:t>
            </a:r>
            <a:endParaRPr lang="en-US" sz="1250" dirty="0"/>
          </a:p>
        </p:txBody>
      </p:sp>
      <p:sp>
        <p:nvSpPr>
          <p:cNvPr id="6" name="Text 4"/>
          <p:cNvSpPr txBox="1"/>
          <p:nvPr/>
        </p:nvSpPr>
        <p:spPr>
          <a:xfrm>
            <a:off x="109728" y="749808"/>
            <a:ext cx="40233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What has to be true: FY24 share by reach and spices share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09728" y="1005840"/>
          <a:ext cx="4023360" cy="914400"/>
        </p:xfrm>
        <a:graphic>
          <a:graphicData uri="http://schemas.openxmlformats.org/drawingml/2006/table">
            <a:tbl>
              <a:tblPr/>
              <a:tblGrid>
                <a:gridCol w="1097280"/>
                <a:gridCol w="731520"/>
                <a:gridCol w="731520"/>
                <a:gridCol w="731520"/>
                <a:gridCol w="731520"/>
              </a:tblGrid>
              <a:tr h="274320">
                <a:tc>
                  <a:txBody>
                    <a:bodyPr/>
                    <a:lstStyle/>
                    <a:p>
                      <a:pPr indent="0" marL="0">
                        <a:buNone/>
                      </a:pPr>
                      <a:r>
                        <a:rPr lang="en-US" sz="800" b="1" dirty="0">
                          <a:solidFill>
                            <a:srgbClr val="FFFFFF"/>
                          </a:solidFill>
                          <a:latin typeface="Arial" pitchFamily="34" charset="0"/>
                          <a:ea typeface="Arial" pitchFamily="34" charset="-122"/>
                          <a:cs typeface="Arial" pitchFamily="34" charset="-120"/>
                        </a:rPr>
                        <a:t>Spices share / reach</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13.1%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15.6%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17.9%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20.1%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3% (base)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15.4%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F2F2F2"/>
                    </a:solidFill>
                  </a:tcPr>
                </a:tc>
                <a:tc>
                  <a:txBody>
                    <a:bodyPr/>
                    <a:lstStyle/>
                    <a:p>
                      <a:pPr algn="ctr" indent="0" marL="0">
                        <a:buNone/>
                      </a:pPr>
                      <a:r>
                        <a:rPr lang="en-US" sz="780" b="1" dirty="0">
                          <a:solidFill>
                            <a:srgbClr val="000000"/>
                          </a:solidFill>
                          <a:latin typeface="Arial" pitchFamily="34" charset="0"/>
                          <a:ea typeface="Arial" pitchFamily="34" charset="-122"/>
                          <a:cs typeface="Arial" pitchFamily="34" charset="-120"/>
                        </a:rPr>
                        <a:t>18.5%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21.3%</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17.6%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21.1%</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24.4%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27.4%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9BD08A"/>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19.7%</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E3F1D0"/>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23.6%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27.2%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9BD08A"/>
                    </a:solidFill>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30.5%</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21.6%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CFE8C4"/>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26.0%</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9BD08A"/>
                    </a:solidFill>
                  </a:tcPr>
                </a:tc>
                <a:tc>
                  <a:txBody>
                    <a:bodyPr/>
                    <a:lstStyle/>
                    <a:p>
                      <a:pPr algn="ctr" indent="0" marL="0">
                        <a:buNone/>
                      </a:pPr>
                      <a:r>
                        <a:rPr lang="en-US" sz="780" dirty="0">
                          <a:solidFill>
                            <a:srgbClr val="000000"/>
                          </a:solidFill>
                          <a:latin typeface="Arial" pitchFamily="34" charset="0"/>
                          <a:ea typeface="Arial" pitchFamily="34" charset="-122"/>
                          <a:cs typeface="Arial" pitchFamily="34" charset="-120"/>
                        </a:rPr>
                        <a:t>29.9%</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9BD08A"/>
                    </a:solidFill>
                  </a:tcPr>
                </a:tc>
                <a:tc>
                  <a:txBody>
                    <a:bodyPr/>
                    <a:lstStyle/>
                    <a:p>
                      <a:pPr algn="ctr" indent="0" marL="0">
                        <a:buNone/>
                      </a:pPr>
                      <a:r>
                        <a:rPr lang="en-US" sz="780" b="1" dirty="0">
                          <a:solidFill>
                            <a:srgbClr val="FFFFFF"/>
                          </a:solidFill>
                          <a:latin typeface="Arial" pitchFamily="34" charset="0"/>
                          <a:ea typeface="Arial" pitchFamily="34" charset="-122"/>
                          <a:cs typeface="Arial" pitchFamily="34" charset="-120"/>
                        </a:rPr>
                        <a:t>33.4%</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46A38"/>
                    </a:solidFill>
                  </a:tcPr>
                </a:tc>
              </a:tr>
            </a:tbl>
          </a:graphicData>
        </a:graphic>
      </p:graphicFrame>
      <p:sp>
        <p:nvSpPr>
          <p:cNvPr id="8" name="Text 5"/>
          <p:cNvSpPr txBox="1"/>
          <p:nvPr/>
        </p:nvSpPr>
        <p:spPr>
          <a:xfrm>
            <a:off x="109728" y="2697480"/>
            <a:ext cx="4023360" cy="365760"/>
          </a:xfrm>
          <a:prstGeom prst="rect">
            <a:avLst/>
          </a:prstGeom>
          <a:noFill/>
          <a:ln/>
        </p:spPr>
        <p:txBody>
          <a:bodyPr wrap="square" lIns="0" tIns="0" rIns="0" bIns="0" rtlCol="0" anchor="ctr"/>
          <a:lstStyle/>
          <a:p>
            <a:pPr indent="0" marL="0">
              <a:buNone/>
            </a:pPr>
            <a:r>
              <a:rPr lang="en-US" sz="680" i="1" dirty="0">
                <a:solidFill>
                  <a:srgbClr val="53565A"/>
                </a:solidFill>
                <a:latin typeface="Arial" pitchFamily="34" charset="0"/>
                <a:ea typeface="Arial" pitchFamily="34" charset="-122"/>
                <a:cs typeface="Arial" pitchFamily="34" charset="-120"/>
              </a:rPr>
              <a:t>Premixes at base. Only 5% share at 12% reach (30.5%) and 6% at 12% (33.4%) clear 30%. One point of spices share = Rs 25.7 Cr in FY24.</a:t>
            </a:r>
            <a:endParaRPr lang="en-US" sz="680" dirty="0"/>
          </a:p>
        </p:txBody>
      </p:sp>
      <p:sp>
        <p:nvSpPr>
          <p:cNvPr id="9" name="Text 6"/>
          <p:cNvSpPr txBox="1"/>
          <p:nvPr/>
        </p:nvSpPr>
        <p:spPr>
          <a:xfrm>
            <a:off x="4297680" y="749808"/>
            <a:ext cx="40233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Bridge from base to 30% (FY24 new-product share)</a:t>
            </a:r>
            <a:endParaRPr lang="en-US" sz="1100" dirty="0"/>
          </a:p>
        </p:txBody>
      </p:sp>
      <p:sp>
        <p:nvSpPr>
          <p:cNvPr id="10" name="Text 7"/>
          <p:cNvSpPr txBox="1"/>
          <p:nvPr/>
        </p:nvSpPr>
        <p:spPr>
          <a:xfrm>
            <a:off x="4297680" y="1024128"/>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Downside</a:t>
            </a:r>
            <a:endParaRPr lang="en-US" sz="690" dirty="0"/>
          </a:p>
        </p:txBody>
      </p:sp>
      <p:sp>
        <p:nvSpPr>
          <p:cNvPr id="11" name="Shape 8"/>
          <p:cNvSpPr/>
          <p:nvPr/>
        </p:nvSpPr>
        <p:spPr>
          <a:xfrm>
            <a:off x="5833872" y="1060704"/>
            <a:ext cx="852535" cy="228600"/>
          </a:xfrm>
          <a:prstGeom prst="rect">
            <a:avLst/>
          </a:prstGeom>
          <a:solidFill>
            <a:srgbClr val="53565A"/>
          </a:solidFill>
          <a:ln w="12700">
            <a:solidFill>
              <a:srgbClr val="53565A"/>
            </a:solidFill>
            <a:prstDash val="solid"/>
          </a:ln>
        </p:spPr>
      </p:sp>
      <p:sp>
        <p:nvSpPr>
          <p:cNvPr id="12" name="Text 9"/>
          <p:cNvSpPr txBox="1"/>
          <p:nvPr/>
        </p:nvSpPr>
        <p:spPr>
          <a:xfrm>
            <a:off x="6722983" y="1024128"/>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11.7%</a:t>
            </a:r>
            <a:endParaRPr lang="en-US" sz="720" dirty="0"/>
          </a:p>
        </p:txBody>
      </p:sp>
      <p:sp>
        <p:nvSpPr>
          <p:cNvPr id="13" name="Text 10"/>
          <p:cNvSpPr txBox="1"/>
          <p:nvPr/>
        </p:nvSpPr>
        <p:spPr>
          <a:xfrm>
            <a:off x="4297680" y="1362456"/>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Base: spices + premixes</a:t>
            </a:r>
            <a:endParaRPr lang="en-US" sz="690" dirty="0"/>
          </a:p>
        </p:txBody>
      </p:sp>
      <p:sp>
        <p:nvSpPr>
          <p:cNvPr id="14" name="Shape 11"/>
          <p:cNvSpPr/>
          <p:nvPr/>
        </p:nvSpPr>
        <p:spPr>
          <a:xfrm>
            <a:off x="5833872" y="1399032"/>
            <a:ext cx="1348026" cy="228600"/>
          </a:xfrm>
          <a:prstGeom prst="rect">
            <a:avLst/>
          </a:prstGeom>
          <a:solidFill>
            <a:srgbClr val="53565A"/>
          </a:solidFill>
          <a:ln w="12700">
            <a:solidFill>
              <a:srgbClr val="53565A"/>
            </a:solidFill>
            <a:prstDash val="solid"/>
          </a:ln>
        </p:spPr>
      </p:sp>
      <p:sp>
        <p:nvSpPr>
          <p:cNvPr id="15" name="Text 12"/>
          <p:cNvSpPr txBox="1"/>
          <p:nvPr/>
        </p:nvSpPr>
        <p:spPr>
          <a:xfrm>
            <a:off x="7218474" y="1362456"/>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18.5%</a:t>
            </a:r>
            <a:endParaRPr lang="en-US" sz="720" dirty="0"/>
          </a:p>
        </p:txBody>
      </p:sp>
      <p:sp>
        <p:nvSpPr>
          <p:cNvPr id="16" name="Text 13"/>
          <p:cNvSpPr txBox="1"/>
          <p:nvPr/>
        </p:nvSpPr>
        <p:spPr>
          <a:xfrm>
            <a:off x="4297680" y="1700784"/>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 pickles (base)</a:t>
            </a:r>
            <a:endParaRPr lang="en-US" sz="690" dirty="0"/>
          </a:p>
        </p:txBody>
      </p:sp>
      <p:sp>
        <p:nvSpPr>
          <p:cNvPr id="17" name="Shape 14"/>
          <p:cNvSpPr/>
          <p:nvPr/>
        </p:nvSpPr>
        <p:spPr>
          <a:xfrm>
            <a:off x="5833872" y="1737360"/>
            <a:ext cx="1464612" cy="228600"/>
          </a:xfrm>
          <a:prstGeom prst="rect">
            <a:avLst/>
          </a:prstGeom>
          <a:solidFill>
            <a:srgbClr val="86BC25"/>
          </a:solidFill>
          <a:ln w="12700">
            <a:solidFill>
              <a:srgbClr val="86BC25"/>
            </a:solidFill>
            <a:prstDash val="solid"/>
          </a:ln>
        </p:spPr>
      </p:sp>
      <p:sp>
        <p:nvSpPr>
          <p:cNvPr id="18" name="Text 15"/>
          <p:cNvSpPr txBox="1"/>
          <p:nvPr/>
        </p:nvSpPr>
        <p:spPr>
          <a:xfrm>
            <a:off x="7335060" y="1700784"/>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20.1%</a:t>
            </a:r>
            <a:endParaRPr lang="en-US" sz="720" dirty="0"/>
          </a:p>
        </p:txBody>
      </p:sp>
      <p:sp>
        <p:nvSpPr>
          <p:cNvPr id="19" name="Text 16"/>
          <p:cNvSpPr txBox="1"/>
          <p:nvPr/>
        </p:nvSpPr>
        <p:spPr>
          <a:xfrm>
            <a:off x="4297680" y="2039112"/>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Stretch: reach 10%, share x1.5</a:t>
            </a:r>
            <a:endParaRPr lang="en-US" sz="690" dirty="0"/>
          </a:p>
        </p:txBody>
      </p:sp>
      <p:sp>
        <p:nvSpPr>
          <p:cNvPr id="20" name="Shape 17"/>
          <p:cNvSpPr/>
          <p:nvPr/>
        </p:nvSpPr>
        <p:spPr>
          <a:xfrm>
            <a:off x="5833872" y="2075688"/>
            <a:ext cx="2003822" cy="228600"/>
          </a:xfrm>
          <a:prstGeom prst="rect">
            <a:avLst/>
          </a:prstGeom>
          <a:solidFill>
            <a:srgbClr val="86BC25"/>
          </a:solidFill>
          <a:ln w="12700">
            <a:solidFill>
              <a:srgbClr val="86BC25"/>
            </a:solidFill>
            <a:prstDash val="solid"/>
          </a:ln>
        </p:spPr>
      </p:sp>
      <p:sp>
        <p:nvSpPr>
          <p:cNvPr id="21" name="Text 18"/>
          <p:cNvSpPr txBox="1"/>
          <p:nvPr/>
        </p:nvSpPr>
        <p:spPr>
          <a:xfrm>
            <a:off x="7874270" y="2039112"/>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27.5%</a:t>
            </a:r>
            <a:endParaRPr lang="en-US" sz="720" dirty="0"/>
          </a:p>
        </p:txBody>
      </p:sp>
      <p:sp>
        <p:nvSpPr>
          <p:cNvPr id="22" name="Text 19"/>
          <p:cNvSpPr txBox="1"/>
          <p:nvPr/>
        </p:nvSpPr>
        <p:spPr>
          <a:xfrm>
            <a:off x="4297680" y="2377440"/>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Stretch + pickles</a:t>
            </a:r>
            <a:endParaRPr lang="en-US" sz="690" dirty="0"/>
          </a:p>
        </p:txBody>
      </p:sp>
      <p:sp>
        <p:nvSpPr>
          <p:cNvPr id="23" name="Shape 20"/>
          <p:cNvSpPr/>
          <p:nvPr/>
        </p:nvSpPr>
        <p:spPr>
          <a:xfrm>
            <a:off x="5833872" y="2414016"/>
            <a:ext cx="2178701" cy="228600"/>
          </a:xfrm>
          <a:prstGeom prst="rect">
            <a:avLst/>
          </a:prstGeom>
          <a:solidFill>
            <a:srgbClr val="26890D"/>
          </a:solidFill>
          <a:ln w="12700">
            <a:solidFill>
              <a:srgbClr val="26890D"/>
            </a:solidFill>
            <a:prstDash val="solid"/>
          </a:ln>
        </p:spPr>
      </p:sp>
      <p:sp>
        <p:nvSpPr>
          <p:cNvPr id="24" name="Text 21"/>
          <p:cNvSpPr txBox="1"/>
          <p:nvPr/>
        </p:nvSpPr>
        <p:spPr>
          <a:xfrm>
            <a:off x="8049149" y="2377440"/>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29.9%</a:t>
            </a:r>
            <a:endParaRPr lang="en-US" sz="720" dirty="0"/>
          </a:p>
        </p:txBody>
      </p:sp>
      <p:sp>
        <p:nvSpPr>
          <p:cNvPr id="25" name="Text 22"/>
          <p:cNvSpPr txBox="1"/>
          <p:nvPr/>
        </p:nvSpPr>
        <p:spPr>
          <a:xfrm>
            <a:off x="4297680" y="2715768"/>
            <a:ext cx="1463040" cy="292608"/>
          </a:xfrm>
          <a:prstGeom prst="rect">
            <a:avLst/>
          </a:prstGeom>
          <a:noFill/>
          <a:ln/>
        </p:spPr>
        <p:txBody>
          <a:bodyPr wrap="square" lIns="0" tIns="0" rIns="0" bIns="0" rtlCol="0" anchor="ctr"/>
          <a:lstStyle/>
          <a:p>
            <a:pPr algn="r" indent="0" marL="0">
              <a:buNone/>
            </a:pPr>
            <a:r>
              <a:rPr lang="en-US" sz="690" dirty="0">
                <a:solidFill>
                  <a:srgbClr val="000000"/>
                </a:solidFill>
                <a:latin typeface="Arial" pitchFamily="34" charset="0"/>
                <a:ea typeface="Arial" pitchFamily="34" charset="-122"/>
                <a:cs typeface="Arial" pitchFamily="34" charset="-120"/>
              </a:rPr>
              <a:t>Stretch + RTC</a:t>
            </a:r>
            <a:endParaRPr lang="en-US" sz="690" dirty="0"/>
          </a:p>
        </p:txBody>
      </p:sp>
      <p:sp>
        <p:nvSpPr>
          <p:cNvPr id="26" name="Shape 23"/>
          <p:cNvSpPr/>
          <p:nvPr/>
        </p:nvSpPr>
        <p:spPr>
          <a:xfrm>
            <a:off x="5833872" y="2752344"/>
            <a:ext cx="2200561" cy="228600"/>
          </a:xfrm>
          <a:prstGeom prst="rect">
            <a:avLst/>
          </a:prstGeom>
          <a:solidFill>
            <a:srgbClr val="046A38"/>
          </a:solidFill>
          <a:ln w="12700">
            <a:solidFill>
              <a:srgbClr val="046A38"/>
            </a:solidFill>
            <a:prstDash val="solid"/>
          </a:ln>
        </p:spPr>
      </p:sp>
      <p:sp>
        <p:nvSpPr>
          <p:cNvPr id="27" name="Text 24"/>
          <p:cNvSpPr txBox="1"/>
          <p:nvPr/>
        </p:nvSpPr>
        <p:spPr>
          <a:xfrm>
            <a:off x="8071009" y="2715768"/>
            <a:ext cx="457200" cy="292608"/>
          </a:xfrm>
          <a:prstGeom prst="rect">
            <a:avLst/>
          </a:prstGeom>
          <a:noFill/>
          <a:ln/>
        </p:spPr>
        <p:txBody>
          <a:bodyPr wrap="square" lIns="0" tIns="0" rIns="0" bIns="0" rtlCol="0" anchor="ctr"/>
          <a:lstStyle/>
          <a:p>
            <a:pPr indent="0" marL="0">
              <a:buNone/>
            </a:pPr>
            <a:r>
              <a:rPr lang="en-US" sz="720" b="1" dirty="0">
                <a:solidFill>
                  <a:srgbClr val="000000"/>
                </a:solidFill>
                <a:latin typeface="Arial" pitchFamily="34" charset="0"/>
                <a:ea typeface="Arial" pitchFamily="34" charset="-122"/>
                <a:cs typeface="Arial" pitchFamily="34" charset="-120"/>
              </a:rPr>
              <a:t>30.2%</a:t>
            </a:r>
            <a:endParaRPr lang="en-US" sz="720" dirty="0"/>
          </a:p>
        </p:txBody>
      </p:sp>
      <p:sp>
        <p:nvSpPr>
          <p:cNvPr id="28" name="Shape 25"/>
          <p:cNvSpPr/>
          <p:nvPr/>
        </p:nvSpPr>
        <p:spPr>
          <a:xfrm>
            <a:off x="8019859" y="987552"/>
            <a:ext cx="0" cy="2057400"/>
          </a:xfrm>
          <a:prstGeom prst="line">
            <a:avLst/>
          </a:prstGeom>
          <a:noFill/>
          <a:ln w="12700">
            <a:solidFill>
              <a:srgbClr val="C0392B"/>
            </a:solidFill>
            <a:prstDash val="dash"/>
          </a:ln>
        </p:spPr>
      </p:sp>
      <p:sp>
        <p:nvSpPr>
          <p:cNvPr id="29" name="Text 26"/>
          <p:cNvSpPr txBox="1"/>
          <p:nvPr/>
        </p:nvSpPr>
        <p:spPr>
          <a:xfrm>
            <a:off x="7699819" y="3044952"/>
            <a:ext cx="640080" cy="146304"/>
          </a:xfrm>
          <a:prstGeom prst="rect">
            <a:avLst/>
          </a:prstGeom>
          <a:noFill/>
          <a:ln/>
        </p:spPr>
        <p:txBody>
          <a:bodyPr wrap="square" lIns="0" tIns="0" rIns="0" bIns="0" rtlCol="0" anchor="ctr"/>
          <a:lstStyle/>
          <a:p>
            <a:pPr algn="ctr" indent="0" marL="0">
              <a:buNone/>
            </a:pPr>
            <a:r>
              <a:rPr lang="en-US" sz="630" b="1" dirty="0">
                <a:solidFill>
                  <a:srgbClr val="C0392B"/>
                </a:solidFill>
                <a:latin typeface="Arial" pitchFamily="34" charset="0"/>
                <a:ea typeface="Arial" pitchFamily="34" charset="-122"/>
                <a:cs typeface="Arial" pitchFamily="34" charset="-120"/>
              </a:rPr>
              <a:t>30% target</a:t>
            </a:r>
            <a:endParaRPr lang="en-US" sz="630" dirty="0"/>
          </a:p>
        </p:txBody>
      </p:sp>
      <p:sp>
        <p:nvSpPr>
          <p:cNvPr id="30" name="Text 27"/>
          <p:cNvSpPr txBox="1"/>
          <p:nvPr/>
        </p:nvSpPr>
        <p:spPr>
          <a:xfrm>
            <a:off x="109728" y="3127248"/>
            <a:ext cx="82296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Levers and how we pull them</a:t>
            </a:r>
            <a:endParaRPr lang="en-US" sz="11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109728" y="3383280"/>
          <a:ext cx="8229600" cy="914400"/>
        </p:xfrm>
        <a:graphic>
          <a:graphicData uri="http://schemas.openxmlformats.org/drawingml/2006/table">
            <a:tbl>
              <a:tblPr/>
              <a:tblGrid>
                <a:gridCol w="1051560"/>
                <a:gridCol w="1325880"/>
                <a:gridCol w="1097280"/>
                <a:gridCol w="3337560"/>
                <a:gridCol w="1417320"/>
              </a:tblGrid>
              <a:tr h="246888">
                <a:tc>
                  <a:txBody>
                    <a:bodyPr/>
                    <a:lstStyle/>
                    <a:p>
                      <a:pPr indent="0" marL="0">
                        <a:buNone/>
                      </a:pPr>
                      <a:r>
                        <a:rPr lang="en-US" sz="800" b="1" dirty="0">
                          <a:solidFill>
                            <a:srgbClr val="FFFFFF"/>
                          </a:solidFill>
                          <a:latin typeface="Arial" pitchFamily="34" charset="0"/>
                          <a:ea typeface="Arial" pitchFamily="34" charset="-122"/>
                          <a:cs typeface="Arial" pitchFamily="34" charset="-120"/>
                        </a:rPr>
                        <a:t>Lever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From - to</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 effect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How</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Gate / owner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46888">
                <a:tc>
                  <a:txBody>
                    <a:bodyPr/>
                    <a:lstStyle/>
                    <a:p>
                      <a:pPr indent="0" marL="0">
                        <a:buNone/>
                      </a:pPr>
                      <a:r>
                        <a:rPr lang="en-US" sz="710" b="1" dirty="0">
                          <a:solidFill>
                            <a:srgbClr val="000000"/>
                          </a:solidFill>
                          <a:latin typeface="Arial" pitchFamily="34" charset="0"/>
                          <a:ea typeface="Arial" pitchFamily="34" charset="-122"/>
                          <a:cs typeface="Arial" pitchFamily="34" charset="-120"/>
                        </a:rPr>
                        <a:t>Reach</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8% to 10-12%</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46A38"/>
                          </a:solidFill>
                          <a:latin typeface="Arial" pitchFamily="34" charset="0"/>
                          <a:ea typeface="Arial" pitchFamily="34" charset="-122"/>
                          <a:cs typeface="Arial" pitchFamily="34" charset="-120"/>
                        </a:rPr>
                        <a:t>+2.8 to +5.4 pts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Regions 3-4 distribution 22% / 13% to 30% / 22%; distributor-serviced Q-com</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Sales head; quarterly</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10" b="1" dirty="0">
                          <a:solidFill>
                            <a:srgbClr val="000000"/>
                          </a:solidFill>
                          <a:latin typeface="Arial" pitchFamily="34" charset="0"/>
                          <a:ea typeface="Arial" pitchFamily="34" charset="-122"/>
                          <a:cs typeface="Arial" pitchFamily="34" charset="-120"/>
                        </a:rPr>
                        <a:t>Spices share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3% to 4-5%</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46A38"/>
                          </a:solidFill>
                          <a:latin typeface="Arial" pitchFamily="34" charset="0"/>
                          <a:ea typeface="Arial" pitchFamily="34" charset="-122"/>
                          <a:cs typeface="Arial" pitchFamily="34" charset="-120"/>
                        </a:rPr>
                        <a:t>+2.6 to +5.1 pts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Rs 10 trial packs, in-pack sampling with summer concentrates, retailer schemes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Brand team; repeat &gt;= 25%</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10" b="1" dirty="0">
                          <a:solidFill>
                            <a:srgbClr val="000000"/>
                          </a:solidFill>
                          <a:latin typeface="Arial" pitchFamily="34" charset="0"/>
                          <a:ea typeface="Arial" pitchFamily="34" charset="-122"/>
                          <a:cs typeface="Arial" pitchFamily="34" charset="-120"/>
                        </a:rPr>
                        <a:t>Share multiplier</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1.0 to 1.5</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46A38"/>
                          </a:solidFill>
                          <a:latin typeface="Arial" pitchFamily="34" charset="0"/>
                          <a:ea typeface="Arial" pitchFamily="34" charset="-122"/>
                          <a:cs typeface="Arial" pitchFamily="34" charset="-120"/>
                        </a:rPr>
                        <a:t>+9.0 pts with reach</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Both categories outperform plan in test markets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Launch Council</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46888">
                <a:tc>
                  <a:txBody>
                    <a:bodyPr/>
                    <a:lstStyle/>
                    <a:p>
                      <a:pPr indent="0" marL="0">
                        <a:buNone/>
                      </a:pPr>
                      <a:r>
                        <a:rPr lang="en-US" sz="710" b="1" dirty="0">
                          <a:solidFill>
                            <a:srgbClr val="000000"/>
                          </a:solidFill>
                          <a:latin typeface="Arial" pitchFamily="34" charset="0"/>
                          <a:ea typeface="Arial" pitchFamily="34" charset="-122"/>
                          <a:cs typeface="Arial" pitchFamily="34" charset="-120"/>
                        </a:rPr>
                        <a:t>Third category</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None to RTC or pickles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10" b="1" dirty="0">
                          <a:solidFill>
                            <a:srgbClr val="046A38"/>
                          </a:solidFill>
                          <a:latin typeface="Arial" pitchFamily="34" charset="0"/>
                          <a:ea typeface="Arial" pitchFamily="34" charset="-122"/>
                          <a:cs typeface="Arial" pitchFamily="34" charset="-120"/>
                        </a:rPr>
                        <a:t>+1.6 to +2.7 pts</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Launch FY23 only if premixes and spices pass test market</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10" dirty="0">
                          <a:solidFill>
                            <a:srgbClr val="000000"/>
                          </a:solidFill>
                          <a:latin typeface="Arial" pitchFamily="34" charset="0"/>
                          <a:ea typeface="Arial" pitchFamily="34" charset="-122"/>
                          <a:cs typeface="Arial" pitchFamily="34" charset="-120"/>
                        </a:rPr>
                        <a:t>FY23 Board gate</a:t>
                      </a:r>
                      <a:endParaRPr lang="en-US" sz="71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32" name="Text 28"/>
          <p:cNvSpPr txBox="1"/>
          <p:nvPr/>
        </p:nvSpPr>
        <p:spPr>
          <a:xfrm>
            <a:off x="8503920" y="749808"/>
            <a:ext cx="36118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Risk map (team assessment)</a:t>
            </a:r>
            <a:endParaRPr lang="en-US" sz="1100" dirty="0"/>
          </a:p>
        </p:txBody>
      </p:sp>
      <p:sp>
        <p:nvSpPr>
          <p:cNvPr id="33" name="Shape 29"/>
          <p:cNvSpPr/>
          <p:nvPr/>
        </p:nvSpPr>
        <p:spPr>
          <a:xfrm>
            <a:off x="8915400" y="1005840"/>
            <a:ext cx="841248" cy="594360"/>
          </a:xfrm>
          <a:prstGeom prst="rect">
            <a:avLst/>
          </a:prstGeom>
          <a:solidFill>
            <a:srgbClr val="E0702B"/>
          </a:solidFill>
          <a:ln w="12700">
            <a:solidFill>
              <a:srgbClr val="FFFFFF"/>
            </a:solidFill>
            <a:prstDash val="solid"/>
          </a:ln>
        </p:spPr>
      </p:sp>
      <p:sp>
        <p:nvSpPr>
          <p:cNvPr id="34" name="Shape 30"/>
          <p:cNvSpPr/>
          <p:nvPr/>
        </p:nvSpPr>
        <p:spPr>
          <a:xfrm>
            <a:off x="9784080" y="1005840"/>
            <a:ext cx="841248" cy="594360"/>
          </a:xfrm>
          <a:prstGeom prst="rect">
            <a:avLst/>
          </a:prstGeom>
          <a:solidFill>
            <a:srgbClr val="C0392B"/>
          </a:solidFill>
          <a:ln w="12700">
            <a:solidFill>
              <a:srgbClr val="FFFFFF"/>
            </a:solidFill>
            <a:prstDash val="solid"/>
          </a:ln>
        </p:spPr>
      </p:sp>
      <p:sp>
        <p:nvSpPr>
          <p:cNvPr id="35" name="Shape 31"/>
          <p:cNvSpPr/>
          <p:nvPr/>
        </p:nvSpPr>
        <p:spPr>
          <a:xfrm>
            <a:off x="10652760" y="1005840"/>
            <a:ext cx="841248" cy="594360"/>
          </a:xfrm>
          <a:prstGeom prst="rect">
            <a:avLst/>
          </a:prstGeom>
          <a:solidFill>
            <a:srgbClr val="C0392B"/>
          </a:solidFill>
          <a:ln w="12700">
            <a:solidFill>
              <a:srgbClr val="FFFFFF"/>
            </a:solidFill>
            <a:prstDash val="solid"/>
          </a:ln>
        </p:spPr>
      </p:sp>
      <p:sp>
        <p:nvSpPr>
          <p:cNvPr id="36" name="Shape 32"/>
          <p:cNvSpPr/>
          <p:nvPr/>
        </p:nvSpPr>
        <p:spPr>
          <a:xfrm>
            <a:off x="8915400" y="1627632"/>
            <a:ext cx="841248" cy="594360"/>
          </a:xfrm>
          <a:prstGeom prst="rect">
            <a:avLst/>
          </a:prstGeom>
          <a:solidFill>
            <a:srgbClr val="ED8B00"/>
          </a:solidFill>
          <a:ln w="12700">
            <a:solidFill>
              <a:srgbClr val="FFFFFF"/>
            </a:solidFill>
            <a:prstDash val="solid"/>
          </a:ln>
        </p:spPr>
      </p:sp>
      <p:sp>
        <p:nvSpPr>
          <p:cNvPr id="37" name="Shape 33"/>
          <p:cNvSpPr/>
          <p:nvPr/>
        </p:nvSpPr>
        <p:spPr>
          <a:xfrm>
            <a:off x="9784080" y="1627632"/>
            <a:ext cx="841248" cy="594360"/>
          </a:xfrm>
          <a:prstGeom prst="rect">
            <a:avLst/>
          </a:prstGeom>
          <a:solidFill>
            <a:srgbClr val="E0702B"/>
          </a:solidFill>
          <a:ln w="12700">
            <a:solidFill>
              <a:srgbClr val="FFFFFF"/>
            </a:solidFill>
            <a:prstDash val="solid"/>
          </a:ln>
        </p:spPr>
      </p:sp>
      <p:sp>
        <p:nvSpPr>
          <p:cNvPr id="38" name="Shape 34"/>
          <p:cNvSpPr/>
          <p:nvPr/>
        </p:nvSpPr>
        <p:spPr>
          <a:xfrm>
            <a:off x="10652760" y="1627632"/>
            <a:ext cx="841248" cy="594360"/>
          </a:xfrm>
          <a:prstGeom prst="rect">
            <a:avLst/>
          </a:prstGeom>
          <a:solidFill>
            <a:srgbClr val="C0392B"/>
          </a:solidFill>
          <a:ln w="12700">
            <a:solidFill>
              <a:srgbClr val="FFFFFF"/>
            </a:solidFill>
            <a:prstDash val="solid"/>
          </a:ln>
        </p:spPr>
      </p:sp>
      <p:sp>
        <p:nvSpPr>
          <p:cNvPr id="39" name="Shape 35"/>
          <p:cNvSpPr/>
          <p:nvPr/>
        </p:nvSpPr>
        <p:spPr>
          <a:xfrm>
            <a:off x="8915400" y="2249424"/>
            <a:ext cx="841248" cy="594360"/>
          </a:xfrm>
          <a:prstGeom prst="rect">
            <a:avLst/>
          </a:prstGeom>
          <a:solidFill>
            <a:srgbClr val="E3F1D0"/>
          </a:solidFill>
          <a:ln w="12700">
            <a:solidFill>
              <a:srgbClr val="FFFFFF"/>
            </a:solidFill>
            <a:prstDash val="solid"/>
          </a:ln>
        </p:spPr>
      </p:sp>
      <p:sp>
        <p:nvSpPr>
          <p:cNvPr id="40" name="Shape 36"/>
          <p:cNvSpPr/>
          <p:nvPr/>
        </p:nvSpPr>
        <p:spPr>
          <a:xfrm>
            <a:off x="9784080" y="2249424"/>
            <a:ext cx="841248" cy="594360"/>
          </a:xfrm>
          <a:prstGeom prst="rect">
            <a:avLst/>
          </a:prstGeom>
          <a:solidFill>
            <a:srgbClr val="ED8B00"/>
          </a:solidFill>
          <a:ln w="12700">
            <a:solidFill>
              <a:srgbClr val="FFFFFF"/>
            </a:solidFill>
            <a:prstDash val="solid"/>
          </a:ln>
        </p:spPr>
      </p:sp>
      <p:sp>
        <p:nvSpPr>
          <p:cNvPr id="41" name="Shape 37"/>
          <p:cNvSpPr/>
          <p:nvPr/>
        </p:nvSpPr>
        <p:spPr>
          <a:xfrm>
            <a:off x="10652760" y="2249424"/>
            <a:ext cx="841248" cy="594360"/>
          </a:xfrm>
          <a:prstGeom prst="rect">
            <a:avLst/>
          </a:prstGeom>
          <a:solidFill>
            <a:srgbClr val="E0702B"/>
          </a:solidFill>
          <a:ln w="12700">
            <a:solidFill>
              <a:srgbClr val="FFFFFF"/>
            </a:solidFill>
            <a:prstDash val="solid"/>
          </a:ln>
        </p:spPr>
      </p:sp>
      <p:sp>
        <p:nvSpPr>
          <p:cNvPr id="42" name="Text 38"/>
          <p:cNvSpPr txBox="1"/>
          <p:nvPr/>
        </p:nvSpPr>
        <p:spPr>
          <a:xfrm>
            <a:off x="8503920" y="1005840"/>
            <a:ext cx="384048" cy="621792"/>
          </a:xfrm>
          <a:prstGeom prst="rect">
            <a:avLst/>
          </a:prstGeom>
          <a:noFill/>
          <a:ln/>
        </p:spPr>
        <p:txBody>
          <a:bodyPr wrap="square" lIns="0" tIns="0" rIns="0" bIns="0" rtlCol="0" anchor="ctr"/>
          <a:lstStyle/>
          <a:p>
            <a:pPr algn="r" indent="0" marL="0">
              <a:buNone/>
            </a:pPr>
            <a:r>
              <a:rPr lang="en-US" sz="650" b="1" dirty="0">
                <a:solidFill>
                  <a:srgbClr val="53565A"/>
                </a:solidFill>
                <a:latin typeface="Arial" pitchFamily="34" charset="0"/>
                <a:ea typeface="Arial" pitchFamily="34" charset="-122"/>
                <a:cs typeface="Arial" pitchFamily="34" charset="-120"/>
              </a:rPr>
              <a:t>High</a:t>
            </a:r>
            <a:endParaRPr lang="en-US" sz="650" dirty="0"/>
          </a:p>
        </p:txBody>
      </p:sp>
      <p:sp>
        <p:nvSpPr>
          <p:cNvPr id="43" name="Text 39"/>
          <p:cNvSpPr txBox="1"/>
          <p:nvPr/>
        </p:nvSpPr>
        <p:spPr>
          <a:xfrm>
            <a:off x="8503920" y="1627632"/>
            <a:ext cx="384048" cy="621792"/>
          </a:xfrm>
          <a:prstGeom prst="rect">
            <a:avLst/>
          </a:prstGeom>
          <a:noFill/>
          <a:ln/>
        </p:spPr>
        <p:txBody>
          <a:bodyPr wrap="square" lIns="0" tIns="0" rIns="0" bIns="0" rtlCol="0" anchor="ctr"/>
          <a:lstStyle/>
          <a:p>
            <a:pPr algn="r" indent="0" marL="0">
              <a:buNone/>
            </a:pPr>
            <a:r>
              <a:rPr lang="en-US" sz="650" b="1" dirty="0">
                <a:solidFill>
                  <a:srgbClr val="53565A"/>
                </a:solidFill>
                <a:latin typeface="Arial" pitchFamily="34" charset="0"/>
                <a:ea typeface="Arial" pitchFamily="34" charset="-122"/>
                <a:cs typeface="Arial" pitchFamily="34" charset="-120"/>
              </a:rPr>
              <a:t>Med</a:t>
            </a:r>
            <a:endParaRPr lang="en-US" sz="650" dirty="0"/>
          </a:p>
        </p:txBody>
      </p:sp>
      <p:sp>
        <p:nvSpPr>
          <p:cNvPr id="44" name="Text 40"/>
          <p:cNvSpPr txBox="1"/>
          <p:nvPr/>
        </p:nvSpPr>
        <p:spPr>
          <a:xfrm>
            <a:off x="8503920" y="2249424"/>
            <a:ext cx="384048" cy="621792"/>
          </a:xfrm>
          <a:prstGeom prst="rect">
            <a:avLst/>
          </a:prstGeom>
          <a:noFill/>
          <a:ln/>
        </p:spPr>
        <p:txBody>
          <a:bodyPr wrap="square" lIns="0" tIns="0" rIns="0" bIns="0" rtlCol="0" anchor="ctr"/>
          <a:lstStyle/>
          <a:p>
            <a:pPr algn="r" indent="0" marL="0">
              <a:buNone/>
            </a:pPr>
            <a:r>
              <a:rPr lang="en-US" sz="650" b="1" dirty="0">
                <a:solidFill>
                  <a:srgbClr val="53565A"/>
                </a:solidFill>
                <a:latin typeface="Arial" pitchFamily="34" charset="0"/>
                <a:ea typeface="Arial" pitchFamily="34" charset="-122"/>
                <a:cs typeface="Arial" pitchFamily="34" charset="-120"/>
              </a:rPr>
              <a:t>Low</a:t>
            </a:r>
            <a:endParaRPr lang="en-US" sz="650" dirty="0"/>
          </a:p>
        </p:txBody>
      </p:sp>
      <p:sp>
        <p:nvSpPr>
          <p:cNvPr id="45" name="Text 41"/>
          <p:cNvSpPr txBox="1"/>
          <p:nvPr/>
        </p:nvSpPr>
        <p:spPr>
          <a:xfrm>
            <a:off x="8915400" y="2871216"/>
            <a:ext cx="868680" cy="146304"/>
          </a:xfrm>
          <a:prstGeom prst="rect">
            <a:avLst/>
          </a:prstGeom>
          <a:noFill/>
          <a:ln/>
        </p:spPr>
        <p:txBody>
          <a:bodyPr wrap="square" lIns="0" tIns="0" rIns="0" bIns="0" rtlCol="0" anchor="ctr"/>
          <a:lstStyle/>
          <a:p>
            <a:pPr algn="ctr" indent="0" marL="0">
              <a:buNone/>
            </a:pPr>
            <a:r>
              <a:rPr lang="en-US" sz="650" b="1" dirty="0">
                <a:solidFill>
                  <a:srgbClr val="53565A"/>
                </a:solidFill>
                <a:latin typeface="Arial" pitchFamily="34" charset="0"/>
                <a:ea typeface="Arial" pitchFamily="34" charset="-122"/>
                <a:cs typeface="Arial" pitchFamily="34" charset="-120"/>
              </a:rPr>
              <a:t>Low</a:t>
            </a:r>
            <a:endParaRPr lang="en-US" sz="650" dirty="0"/>
          </a:p>
        </p:txBody>
      </p:sp>
      <p:sp>
        <p:nvSpPr>
          <p:cNvPr id="46" name="Text 42"/>
          <p:cNvSpPr txBox="1"/>
          <p:nvPr/>
        </p:nvSpPr>
        <p:spPr>
          <a:xfrm>
            <a:off x="9784080" y="2871216"/>
            <a:ext cx="868680" cy="146304"/>
          </a:xfrm>
          <a:prstGeom prst="rect">
            <a:avLst/>
          </a:prstGeom>
          <a:noFill/>
          <a:ln/>
        </p:spPr>
        <p:txBody>
          <a:bodyPr wrap="square" lIns="0" tIns="0" rIns="0" bIns="0" rtlCol="0" anchor="ctr"/>
          <a:lstStyle/>
          <a:p>
            <a:pPr algn="ctr" indent="0" marL="0">
              <a:buNone/>
            </a:pPr>
            <a:r>
              <a:rPr lang="en-US" sz="650" b="1" dirty="0">
                <a:solidFill>
                  <a:srgbClr val="53565A"/>
                </a:solidFill>
                <a:latin typeface="Arial" pitchFamily="34" charset="0"/>
                <a:ea typeface="Arial" pitchFamily="34" charset="-122"/>
                <a:cs typeface="Arial" pitchFamily="34" charset="-120"/>
              </a:rPr>
              <a:t>Med</a:t>
            </a:r>
            <a:endParaRPr lang="en-US" sz="650" dirty="0"/>
          </a:p>
        </p:txBody>
      </p:sp>
      <p:sp>
        <p:nvSpPr>
          <p:cNvPr id="47" name="Text 43"/>
          <p:cNvSpPr txBox="1"/>
          <p:nvPr/>
        </p:nvSpPr>
        <p:spPr>
          <a:xfrm>
            <a:off x="10652760" y="2871216"/>
            <a:ext cx="868680" cy="146304"/>
          </a:xfrm>
          <a:prstGeom prst="rect">
            <a:avLst/>
          </a:prstGeom>
          <a:noFill/>
          <a:ln/>
        </p:spPr>
        <p:txBody>
          <a:bodyPr wrap="square" lIns="0" tIns="0" rIns="0" bIns="0" rtlCol="0" anchor="ctr"/>
          <a:lstStyle/>
          <a:p>
            <a:pPr algn="ctr" indent="0" marL="0">
              <a:buNone/>
            </a:pPr>
            <a:r>
              <a:rPr lang="en-US" sz="650" b="1" dirty="0">
                <a:solidFill>
                  <a:srgbClr val="53565A"/>
                </a:solidFill>
                <a:latin typeface="Arial" pitchFamily="34" charset="0"/>
                <a:ea typeface="Arial" pitchFamily="34" charset="-122"/>
                <a:cs typeface="Arial" pitchFamily="34" charset="-120"/>
              </a:rPr>
              <a:t>High</a:t>
            </a:r>
            <a:endParaRPr lang="en-US" sz="650" dirty="0"/>
          </a:p>
        </p:txBody>
      </p:sp>
      <p:sp>
        <p:nvSpPr>
          <p:cNvPr id="48" name="Text 44"/>
          <p:cNvSpPr txBox="1"/>
          <p:nvPr/>
        </p:nvSpPr>
        <p:spPr>
          <a:xfrm>
            <a:off x="8503920" y="3017520"/>
            <a:ext cx="3611880" cy="146304"/>
          </a:xfrm>
          <a:prstGeom prst="rect">
            <a:avLst/>
          </a:prstGeom>
          <a:noFill/>
          <a:ln/>
        </p:spPr>
        <p:txBody>
          <a:bodyPr wrap="square" lIns="0" tIns="0" rIns="0" bIns="0" rtlCol="0" anchor="ctr"/>
          <a:lstStyle/>
          <a:p>
            <a:pPr algn="ctr" indent="0" marL="0">
              <a:buNone/>
            </a:pPr>
            <a:r>
              <a:rPr lang="en-US" sz="630" i="1" dirty="0">
                <a:solidFill>
                  <a:srgbClr val="53565A"/>
                </a:solidFill>
                <a:latin typeface="Arial" pitchFamily="34" charset="0"/>
                <a:ea typeface="Arial" pitchFamily="34" charset="-122"/>
                <a:cs typeface="Arial" pitchFamily="34" charset="-120"/>
              </a:rPr>
              <a:t>Likelihood (rows) x impact on FY24 share (columns)</a:t>
            </a:r>
            <a:endParaRPr lang="en-US" sz="630" dirty="0"/>
          </a:p>
        </p:txBody>
      </p:sp>
      <p:sp>
        <p:nvSpPr>
          <p:cNvPr id="49" name="Shape 45"/>
          <p:cNvSpPr/>
          <p:nvPr/>
        </p:nvSpPr>
        <p:spPr>
          <a:xfrm>
            <a:off x="10789920" y="1097280"/>
            <a:ext cx="274320" cy="274320"/>
          </a:xfrm>
          <a:prstGeom prst="ellipse">
            <a:avLst/>
          </a:prstGeom>
          <a:solidFill>
            <a:srgbClr val="000000"/>
          </a:solidFill>
          <a:ln w="12700">
            <a:solidFill>
              <a:srgbClr val="000000"/>
            </a:solidFill>
            <a:prstDash val="solid"/>
          </a:ln>
        </p:spPr>
      </p:sp>
      <p:sp>
        <p:nvSpPr>
          <p:cNvPr id="50" name="Text 46"/>
          <p:cNvSpPr txBox="1"/>
          <p:nvPr/>
        </p:nvSpPr>
        <p:spPr>
          <a:xfrm>
            <a:off x="10789920" y="1097280"/>
            <a:ext cx="274320" cy="274320"/>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1</a:t>
            </a:r>
            <a:endParaRPr lang="en-US" sz="780" dirty="0"/>
          </a:p>
        </p:txBody>
      </p:sp>
      <p:sp>
        <p:nvSpPr>
          <p:cNvPr id="51" name="Shape 47"/>
          <p:cNvSpPr/>
          <p:nvPr/>
        </p:nvSpPr>
        <p:spPr>
          <a:xfrm>
            <a:off x="11155680" y="1901952"/>
            <a:ext cx="274320" cy="274320"/>
          </a:xfrm>
          <a:prstGeom prst="ellipse">
            <a:avLst/>
          </a:prstGeom>
          <a:solidFill>
            <a:srgbClr val="000000"/>
          </a:solidFill>
          <a:ln w="12700">
            <a:solidFill>
              <a:srgbClr val="000000"/>
            </a:solidFill>
            <a:prstDash val="solid"/>
          </a:ln>
        </p:spPr>
      </p:sp>
      <p:sp>
        <p:nvSpPr>
          <p:cNvPr id="52" name="Text 48"/>
          <p:cNvSpPr txBox="1"/>
          <p:nvPr/>
        </p:nvSpPr>
        <p:spPr>
          <a:xfrm>
            <a:off x="11155680" y="1901952"/>
            <a:ext cx="274320" cy="274320"/>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2</a:t>
            </a:r>
            <a:endParaRPr lang="en-US" sz="780" dirty="0"/>
          </a:p>
        </p:txBody>
      </p:sp>
      <p:sp>
        <p:nvSpPr>
          <p:cNvPr id="53" name="Shape 49"/>
          <p:cNvSpPr/>
          <p:nvPr/>
        </p:nvSpPr>
        <p:spPr>
          <a:xfrm>
            <a:off x="9966960" y="1764792"/>
            <a:ext cx="274320" cy="274320"/>
          </a:xfrm>
          <a:prstGeom prst="ellipse">
            <a:avLst/>
          </a:prstGeom>
          <a:solidFill>
            <a:srgbClr val="000000"/>
          </a:solidFill>
          <a:ln w="12700">
            <a:solidFill>
              <a:srgbClr val="000000"/>
            </a:solidFill>
            <a:prstDash val="solid"/>
          </a:ln>
        </p:spPr>
      </p:sp>
      <p:sp>
        <p:nvSpPr>
          <p:cNvPr id="54" name="Text 50"/>
          <p:cNvSpPr txBox="1"/>
          <p:nvPr/>
        </p:nvSpPr>
        <p:spPr>
          <a:xfrm>
            <a:off x="9966960" y="1764792"/>
            <a:ext cx="274320" cy="274320"/>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3</a:t>
            </a:r>
            <a:endParaRPr lang="en-US" sz="780" dirty="0"/>
          </a:p>
        </p:txBody>
      </p:sp>
      <p:sp>
        <p:nvSpPr>
          <p:cNvPr id="55" name="Shape 51"/>
          <p:cNvSpPr/>
          <p:nvPr/>
        </p:nvSpPr>
        <p:spPr>
          <a:xfrm>
            <a:off x="9281160" y="1810512"/>
            <a:ext cx="274320" cy="274320"/>
          </a:xfrm>
          <a:prstGeom prst="ellipse">
            <a:avLst/>
          </a:prstGeom>
          <a:solidFill>
            <a:srgbClr val="000000"/>
          </a:solidFill>
          <a:ln w="12700">
            <a:solidFill>
              <a:srgbClr val="000000"/>
            </a:solidFill>
            <a:prstDash val="solid"/>
          </a:ln>
        </p:spPr>
      </p:sp>
      <p:sp>
        <p:nvSpPr>
          <p:cNvPr id="56" name="Text 52"/>
          <p:cNvSpPr txBox="1"/>
          <p:nvPr/>
        </p:nvSpPr>
        <p:spPr>
          <a:xfrm>
            <a:off x="9281160" y="1810512"/>
            <a:ext cx="274320" cy="274320"/>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4</a:t>
            </a:r>
            <a:endParaRPr lang="en-US" sz="780" dirty="0"/>
          </a:p>
        </p:txBody>
      </p:sp>
      <p:sp>
        <p:nvSpPr>
          <p:cNvPr id="57" name="Shape 53"/>
          <p:cNvSpPr/>
          <p:nvPr/>
        </p:nvSpPr>
        <p:spPr>
          <a:xfrm>
            <a:off x="10835640" y="2432304"/>
            <a:ext cx="274320" cy="274320"/>
          </a:xfrm>
          <a:prstGeom prst="ellipse">
            <a:avLst/>
          </a:prstGeom>
          <a:solidFill>
            <a:srgbClr val="000000"/>
          </a:solidFill>
          <a:ln w="12700">
            <a:solidFill>
              <a:srgbClr val="000000"/>
            </a:solidFill>
            <a:prstDash val="solid"/>
          </a:ln>
        </p:spPr>
      </p:sp>
      <p:sp>
        <p:nvSpPr>
          <p:cNvPr id="58" name="Text 54"/>
          <p:cNvSpPr txBox="1"/>
          <p:nvPr/>
        </p:nvSpPr>
        <p:spPr>
          <a:xfrm>
            <a:off x="10835640" y="2432304"/>
            <a:ext cx="274320" cy="274320"/>
          </a:xfrm>
          <a:prstGeom prst="rect">
            <a:avLst/>
          </a:prstGeom>
          <a:noFill/>
          <a:ln/>
        </p:spPr>
        <p:txBody>
          <a:bodyPr wrap="square" lIns="0" tIns="0" rIns="0" bIns="0" rtlCol="0" anchor="ctr"/>
          <a:lstStyle/>
          <a:p>
            <a:pPr algn="ctr" indent="0" marL="0">
              <a:buNone/>
            </a:pPr>
            <a:r>
              <a:rPr lang="en-US" sz="780" b="1" dirty="0">
                <a:solidFill>
                  <a:srgbClr val="FFFFFF"/>
                </a:solidFill>
                <a:latin typeface="Arial" pitchFamily="34" charset="0"/>
                <a:ea typeface="Arial" pitchFamily="34" charset="-122"/>
                <a:cs typeface="Arial" pitchFamily="34" charset="-120"/>
              </a:rPr>
              <a:t>5</a:t>
            </a:r>
            <a:endParaRPr lang="en-US" sz="780" dirty="0"/>
          </a:p>
        </p:txBody>
      </p:sp>
      <p:sp>
        <p:nvSpPr>
          <p:cNvPr id="59" name="Shape 55"/>
          <p:cNvSpPr/>
          <p:nvPr/>
        </p:nvSpPr>
        <p:spPr>
          <a:xfrm>
            <a:off x="8503920" y="3328416"/>
            <a:ext cx="237744" cy="237744"/>
          </a:xfrm>
          <a:prstGeom prst="ellipse">
            <a:avLst/>
          </a:prstGeom>
          <a:solidFill>
            <a:srgbClr val="000000"/>
          </a:solidFill>
          <a:ln w="12700">
            <a:solidFill>
              <a:srgbClr val="000000"/>
            </a:solidFill>
            <a:prstDash val="solid"/>
          </a:ln>
        </p:spPr>
      </p:sp>
      <p:sp>
        <p:nvSpPr>
          <p:cNvPr id="60" name="Text 56"/>
          <p:cNvSpPr txBox="1"/>
          <p:nvPr/>
        </p:nvSpPr>
        <p:spPr>
          <a:xfrm>
            <a:off x="8503920" y="3328416"/>
            <a:ext cx="237744" cy="237744"/>
          </a:xfrm>
          <a:prstGeom prst="rect">
            <a:avLst/>
          </a:prstGeom>
          <a:noFill/>
          <a:ln/>
        </p:spPr>
        <p:txBody>
          <a:bodyPr wrap="square" lIns="0" tIns="0" rIns="0" bIns="0" rtlCol="0" anchor="ctr"/>
          <a:lstStyle/>
          <a:p>
            <a:pPr algn="ctr" indent="0" marL="0">
              <a:buNone/>
            </a:pPr>
            <a:r>
              <a:rPr lang="en-US" sz="676" b="1" dirty="0">
                <a:solidFill>
                  <a:srgbClr val="FFFFFF"/>
                </a:solidFill>
                <a:latin typeface="Arial" pitchFamily="34" charset="0"/>
                <a:ea typeface="Arial" pitchFamily="34" charset="-122"/>
                <a:cs typeface="Arial" pitchFamily="34" charset="-120"/>
              </a:rPr>
              <a:t>1</a:t>
            </a:r>
            <a:endParaRPr lang="en-US" sz="676" dirty="0"/>
          </a:p>
        </p:txBody>
      </p:sp>
      <p:sp>
        <p:nvSpPr>
          <p:cNvPr id="61" name="Text 57"/>
          <p:cNvSpPr txBox="1"/>
          <p:nvPr/>
        </p:nvSpPr>
        <p:spPr>
          <a:xfrm>
            <a:off x="8796528" y="3291840"/>
            <a:ext cx="3319272" cy="320040"/>
          </a:xfrm>
          <a:prstGeom prst="rect">
            <a:avLst/>
          </a:prstGeom>
          <a:noFill/>
          <a:ln/>
        </p:spPr>
        <p:txBody>
          <a:bodyPr wrap="square" lIns="0" tIns="0" rIns="0" bIns="0" rtlCol="0" anchor="ctr"/>
          <a:lstStyle/>
          <a:p>
            <a:pPr indent="0" marL="0">
              <a:buNone/>
            </a:pPr>
            <a:r>
              <a:rPr lang="en-US" sz="660" b="1" dirty="0">
                <a:solidFill>
                  <a:srgbClr val="000000"/>
                </a:solidFill>
                <a:latin typeface="Arial" pitchFamily="34" charset="0"/>
                <a:ea typeface="Arial" pitchFamily="34" charset="-122"/>
                <a:cs typeface="Arial" pitchFamily="34" charset="-120"/>
              </a:rPr>
              <a:t>Spices share stalls below 3%: </a:t>
            </a:r>
            <a:pPr indent="0" marL="0">
              <a:buNone/>
            </a:pPr>
            <a:r>
              <a:rPr lang="en-US" sz="660" dirty="0">
                <a:solidFill>
                  <a:srgbClr val="53565A"/>
                </a:solidFill>
                <a:latin typeface="Arial" pitchFamily="34" charset="0"/>
                <a:ea typeface="Arial" pitchFamily="34" charset="-122"/>
                <a:cs typeface="Arial" pitchFamily="34" charset="-120"/>
              </a:rPr>
              <a:t>Habit-led buying ("bas, aadat hai"); Rs 10 trial + sampling; kill at repeat &lt; 25%</a:t>
            </a:r>
            <a:endParaRPr lang="en-US" sz="660" dirty="0"/>
          </a:p>
        </p:txBody>
      </p:sp>
      <p:sp>
        <p:nvSpPr>
          <p:cNvPr id="62" name="Shape 58"/>
          <p:cNvSpPr/>
          <p:nvPr/>
        </p:nvSpPr>
        <p:spPr>
          <a:xfrm>
            <a:off x="8503920" y="3666744"/>
            <a:ext cx="237744" cy="237744"/>
          </a:xfrm>
          <a:prstGeom prst="ellipse">
            <a:avLst/>
          </a:prstGeom>
          <a:solidFill>
            <a:srgbClr val="000000"/>
          </a:solidFill>
          <a:ln w="12700">
            <a:solidFill>
              <a:srgbClr val="000000"/>
            </a:solidFill>
            <a:prstDash val="solid"/>
          </a:ln>
        </p:spPr>
      </p:sp>
      <p:sp>
        <p:nvSpPr>
          <p:cNvPr id="63" name="Text 59"/>
          <p:cNvSpPr txBox="1"/>
          <p:nvPr/>
        </p:nvSpPr>
        <p:spPr>
          <a:xfrm>
            <a:off x="8503920" y="3666744"/>
            <a:ext cx="237744" cy="237744"/>
          </a:xfrm>
          <a:prstGeom prst="rect">
            <a:avLst/>
          </a:prstGeom>
          <a:noFill/>
          <a:ln/>
        </p:spPr>
        <p:txBody>
          <a:bodyPr wrap="square" lIns="0" tIns="0" rIns="0" bIns="0" rtlCol="0" anchor="ctr"/>
          <a:lstStyle/>
          <a:p>
            <a:pPr algn="ctr" indent="0" marL="0">
              <a:buNone/>
            </a:pPr>
            <a:r>
              <a:rPr lang="en-US" sz="676" b="1" dirty="0">
                <a:solidFill>
                  <a:srgbClr val="FFFFFF"/>
                </a:solidFill>
                <a:latin typeface="Arial" pitchFamily="34" charset="0"/>
                <a:ea typeface="Arial" pitchFamily="34" charset="-122"/>
                <a:cs typeface="Arial" pitchFamily="34" charset="-120"/>
              </a:rPr>
              <a:t>2</a:t>
            </a:r>
            <a:endParaRPr lang="en-US" sz="676" dirty="0"/>
          </a:p>
        </p:txBody>
      </p:sp>
      <p:sp>
        <p:nvSpPr>
          <p:cNvPr id="64" name="Text 60"/>
          <p:cNvSpPr txBox="1"/>
          <p:nvPr/>
        </p:nvSpPr>
        <p:spPr>
          <a:xfrm>
            <a:off x="8796528" y="3630168"/>
            <a:ext cx="3319272" cy="320040"/>
          </a:xfrm>
          <a:prstGeom prst="rect">
            <a:avLst/>
          </a:prstGeom>
          <a:noFill/>
          <a:ln/>
        </p:spPr>
        <p:txBody>
          <a:bodyPr wrap="square" lIns="0" tIns="0" rIns="0" bIns="0" rtlCol="0" anchor="ctr"/>
          <a:lstStyle/>
          <a:p>
            <a:pPr indent="0" marL="0">
              <a:buNone/>
            </a:pPr>
            <a:r>
              <a:rPr lang="en-US" sz="660" b="1" dirty="0">
                <a:solidFill>
                  <a:srgbClr val="000000"/>
                </a:solidFill>
                <a:latin typeface="Arial" pitchFamily="34" charset="0"/>
                <a:ea typeface="Arial" pitchFamily="34" charset="-122"/>
                <a:cs typeface="Arial" pitchFamily="34" charset="-120"/>
              </a:rPr>
              <a:t>Premix winter slips: </a:t>
            </a:r>
            <a:pPr indent="0" marL="0">
              <a:buNone/>
            </a:pPr>
            <a:r>
              <a:rPr lang="en-US" sz="660" dirty="0">
                <a:solidFill>
                  <a:srgbClr val="53565A"/>
                </a:solidFill>
                <a:latin typeface="Arial" pitchFamily="34" charset="0"/>
                <a:ea typeface="Arial" pitchFamily="34" charset="-122"/>
                <a:cs typeface="Arial" pitchFamily="34" charset="-120"/>
              </a:rPr>
              <a:t>A missed October costs a season; spec and vendors locked by July</a:t>
            </a:r>
            <a:endParaRPr lang="en-US" sz="660" dirty="0"/>
          </a:p>
        </p:txBody>
      </p:sp>
      <p:sp>
        <p:nvSpPr>
          <p:cNvPr id="65" name="Shape 61"/>
          <p:cNvSpPr/>
          <p:nvPr/>
        </p:nvSpPr>
        <p:spPr>
          <a:xfrm>
            <a:off x="8503920" y="4005072"/>
            <a:ext cx="237744" cy="237744"/>
          </a:xfrm>
          <a:prstGeom prst="ellipse">
            <a:avLst/>
          </a:prstGeom>
          <a:solidFill>
            <a:srgbClr val="000000"/>
          </a:solidFill>
          <a:ln w="12700">
            <a:solidFill>
              <a:srgbClr val="000000"/>
            </a:solidFill>
            <a:prstDash val="solid"/>
          </a:ln>
        </p:spPr>
      </p:sp>
      <p:sp>
        <p:nvSpPr>
          <p:cNvPr id="66" name="Text 62"/>
          <p:cNvSpPr txBox="1"/>
          <p:nvPr/>
        </p:nvSpPr>
        <p:spPr>
          <a:xfrm>
            <a:off x="8503920" y="4005072"/>
            <a:ext cx="237744" cy="237744"/>
          </a:xfrm>
          <a:prstGeom prst="rect">
            <a:avLst/>
          </a:prstGeom>
          <a:noFill/>
          <a:ln/>
        </p:spPr>
        <p:txBody>
          <a:bodyPr wrap="square" lIns="0" tIns="0" rIns="0" bIns="0" rtlCol="0" anchor="ctr"/>
          <a:lstStyle/>
          <a:p>
            <a:pPr algn="ctr" indent="0" marL="0">
              <a:buNone/>
            </a:pPr>
            <a:r>
              <a:rPr lang="en-US" sz="676" b="1" dirty="0">
                <a:solidFill>
                  <a:srgbClr val="FFFFFF"/>
                </a:solidFill>
                <a:latin typeface="Arial" pitchFamily="34" charset="0"/>
                <a:ea typeface="Arial" pitchFamily="34" charset="-122"/>
                <a:cs typeface="Arial" pitchFamily="34" charset="-120"/>
              </a:rPr>
              <a:t>3</a:t>
            </a:r>
            <a:endParaRPr lang="en-US" sz="676" dirty="0"/>
          </a:p>
        </p:txBody>
      </p:sp>
      <p:sp>
        <p:nvSpPr>
          <p:cNvPr id="67" name="Text 63"/>
          <p:cNvSpPr txBox="1"/>
          <p:nvPr/>
        </p:nvSpPr>
        <p:spPr>
          <a:xfrm>
            <a:off x="8796528" y="3968496"/>
            <a:ext cx="3319272" cy="320040"/>
          </a:xfrm>
          <a:prstGeom prst="rect">
            <a:avLst/>
          </a:prstGeom>
          <a:noFill/>
          <a:ln/>
        </p:spPr>
        <p:txBody>
          <a:bodyPr wrap="square" lIns="0" tIns="0" rIns="0" bIns="0" rtlCol="0" anchor="ctr"/>
          <a:lstStyle/>
          <a:p>
            <a:pPr indent="0" marL="0">
              <a:buNone/>
            </a:pPr>
            <a:r>
              <a:rPr lang="en-US" sz="660" b="1" dirty="0">
                <a:solidFill>
                  <a:srgbClr val="000000"/>
                </a:solidFill>
                <a:latin typeface="Arial" pitchFamily="34" charset="0"/>
                <a:ea typeface="Arial" pitchFamily="34" charset="-122"/>
                <a:cs typeface="Arial" pitchFamily="34" charset="-120"/>
              </a:rPr>
              <a:t>Q-com conflict and losses: </a:t>
            </a:r>
            <a:pPr indent="0" marL="0">
              <a:buNone/>
            </a:pPr>
            <a:r>
              <a:rPr lang="en-US" sz="660" dirty="0">
                <a:solidFill>
                  <a:srgbClr val="53565A"/>
                </a:solidFill>
                <a:latin typeface="Arial" pitchFamily="34" charset="0"/>
                <a:ea typeface="Arial" pitchFamily="34" charset="-122"/>
                <a:cs typeface="Arial" pitchFamily="34" charset="-120"/>
              </a:rPr>
              <a:t>Regular packs only, per-gram band, distributor-serviced</a:t>
            </a:r>
            <a:endParaRPr lang="en-US" sz="660" dirty="0"/>
          </a:p>
        </p:txBody>
      </p:sp>
      <p:sp>
        <p:nvSpPr>
          <p:cNvPr id="68" name="Shape 64"/>
          <p:cNvSpPr/>
          <p:nvPr/>
        </p:nvSpPr>
        <p:spPr>
          <a:xfrm>
            <a:off x="8503920" y="4343400"/>
            <a:ext cx="237744" cy="237744"/>
          </a:xfrm>
          <a:prstGeom prst="ellipse">
            <a:avLst/>
          </a:prstGeom>
          <a:solidFill>
            <a:srgbClr val="000000"/>
          </a:solidFill>
          <a:ln w="12700">
            <a:solidFill>
              <a:srgbClr val="000000"/>
            </a:solidFill>
            <a:prstDash val="solid"/>
          </a:ln>
        </p:spPr>
      </p:sp>
      <p:sp>
        <p:nvSpPr>
          <p:cNvPr id="69" name="Text 65"/>
          <p:cNvSpPr txBox="1"/>
          <p:nvPr/>
        </p:nvSpPr>
        <p:spPr>
          <a:xfrm>
            <a:off x="8503920" y="4343400"/>
            <a:ext cx="237744" cy="237744"/>
          </a:xfrm>
          <a:prstGeom prst="rect">
            <a:avLst/>
          </a:prstGeom>
          <a:noFill/>
          <a:ln/>
        </p:spPr>
        <p:txBody>
          <a:bodyPr wrap="square" lIns="0" tIns="0" rIns="0" bIns="0" rtlCol="0" anchor="ctr"/>
          <a:lstStyle/>
          <a:p>
            <a:pPr algn="ctr" indent="0" marL="0">
              <a:buNone/>
            </a:pPr>
            <a:r>
              <a:rPr lang="en-US" sz="676" b="1" dirty="0">
                <a:solidFill>
                  <a:srgbClr val="FFFFFF"/>
                </a:solidFill>
                <a:latin typeface="Arial" pitchFamily="34" charset="0"/>
                <a:ea typeface="Arial" pitchFamily="34" charset="-122"/>
                <a:cs typeface="Arial" pitchFamily="34" charset="-120"/>
              </a:rPr>
              <a:t>4</a:t>
            </a:r>
            <a:endParaRPr lang="en-US" sz="676" dirty="0"/>
          </a:p>
        </p:txBody>
      </p:sp>
      <p:sp>
        <p:nvSpPr>
          <p:cNvPr id="70" name="Text 66"/>
          <p:cNvSpPr txBox="1"/>
          <p:nvPr/>
        </p:nvSpPr>
        <p:spPr>
          <a:xfrm>
            <a:off x="8796528" y="4306824"/>
            <a:ext cx="3319272" cy="320040"/>
          </a:xfrm>
          <a:prstGeom prst="rect">
            <a:avLst/>
          </a:prstGeom>
          <a:noFill/>
          <a:ln/>
        </p:spPr>
        <p:txBody>
          <a:bodyPr wrap="square" lIns="0" tIns="0" rIns="0" bIns="0" rtlCol="0" anchor="ctr"/>
          <a:lstStyle/>
          <a:p>
            <a:pPr indent="0" marL="0">
              <a:buNone/>
            </a:pPr>
            <a:r>
              <a:rPr lang="en-US" sz="660" b="1" dirty="0">
                <a:solidFill>
                  <a:srgbClr val="000000"/>
                </a:solidFill>
                <a:latin typeface="Arial" pitchFamily="34" charset="0"/>
                <a:ea typeface="Arial" pitchFamily="34" charset="-122"/>
                <a:cs typeface="Arial" pitchFamily="34" charset="-120"/>
              </a:rPr>
              <a:t>Working capital over envelope: </a:t>
            </a:r>
            <a:pPr indent="0" marL="0">
              <a:buNone/>
            </a:pPr>
            <a:r>
              <a:rPr lang="en-US" sz="660" dirty="0">
                <a:solidFill>
                  <a:srgbClr val="53565A"/>
                </a:solidFill>
                <a:latin typeface="Arial" pitchFamily="34" charset="0"/>
                <a:ea typeface="Arial" pitchFamily="34" charset="-122"/>
                <a:cs typeface="Arial" pitchFamily="34" charset="-120"/>
              </a:rPr>
              <a:t>Excel NWC Rs 21.9 Cr vs Rs 18 Cr reserved in a 3-category case; release per gate</a:t>
            </a:r>
            <a:endParaRPr lang="en-US" sz="660" dirty="0"/>
          </a:p>
        </p:txBody>
      </p:sp>
      <p:sp>
        <p:nvSpPr>
          <p:cNvPr id="71" name="Shape 67"/>
          <p:cNvSpPr/>
          <p:nvPr/>
        </p:nvSpPr>
        <p:spPr>
          <a:xfrm>
            <a:off x="8503920" y="4681728"/>
            <a:ext cx="237744" cy="237744"/>
          </a:xfrm>
          <a:prstGeom prst="ellipse">
            <a:avLst/>
          </a:prstGeom>
          <a:solidFill>
            <a:srgbClr val="000000"/>
          </a:solidFill>
          <a:ln w="12700">
            <a:solidFill>
              <a:srgbClr val="000000"/>
            </a:solidFill>
            <a:prstDash val="solid"/>
          </a:ln>
        </p:spPr>
      </p:sp>
      <p:sp>
        <p:nvSpPr>
          <p:cNvPr id="72" name="Text 68"/>
          <p:cNvSpPr txBox="1"/>
          <p:nvPr/>
        </p:nvSpPr>
        <p:spPr>
          <a:xfrm>
            <a:off x="8503920" y="4681728"/>
            <a:ext cx="237744" cy="237744"/>
          </a:xfrm>
          <a:prstGeom prst="rect">
            <a:avLst/>
          </a:prstGeom>
          <a:noFill/>
          <a:ln/>
        </p:spPr>
        <p:txBody>
          <a:bodyPr wrap="square" lIns="0" tIns="0" rIns="0" bIns="0" rtlCol="0" anchor="ctr"/>
          <a:lstStyle/>
          <a:p>
            <a:pPr algn="ctr" indent="0" marL="0">
              <a:buNone/>
            </a:pPr>
            <a:r>
              <a:rPr lang="en-US" sz="676" b="1" dirty="0">
                <a:solidFill>
                  <a:srgbClr val="FFFFFF"/>
                </a:solidFill>
                <a:latin typeface="Arial" pitchFamily="34" charset="0"/>
                <a:ea typeface="Arial" pitchFamily="34" charset="-122"/>
                <a:cs typeface="Arial" pitchFamily="34" charset="-120"/>
              </a:rPr>
              <a:t>5</a:t>
            </a:r>
            <a:endParaRPr lang="en-US" sz="676" dirty="0"/>
          </a:p>
        </p:txBody>
      </p:sp>
      <p:sp>
        <p:nvSpPr>
          <p:cNvPr id="73" name="Text 69"/>
          <p:cNvSpPr txBox="1"/>
          <p:nvPr/>
        </p:nvSpPr>
        <p:spPr>
          <a:xfrm>
            <a:off x="8796528" y="4645152"/>
            <a:ext cx="3319272" cy="320040"/>
          </a:xfrm>
          <a:prstGeom prst="rect">
            <a:avLst/>
          </a:prstGeom>
          <a:noFill/>
          <a:ln/>
        </p:spPr>
        <p:txBody>
          <a:bodyPr wrap="square" lIns="0" tIns="0" rIns="0" bIns="0" rtlCol="0" anchor="ctr"/>
          <a:lstStyle/>
          <a:p>
            <a:pPr indent="0" marL="0">
              <a:buNone/>
            </a:pPr>
            <a:r>
              <a:rPr lang="en-US" sz="660" b="1" dirty="0">
                <a:solidFill>
                  <a:srgbClr val="000000"/>
                </a:solidFill>
                <a:latin typeface="Arial" pitchFamily="34" charset="0"/>
                <a:ea typeface="Arial" pitchFamily="34" charset="-122"/>
                <a:cs typeface="Arial" pitchFamily="34" charset="-120"/>
              </a:rPr>
              <a:t>Vendor misses spec: </a:t>
            </a:r>
            <a:pPr indent="0" marL="0">
              <a:buNone/>
            </a:pPr>
            <a:r>
              <a:rPr lang="en-US" sz="660" dirty="0">
                <a:solidFill>
                  <a:srgbClr val="53565A"/>
                </a:solidFill>
                <a:latin typeface="Arial" pitchFamily="34" charset="0"/>
                <a:ea typeface="Arial" pitchFamily="34" charset="-122"/>
                <a:cs typeface="Arial" pitchFamily="34" charset="-120"/>
              </a:rPr>
              <a:t>Two vendors at spec before the launch gate</a:t>
            </a:r>
            <a:endParaRPr lang="en-US" sz="660" dirty="0"/>
          </a:p>
        </p:txBody>
      </p:sp>
      <p:sp>
        <p:nvSpPr>
          <p:cNvPr id="74" name="Text 70"/>
          <p:cNvSpPr txBox="1"/>
          <p:nvPr/>
        </p:nvSpPr>
        <p:spPr>
          <a:xfrm>
            <a:off x="109728" y="4681728"/>
            <a:ext cx="822960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Decisions we ask the Board for today</a:t>
            </a:r>
            <a:endParaRPr lang="en-US" sz="1100" dirty="0"/>
          </a:p>
        </p:txBody>
      </p:sp>
      <p:sp>
        <p:nvSpPr>
          <p:cNvPr id="75" name="Shape 71"/>
          <p:cNvSpPr/>
          <p:nvPr/>
        </p:nvSpPr>
        <p:spPr>
          <a:xfrm>
            <a:off x="109728" y="4937760"/>
            <a:ext cx="2011680" cy="960120"/>
          </a:xfrm>
          <a:prstGeom prst="rect">
            <a:avLst/>
          </a:prstGeom>
          <a:solidFill>
            <a:srgbClr val="046A38"/>
          </a:solidFill>
          <a:ln w="12700">
            <a:solidFill>
              <a:srgbClr val="046A38"/>
            </a:solidFill>
            <a:prstDash val="solid"/>
          </a:ln>
        </p:spPr>
      </p:sp>
      <p:sp>
        <p:nvSpPr>
          <p:cNvPr id="76" name="Shape 72"/>
          <p:cNvSpPr/>
          <p:nvPr/>
        </p:nvSpPr>
        <p:spPr>
          <a:xfrm>
            <a:off x="182880" y="5010912"/>
            <a:ext cx="310896" cy="310896"/>
          </a:xfrm>
          <a:prstGeom prst="ellipse">
            <a:avLst/>
          </a:prstGeom>
          <a:solidFill>
            <a:srgbClr val="86BC25"/>
          </a:solidFill>
          <a:ln w="12700">
            <a:solidFill>
              <a:srgbClr val="86BC25"/>
            </a:solidFill>
            <a:prstDash val="solid"/>
          </a:ln>
        </p:spPr>
      </p:sp>
      <p:sp>
        <p:nvSpPr>
          <p:cNvPr id="77" name="Text 73"/>
          <p:cNvSpPr txBox="1"/>
          <p:nvPr/>
        </p:nvSpPr>
        <p:spPr>
          <a:xfrm>
            <a:off x="182880" y="501091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1</a:t>
            </a:r>
            <a:endParaRPr lang="en-US" sz="884" dirty="0"/>
          </a:p>
        </p:txBody>
      </p:sp>
      <p:sp>
        <p:nvSpPr>
          <p:cNvPr id="78" name="Text 74"/>
          <p:cNvSpPr txBox="1"/>
          <p:nvPr/>
        </p:nvSpPr>
        <p:spPr>
          <a:xfrm>
            <a:off x="548640" y="4956048"/>
            <a:ext cx="1536192" cy="914400"/>
          </a:xfrm>
          <a:prstGeom prst="rect">
            <a:avLst/>
          </a:prstGeom>
          <a:noFill/>
          <a:ln/>
        </p:spPr>
        <p:txBody>
          <a:bodyPr wrap="square" lIns="0" tIns="0" rIns="0" bIns="0" rtlCol="0" anchor="ctr"/>
          <a:lstStyle/>
          <a:p>
            <a:pPr indent="0" marL="0">
              <a:buNone/>
            </a:pPr>
            <a:r>
              <a:rPr lang="en-US" sz="860" b="1" dirty="0">
                <a:solidFill>
                  <a:srgbClr val="FFFFFF"/>
                </a:solidFill>
                <a:latin typeface="Arial" pitchFamily="34" charset="0"/>
                <a:ea typeface="Arial" pitchFamily="34" charset="-122"/>
                <a:cs typeface="Arial" pitchFamily="34" charset="-120"/>
              </a:rPr>
              <a:t>Approve Rs 75 Cr</a:t>
            </a:r>
            <a:endParaRPr lang="en-US" sz="860" dirty="0"/>
          </a:p>
          <a:p>
            <a:pPr indent="0" marL="0">
              <a:buNone/>
            </a:pPr>
            <a:r>
              <a:rPr lang="en-US" sz="730" dirty="0">
                <a:solidFill>
                  <a:srgbClr val="FFFFFF"/>
                </a:solidFill>
                <a:latin typeface="Arial" pitchFamily="34" charset="0"/>
                <a:ea typeface="Arial" pitchFamily="34" charset="-122"/>
                <a:cs typeface="Arial" pitchFamily="34" charset="-120"/>
              </a:rPr>
              <a:t>released gate by gate: Rs 18 Cr in FY22</a:t>
            </a:r>
            <a:endParaRPr lang="en-US" sz="860" dirty="0"/>
          </a:p>
        </p:txBody>
      </p:sp>
      <p:sp>
        <p:nvSpPr>
          <p:cNvPr id="79" name="Shape 75"/>
          <p:cNvSpPr/>
          <p:nvPr/>
        </p:nvSpPr>
        <p:spPr>
          <a:xfrm>
            <a:off x="2176272" y="4937760"/>
            <a:ext cx="2011680" cy="960120"/>
          </a:xfrm>
          <a:prstGeom prst="rect">
            <a:avLst/>
          </a:prstGeom>
          <a:solidFill>
            <a:srgbClr val="FFFFFF"/>
          </a:solidFill>
          <a:ln w="12700">
            <a:solidFill>
              <a:srgbClr val="046A38"/>
            </a:solidFill>
            <a:prstDash val="solid"/>
          </a:ln>
        </p:spPr>
      </p:sp>
      <p:sp>
        <p:nvSpPr>
          <p:cNvPr id="80" name="Shape 76"/>
          <p:cNvSpPr/>
          <p:nvPr/>
        </p:nvSpPr>
        <p:spPr>
          <a:xfrm>
            <a:off x="2249424" y="5010912"/>
            <a:ext cx="310896" cy="310896"/>
          </a:xfrm>
          <a:prstGeom prst="ellipse">
            <a:avLst/>
          </a:prstGeom>
          <a:solidFill>
            <a:srgbClr val="046A38"/>
          </a:solidFill>
          <a:ln w="12700">
            <a:solidFill>
              <a:srgbClr val="046A38"/>
            </a:solidFill>
            <a:prstDash val="solid"/>
          </a:ln>
        </p:spPr>
      </p:sp>
      <p:sp>
        <p:nvSpPr>
          <p:cNvPr id="81" name="Text 77"/>
          <p:cNvSpPr txBox="1"/>
          <p:nvPr/>
        </p:nvSpPr>
        <p:spPr>
          <a:xfrm>
            <a:off x="2249424" y="501091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2</a:t>
            </a:r>
            <a:endParaRPr lang="en-US" sz="884" dirty="0"/>
          </a:p>
        </p:txBody>
      </p:sp>
      <p:sp>
        <p:nvSpPr>
          <p:cNvPr id="82" name="Text 78"/>
          <p:cNvSpPr txBox="1"/>
          <p:nvPr/>
        </p:nvSpPr>
        <p:spPr>
          <a:xfrm>
            <a:off x="2615184" y="4956048"/>
            <a:ext cx="1536192" cy="914400"/>
          </a:xfrm>
          <a:prstGeom prst="rect">
            <a:avLst/>
          </a:prstGeom>
          <a:noFill/>
          <a:ln/>
        </p:spPr>
        <p:txBody>
          <a:bodyPr wrap="square" lIns="0" tIns="0" rIns="0" bIns="0" rtlCol="0" anchor="ctr"/>
          <a:lstStyle/>
          <a:p>
            <a:pPr indent="0" marL="0">
              <a:buNone/>
            </a:pPr>
            <a:r>
              <a:rPr lang="en-US" sz="860" b="1" dirty="0">
                <a:solidFill>
                  <a:srgbClr val="000000"/>
                </a:solidFill>
                <a:latin typeface="Arial" pitchFamily="34" charset="0"/>
                <a:ea typeface="Arial" pitchFamily="34" charset="-122"/>
                <a:cs typeface="Arial" pitchFamily="34" charset="-120"/>
              </a:rPr>
              <a:t>Start premixes now</a:t>
            </a:r>
            <a:endParaRPr lang="en-US" sz="860" dirty="0"/>
          </a:p>
          <a:p>
            <a:pPr indent="0" marL="0">
              <a:buNone/>
            </a:pPr>
            <a:r>
              <a:rPr lang="en-US" sz="730" dirty="0">
                <a:solidFill>
                  <a:srgbClr val="000000"/>
                </a:solidFill>
                <a:latin typeface="Arial" pitchFamily="34" charset="0"/>
                <a:ea typeface="Arial" pitchFamily="34" charset="-122"/>
                <a:cs typeface="Arial" pitchFamily="34" charset="-120"/>
              </a:rPr>
              <a:t>concept-to-shelf for the Q3 FY22 winter, Regions 1-2</a:t>
            </a:r>
            <a:endParaRPr lang="en-US" sz="860" dirty="0"/>
          </a:p>
        </p:txBody>
      </p:sp>
      <p:sp>
        <p:nvSpPr>
          <p:cNvPr id="83" name="Shape 79"/>
          <p:cNvSpPr/>
          <p:nvPr/>
        </p:nvSpPr>
        <p:spPr>
          <a:xfrm>
            <a:off x="4242816" y="4937760"/>
            <a:ext cx="2011680" cy="960120"/>
          </a:xfrm>
          <a:prstGeom prst="rect">
            <a:avLst/>
          </a:prstGeom>
          <a:solidFill>
            <a:srgbClr val="FFFFFF"/>
          </a:solidFill>
          <a:ln w="12700">
            <a:solidFill>
              <a:srgbClr val="046A38"/>
            </a:solidFill>
            <a:prstDash val="solid"/>
          </a:ln>
        </p:spPr>
      </p:sp>
      <p:sp>
        <p:nvSpPr>
          <p:cNvPr id="84" name="Shape 80"/>
          <p:cNvSpPr/>
          <p:nvPr/>
        </p:nvSpPr>
        <p:spPr>
          <a:xfrm>
            <a:off x="4315968" y="5010912"/>
            <a:ext cx="310896" cy="310896"/>
          </a:xfrm>
          <a:prstGeom prst="ellipse">
            <a:avLst/>
          </a:prstGeom>
          <a:solidFill>
            <a:srgbClr val="046A38"/>
          </a:solidFill>
          <a:ln w="12700">
            <a:solidFill>
              <a:srgbClr val="046A38"/>
            </a:solidFill>
            <a:prstDash val="solid"/>
          </a:ln>
        </p:spPr>
      </p:sp>
      <p:sp>
        <p:nvSpPr>
          <p:cNvPr id="85" name="Text 81"/>
          <p:cNvSpPr txBox="1"/>
          <p:nvPr/>
        </p:nvSpPr>
        <p:spPr>
          <a:xfrm>
            <a:off x="4315968" y="501091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3</a:t>
            </a:r>
            <a:endParaRPr lang="en-US" sz="884" dirty="0"/>
          </a:p>
        </p:txBody>
      </p:sp>
      <p:sp>
        <p:nvSpPr>
          <p:cNvPr id="86" name="Text 82"/>
          <p:cNvSpPr txBox="1"/>
          <p:nvPr/>
        </p:nvSpPr>
        <p:spPr>
          <a:xfrm>
            <a:off x="4681728" y="4956048"/>
            <a:ext cx="1536192" cy="914400"/>
          </a:xfrm>
          <a:prstGeom prst="rect">
            <a:avLst/>
          </a:prstGeom>
          <a:noFill/>
          <a:ln/>
        </p:spPr>
        <p:txBody>
          <a:bodyPr wrap="square" lIns="0" tIns="0" rIns="0" bIns="0" rtlCol="0" anchor="ctr"/>
          <a:lstStyle/>
          <a:p>
            <a:pPr indent="0" marL="0">
              <a:buNone/>
            </a:pPr>
            <a:r>
              <a:rPr lang="en-US" sz="860" b="1" dirty="0">
                <a:solidFill>
                  <a:srgbClr val="000000"/>
                </a:solidFill>
                <a:latin typeface="Arial" pitchFamily="34" charset="0"/>
                <a:ea typeface="Arial" pitchFamily="34" charset="-122"/>
                <a:cs typeface="Arial" pitchFamily="34" charset="-120"/>
              </a:rPr>
              <a:t>Set up the Launch Council</a:t>
            </a:r>
            <a:endParaRPr lang="en-US" sz="860" dirty="0"/>
          </a:p>
          <a:p>
            <a:pPr indent="0" marL="0">
              <a:buNone/>
            </a:pPr>
            <a:r>
              <a:rPr lang="en-US" sz="730" dirty="0">
                <a:solidFill>
                  <a:srgbClr val="000000"/>
                </a:solidFill>
                <a:latin typeface="Arial" pitchFamily="34" charset="0"/>
                <a:ea typeface="Arial" pitchFamily="34" charset="-122"/>
                <a:cs typeface="Arial" pitchFamily="34" charset="-120"/>
              </a:rPr>
              <a:t>MD-chaired, monthly, with kill rights at every gate</a:t>
            </a:r>
            <a:endParaRPr lang="en-US" sz="860" dirty="0"/>
          </a:p>
        </p:txBody>
      </p:sp>
      <p:sp>
        <p:nvSpPr>
          <p:cNvPr id="87" name="Shape 83"/>
          <p:cNvSpPr/>
          <p:nvPr/>
        </p:nvSpPr>
        <p:spPr>
          <a:xfrm>
            <a:off x="6309360" y="4937760"/>
            <a:ext cx="2011680" cy="960120"/>
          </a:xfrm>
          <a:prstGeom prst="rect">
            <a:avLst/>
          </a:prstGeom>
          <a:solidFill>
            <a:srgbClr val="FFFFFF"/>
          </a:solidFill>
          <a:ln w="12700">
            <a:solidFill>
              <a:srgbClr val="046A38"/>
            </a:solidFill>
            <a:prstDash val="solid"/>
          </a:ln>
        </p:spPr>
      </p:sp>
      <p:sp>
        <p:nvSpPr>
          <p:cNvPr id="88" name="Shape 84"/>
          <p:cNvSpPr/>
          <p:nvPr/>
        </p:nvSpPr>
        <p:spPr>
          <a:xfrm>
            <a:off x="6382512" y="5010912"/>
            <a:ext cx="310896" cy="310896"/>
          </a:xfrm>
          <a:prstGeom prst="ellipse">
            <a:avLst/>
          </a:prstGeom>
          <a:solidFill>
            <a:srgbClr val="046A38"/>
          </a:solidFill>
          <a:ln w="12700">
            <a:solidFill>
              <a:srgbClr val="046A38"/>
            </a:solidFill>
            <a:prstDash val="solid"/>
          </a:ln>
        </p:spPr>
      </p:sp>
      <p:sp>
        <p:nvSpPr>
          <p:cNvPr id="89" name="Text 85"/>
          <p:cNvSpPr txBox="1"/>
          <p:nvPr/>
        </p:nvSpPr>
        <p:spPr>
          <a:xfrm>
            <a:off x="6382512" y="5010912"/>
            <a:ext cx="310896" cy="310896"/>
          </a:xfrm>
          <a:prstGeom prst="rect">
            <a:avLst/>
          </a:prstGeom>
          <a:noFill/>
          <a:ln/>
        </p:spPr>
        <p:txBody>
          <a:bodyPr wrap="square" lIns="0" tIns="0" rIns="0" bIns="0" rtlCol="0" anchor="ctr"/>
          <a:lstStyle/>
          <a:p>
            <a:pPr algn="ctr" indent="0" marL="0">
              <a:buNone/>
            </a:pPr>
            <a:r>
              <a:rPr lang="en-US" sz="884" b="1" dirty="0">
                <a:solidFill>
                  <a:srgbClr val="FFFFFF"/>
                </a:solidFill>
                <a:latin typeface="Arial" pitchFamily="34" charset="0"/>
                <a:ea typeface="Arial" pitchFamily="34" charset="-122"/>
                <a:cs typeface="Arial" pitchFamily="34" charset="-120"/>
              </a:rPr>
              <a:t>4</a:t>
            </a:r>
            <a:endParaRPr lang="en-US" sz="884" dirty="0"/>
          </a:p>
        </p:txBody>
      </p:sp>
      <p:sp>
        <p:nvSpPr>
          <p:cNvPr id="90" name="Text 86"/>
          <p:cNvSpPr txBox="1"/>
          <p:nvPr/>
        </p:nvSpPr>
        <p:spPr>
          <a:xfrm>
            <a:off x="6748272" y="4956048"/>
            <a:ext cx="1536192" cy="914400"/>
          </a:xfrm>
          <a:prstGeom prst="rect">
            <a:avLst/>
          </a:prstGeom>
          <a:noFill/>
          <a:ln/>
        </p:spPr>
        <p:txBody>
          <a:bodyPr wrap="square" lIns="0" tIns="0" rIns="0" bIns="0" rtlCol="0" anchor="ctr"/>
          <a:lstStyle/>
          <a:p>
            <a:pPr indent="0" marL="0">
              <a:buNone/>
            </a:pPr>
            <a:r>
              <a:rPr lang="en-US" sz="860" b="1" dirty="0">
                <a:solidFill>
                  <a:srgbClr val="000000"/>
                </a:solidFill>
                <a:latin typeface="Arial" pitchFamily="34" charset="0"/>
                <a:ea typeface="Arial" pitchFamily="34" charset="-122"/>
                <a:cs typeface="Arial" pitchFamily="34" charset="-120"/>
              </a:rPr>
              <a:t>Hold us to 18.5%</a:t>
            </a:r>
            <a:endParaRPr lang="en-US" sz="860" dirty="0"/>
          </a:p>
          <a:p>
            <a:pPr indent="0" marL="0">
              <a:buNone/>
            </a:pPr>
            <a:r>
              <a:rPr lang="en-US" sz="730" dirty="0">
                <a:solidFill>
                  <a:srgbClr val="000000"/>
                </a:solidFill>
                <a:latin typeface="Arial" pitchFamily="34" charset="0"/>
                <a:ea typeface="Arial" pitchFamily="34" charset="-122"/>
                <a:cs typeface="Arial" pitchFamily="34" charset="-120"/>
              </a:rPr>
              <a:t>and decide the push to 30% at the FY23 gate</a:t>
            </a:r>
            <a:endParaRPr lang="en-US" sz="860" dirty="0"/>
          </a:p>
        </p:txBody>
      </p:sp>
      <p:sp>
        <p:nvSpPr>
          <p:cNvPr id="91" name="Text 87"/>
          <p:cNvSpPr txBox="1"/>
          <p:nvPr/>
        </p:nvSpPr>
        <p:spPr>
          <a:xfrm>
            <a:off x="8503920" y="5010912"/>
            <a:ext cx="361188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Board scorecard, FY24 base</a:t>
            </a:r>
            <a:endParaRPr lang="en-US" sz="1100" dirty="0"/>
          </a:p>
        </p:txBody>
      </p:sp>
      <p:graphicFrame>
        <p:nvGraphicFramePr>
          <p:cNvPr id="40" name="Table 2"/>
          <p:cNvGraphicFramePr>
            <a:graphicFrameLocks noGrp="1"/>
          </p:cNvGraphicFramePr>
          <p:nvPr>
            <p:extLst>
              <p:ext uri="{D42A27DB-BD31-4B8C-83A1-F6EECF244321}">
                <p14:modId xmlns:p14="http://schemas.microsoft.com/office/powerpoint/2010/main" val="1579011935"/>
              </p:ext>
            </p:extLst>
          </p:nvPr>
        </p:nvGraphicFramePr>
        <p:xfrm>
          <a:off x="8503920" y="5248656"/>
          <a:ext cx="3611880" cy="914400"/>
        </p:xfrm>
        <a:graphic>
          <a:graphicData uri="http://schemas.openxmlformats.org/drawingml/2006/table">
            <a:tbl>
              <a:tblPr/>
              <a:tblGrid>
                <a:gridCol w="1417320"/>
                <a:gridCol w="685800"/>
                <a:gridCol w="731520"/>
                <a:gridCol w="777240"/>
              </a:tblGrid>
              <a:tr h="210312">
                <a:tc>
                  <a:txBody>
                    <a:bodyPr/>
                    <a:lstStyle/>
                    <a:p>
                      <a:pPr indent="0" marL="0">
                        <a:buNone/>
                      </a:pPr>
                      <a:r>
                        <a:rPr lang="en-US" sz="800" b="1" dirty="0">
                          <a:solidFill>
                            <a:srgbClr val="FFFFFF"/>
                          </a:solidFill>
                          <a:latin typeface="Arial" pitchFamily="34" charset="0"/>
                          <a:ea typeface="Arial" pitchFamily="34" charset="-122"/>
                          <a:cs typeface="Arial" pitchFamily="34" charset="-120"/>
                        </a:rPr>
                        <a:t>Measure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FY21</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Target</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210312">
                <a:tc>
                  <a:txBody>
                    <a:bodyPr/>
                    <a:lstStyle/>
                    <a:p>
                      <a:pPr indent="0" marL="0">
                        <a:buNone/>
                      </a:pPr>
                      <a:r>
                        <a:rPr lang="en-US" sz="700" dirty="0">
                          <a:solidFill>
                            <a:srgbClr val="000000"/>
                          </a:solidFill>
                          <a:latin typeface="Arial" pitchFamily="34" charset="0"/>
                          <a:ea typeface="Arial" pitchFamily="34" charset="-122"/>
                          <a:cs typeface="Arial" pitchFamily="34" charset="-120"/>
                        </a:rPr>
                        <a:t>New-product share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46A38"/>
                          </a:solidFill>
                          <a:latin typeface="Arial" pitchFamily="34" charset="0"/>
                          <a:ea typeface="Arial" pitchFamily="34" charset="-122"/>
                          <a:cs typeface="Arial" pitchFamily="34" charset="-120"/>
                        </a:rPr>
                        <a:t>18.5%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30%</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10312">
                <a:tc>
                  <a:txBody>
                    <a:bodyPr/>
                    <a:lstStyle/>
                    <a:p>
                      <a:pPr indent="0" marL="0">
                        <a:buNone/>
                      </a:pPr>
                      <a:r>
                        <a:rPr lang="en-US" sz="700" dirty="0">
                          <a:solidFill>
                            <a:srgbClr val="000000"/>
                          </a:solidFill>
                          <a:latin typeface="Arial" pitchFamily="34" charset="0"/>
                          <a:ea typeface="Arial" pitchFamily="34" charset="-122"/>
                          <a:cs typeface="Arial" pitchFamily="34" charset="-120"/>
                        </a:rPr>
                        <a:t>Company revenue, Rs Cr</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560</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757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~900</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93" name="Shape 88"/>
          <p:cNvSpPr/>
          <p:nvPr/>
        </p:nvSpPr>
        <p:spPr>
          <a:xfrm>
            <a:off x="0" y="5961888"/>
            <a:ext cx="12191695" cy="530352"/>
          </a:xfrm>
          <a:prstGeom prst="rect">
            <a:avLst/>
          </a:prstGeom>
          <a:solidFill>
            <a:srgbClr val="86BC25"/>
          </a:solidFill>
          <a:ln w="12700">
            <a:solidFill>
              <a:srgbClr val="86BC25"/>
            </a:solidFill>
            <a:prstDash val="solid"/>
          </a:ln>
        </p:spPr>
      </p:sp>
      <p:sp>
        <p:nvSpPr>
          <p:cNvPr id="94" name="Text 89"/>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Honest arithmetic: </a:t>
            </a:r>
            <a:pPr algn="ctr" indent="0" marL="0">
              <a:buNone/>
            </a:pPr>
            <a:r>
              <a:rPr lang="en-US" sz="1250" dirty="0">
                <a:solidFill>
                  <a:srgbClr val="000000"/>
                </a:solidFill>
                <a:latin typeface="Arial" pitchFamily="34" charset="0"/>
                <a:ea typeface="Arial" pitchFamily="34" charset="-122"/>
                <a:cs typeface="Arial" pitchFamily="34" charset="-120"/>
              </a:rPr>
              <a:t>two categories get to 18.5%; 30% is reachable only with reach, share and a third launch, each behind a gate.</a:t>
            </a:r>
            <a:endParaRPr lang="en-US" sz="1250" dirty="0"/>
          </a:p>
        </p:txBody>
      </p:sp>
      <p:sp>
        <p:nvSpPr>
          <p:cNvPr id="95" name="Text 90"/>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team category model (sensitivity grid and scenarios replicated); team Excel model (working capital); Case Exhibits 1, 4.2, 6; team FGDs. Risk placement is the team's judgment. Simulator tab 3 reproduces the grid live.</a:t>
            </a:r>
            <a:endParaRPr lang="en-US" sz="730" dirty="0"/>
          </a:p>
        </p:txBody>
      </p:sp>
      <p:sp>
        <p:nvSpPr>
          <p:cNvPr id="96" name="Text 91"/>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46A38"/>
          </a:solidFill>
          <a:ln w="12700">
            <a:solidFill>
              <a:srgbClr val="046A38"/>
            </a:solidFill>
            <a:prstDash val="solid"/>
          </a:ln>
        </p:spPr>
      </p:sp>
      <p:sp>
        <p:nvSpPr>
          <p:cNvPr id="3" name="Text 1"/>
          <p:cNvSpPr txBox="1"/>
          <p:nvPr/>
        </p:nvSpPr>
        <p:spPr>
          <a:xfrm>
            <a:off x="411480" y="2377440"/>
            <a:ext cx="3566160" cy="14630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a:p>
            <a:pPr indent="0" marL="0">
              <a:buNone/>
            </a:pPr>
            <a:r>
              <a:rPr lang="en-US" sz="1800" dirty="0">
                <a:solidFill>
                  <a:srgbClr val="FFFFFF"/>
                </a:solidFill>
                <a:latin typeface="Arial" pitchFamily="34" charset="0"/>
                <a:ea typeface="Arial" pitchFamily="34" charset="-122"/>
                <a:cs typeface="Arial" pitchFamily="34" charset="-120"/>
              </a:rPr>
              <a:t>Questions and discussion</a:t>
            </a:r>
            <a:endParaRPr lang="en-US" sz="4000" dirty="0"/>
          </a:p>
        </p:txBody>
      </p:sp>
      <p:sp>
        <p:nvSpPr>
          <p:cNvPr id="4" name="Text 2"/>
          <p:cNvSpPr txBox="1"/>
          <p:nvPr/>
        </p:nvSpPr>
        <p:spPr>
          <a:xfrm>
            <a:off x="411480" y="6035040"/>
            <a:ext cx="356616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Team Quadria | IIM Calcutta</a:t>
            </a:r>
            <a:endParaRPr lang="en-US" sz="1200" dirty="0"/>
          </a:p>
        </p:txBody>
      </p:sp>
      <p:sp>
        <p:nvSpPr>
          <p:cNvPr id="5" name="Text 3"/>
          <p:cNvSpPr txBox="1"/>
          <p:nvPr/>
        </p:nvSpPr>
        <p:spPr>
          <a:xfrm>
            <a:off x="4663440" y="640080"/>
            <a:ext cx="7132320" cy="411480"/>
          </a:xfrm>
          <a:prstGeom prst="rect">
            <a:avLst/>
          </a:prstGeom>
          <a:noFill/>
          <a:ln/>
        </p:spPr>
        <p:txBody>
          <a:bodyPr wrap="square" lIns="0" tIns="0" rIns="0" bIns="0" rtlCol="0" anchor="ctr"/>
          <a:lstStyle/>
          <a:p>
            <a:pPr indent="0" marL="0">
              <a:buNone/>
            </a:pPr>
            <a:r>
              <a:rPr lang="en-US" sz="1800" b="1" dirty="0">
                <a:solidFill>
                  <a:srgbClr val="26890D"/>
                </a:solidFill>
                <a:latin typeface="Arial" pitchFamily="34" charset="0"/>
                <a:ea typeface="Arial" pitchFamily="34" charset="-122"/>
                <a:cs typeface="Arial" pitchFamily="34" charset="-120"/>
              </a:rPr>
              <a:t>Explore the numbers live</a:t>
            </a:r>
            <a:endParaRPr lang="en-US" sz="1800" dirty="0"/>
          </a:p>
        </p:txBody>
      </p:sp>
      <p:pic>
        <p:nvPicPr>
          <p:cNvPr id="6" name="Image 0" descr="preencoded.png">    </p:cNvPr>
          <p:cNvPicPr>
            <a:picLocks noChangeAspect="1"/>
          </p:cNvPicPr>
          <p:nvPr/>
        </p:nvPicPr>
        <p:blipFill>
          <a:blip r:embed="rId1"/>
          <a:stretch>
            <a:fillRect/>
          </a:stretch>
        </p:blipFill>
        <p:spPr>
          <a:xfrm>
            <a:off x="4663440" y="1234440"/>
            <a:ext cx="1600200" cy="1600200"/>
          </a:xfrm>
          <a:prstGeom prst="rect">
            <a:avLst/>
          </a:prstGeom>
        </p:spPr>
      </p:pic>
      <p:sp>
        <p:nvSpPr>
          <p:cNvPr id="7" name="Text 4"/>
          <p:cNvSpPr txBox="1"/>
          <p:nvPr/>
        </p:nvSpPr>
        <p:spPr>
          <a:xfrm>
            <a:off x="6492240" y="1234440"/>
            <a:ext cx="5394960" cy="160020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Category screen and growth model</a:t>
            </a:r>
            <a:endParaRPr lang="en-US" sz="1300" dirty="0"/>
          </a:p>
          <a:p>
            <a:pPr indent="0" marL="0">
              <a:buNone/>
            </a:pPr>
            <a:r>
              <a:rPr lang="en-US" sz="1000" dirty="0">
                <a:solidFill>
                  <a:srgbClr val="53565A"/>
                </a:solidFill>
                <a:latin typeface="Arial" pitchFamily="34" charset="0"/>
                <a:ea typeface="Arial" pitchFamily="34" charset="-122"/>
                <a:cs typeface="Arial" pitchFamily="34" charset="-120"/>
              </a:rPr>
              <a:t>Change weights, reach, share and ramps; every number in this deck recomputes</a:t>
            </a:r>
            <a:endParaRPr lang="en-US" sz="1300" dirty="0"/>
          </a:p>
          <a:p>
            <a:pPr indent="0" marL="0">
              <a:buNone/>
            </a:pPr>
            <a:r>
              <a:rPr lang="en-US" sz="900" dirty="0">
                <a:solidFill>
                  <a:srgbClr val="0097A9"/>
                </a:solidFill>
                <a:latin typeface="Arial" pitchFamily="34" charset="0"/>
                <a:ea typeface="Arial" pitchFamily="34" charset="-122"/>
                <a:cs typeface="Arial" pitchFamily="34" charset="-120"/>
              </a:rPr>
              <a:t>claude.ai/artifact/TEa5SgsMFq1L6yyBw3a9u6</a:t>
            </a:r>
            <a:endParaRPr lang="en-US" sz="1300" dirty="0"/>
          </a:p>
        </p:txBody>
      </p:sp>
      <p:pic>
        <p:nvPicPr>
          <p:cNvPr id="8" name="Image 1" descr="preencoded.png">    </p:cNvPr>
          <p:cNvPicPr>
            <a:picLocks noChangeAspect="1"/>
          </p:cNvPicPr>
          <p:nvPr/>
        </p:nvPicPr>
        <p:blipFill>
          <a:blip r:embed="rId2"/>
          <a:stretch>
            <a:fillRect/>
          </a:stretch>
        </p:blipFill>
        <p:spPr>
          <a:xfrm>
            <a:off x="4663440" y="3108960"/>
            <a:ext cx="1600200" cy="1600200"/>
          </a:xfrm>
          <a:prstGeom prst="rect">
            <a:avLst/>
          </a:prstGeom>
        </p:spPr>
      </p:pic>
      <p:sp>
        <p:nvSpPr>
          <p:cNvPr id="9" name="Text 5"/>
          <p:cNvSpPr txBox="1"/>
          <p:nvPr/>
        </p:nvSpPr>
        <p:spPr>
          <a:xfrm>
            <a:off x="6492240" y="3108960"/>
            <a:ext cx="5394960" cy="160020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No-login mirror</a:t>
            </a:r>
            <a:endParaRPr lang="en-US" sz="1300" dirty="0"/>
          </a:p>
          <a:p>
            <a:pPr indent="0" marL="0">
              <a:buNone/>
            </a:pPr>
            <a:r>
              <a:rPr lang="en-US" sz="1000" dirty="0">
                <a:solidFill>
                  <a:srgbClr val="53565A"/>
                </a:solidFill>
                <a:latin typeface="Arial" pitchFamily="34" charset="0"/>
                <a:ea typeface="Arial" pitchFamily="34" charset="-122"/>
                <a:cs typeface="Arial" pitchFamily="34" charset="-120"/>
              </a:rPr>
              <a:t>The same model on a public page, for any browser</a:t>
            </a:r>
            <a:endParaRPr lang="en-US" sz="1300" dirty="0"/>
          </a:p>
          <a:p>
            <a:pPr indent="0" marL="0">
              <a:buNone/>
            </a:pPr>
            <a:r>
              <a:rPr lang="en-US" sz="900" dirty="0">
                <a:solidFill>
                  <a:srgbClr val="0097A9"/>
                </a:solidFill>
                <a:latin typeface="Arial" pitchFamily="34" charset="0"/>
                <a:ea typeface="Arial" pitchFamily="34" charset="-122"/>
                <a:cs typeface="Arial" pitchFamily="34" charset="-120"/>
              </a:rPr>
              <a:t>amitg2027-del.github.io/rasmitra-growth-simulator/model.html</a:t>
            </a:r>
            <a:endParaRPr lang="en-US" sz="1300" dirty="0"/>
          </a:p>
        </p:txBody>
      </p:sp>
      <p:sp>
        <p:nvSpPr>
          <p:cNvPr id="10" name="Text 6"/>
          <p:cNvSpPr txBox="1"/>
          <p:nvPr/>
        </p:nvSpPr>
        <p:spPr>
          <a:xfrm>
            <a:off x="4663440" y="5074920"/>
            <a:ext cx="7132320" cy="320040"/>
          </a:xfrm>
          <a:prstGeom prst="rect">
            <a:avLst/>
          </a:prstGeom>
          <a:noFill/>
          <a:ln/>
        </p:spPr>
        <p:txBody>
          <a:bodyPr wrap="square" lIns="0" tIns="0" rIns="0" bIns="0" rtlCol="0" anchor="ctr"/>
          <a:lstStyle/>
          <a:p>
            <a:pPr indent="0" marL="0">
              <a:buNone/>
            </a:pPr>
            <a:r>
              <a:rPr lang="en-US" sz="1300" b="1" dirty="0">
                <a:solidFill>
                  <a:srgbClr val="26890D"/>
                </a:solidFill>
                <a:latin typeface="Arial" pitchFamily="34" charset="0"/>
                <a:ea typeface="Arial" pitchFamily="34" charset="-122"/>
                <a:cs typeface="Arial" pitchFamily="34" charset="-120"/>
              </a:rPr>
              <a:t>Appendix</a:t>
            </a:r>
            <a:endParaRPr lang="en-US" sz="1300" dirty="0"/>
          </a:p>
        </p:txBody>
      </p:sp>
      <p:sp>
        <p:nvSpPr>
          <p:cNvPr id="11" name="Text 7"/>
          <p:cNvSpPr txBox="1"/>
          <p:nvPr/>
        </p:nvSpPr>
        <p:spPr>
          <a:xfrm>
            <a:off x="4663440" y="5440680"/>
            <a:ext cx="7132320" cy="32004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A1    </a:t>
            </a:r>
            <a:pPr indent="0" marL="0">
              <a:buNone/>
            </a:pPr>
            <a:r>
              <a:rPr lang="en-US" sz="1100" dirty="0">
                <a:solidFill>
                  <a:srgbClr val="000000"/>
                </a:solidFill>
                <a:latin typeface="Arial" pitchFamily="34" charset="0"/>
                <a:ea typeface="Arial" pitchFamily="34" charset="-122"/>
                <a:cs typeface="Arial" pitchFamily="34" charset="-120"/>
              </a:rPr>
              <a:t>Assumptions (single page, as the case requires)</a:t>
            </a:r>
            <a:endParaRPr lang="en-US" sz="1100" dirty="0"/>
          </a:p>
        </p:txBody>
      </p:sp>
      <p:sp>
        <p:nvSpPr>
          <p:cNvPr id="12" name="Text 8"/>
          <p:cNvSpPr txBox="1"/>
          <p:nvPr/>
        </p:nvSpPr>
        <p:spPr>
          <a:xfrm>
            <a:off x="4663440" y="5788152"/>
            <a:ext cx="7132320" cy="320040"/>
          </a:xfrm>
          <a:prstGeom prst="rect">
            <a:avLst/>
          </a:prstGeom>
          <a:noFill/>
          <a:ln/>
        </p:spPr>
        <p:txBody>
          <a:bodyPr wrap="square" lIns="0" tIns="0" rIns="0" bIns="0" rtlCol="0" anchor="ctr"/>
          <a:lstStyle/>
          <a:p>
            <a:pPr indent="0" marL="0">
              <a:buNone/>
            </a:pPr>
            <a:r>
              <a:rPr lang="en-US" sz="1100" b="1" dirty="0">
                <a:solidFill>
                  <a:srgbClr val="86BC25"/>
                </a:solidFill>
                <a:latin typeface="Arial" pitchFamily="34" charset="0"/>
                <a:ea typeface="Arial" pitchFamily="34" charset="-122"/>
                <a:cs typeface="Arial" pitchFamily="34" charset="-120"/>
              </a:rPr>
              <a:t>A2    </a:t>
            </a:r>
            <a:pPr indent="0" marL="0">
              <a:buNone/>
            </a:pPr>
            <a:r>
              <a:rPr lang="en-US" sz="1100" dirty="0">
                <a:solidFill>
                  <a:srgbClr val="000000"/>
                </a:solidFill>
                <a:latin typeface="Arial" pitchFamily="34" charset="0"/>
                <a:ea typeface="Arial" pitchFamily="34" charset="-122"/>
                <a:cs typeface="Arial" pitchFamily="34" charset="-120"/>
              </a:rPr>
              <a:t>Sources and live links: models, simulator, Google Sheet, secondary sources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A1. Assumptions</a:t>
            </a:r>
            <a:endParaRPr lang="en-US" sz="1700" dirty="0"/>
          </a:p>
        </p:txBody>
      </p:sp>
      <p:sp>
        <p:nvSpPr>
          <p:cNvPr id="3" name="Shape 1"/>
          <p:cNvSpPr/>
          <p:nvPr/>
        </p:nvSpPr>
        <p:spPr>
          <a:xfrm>
            <a:off x="6949440" y="64008"/>
            <a:ext cx="1463040" cy="237744"/>
          </a:xfrm>
          <a:prstGeom prst="rect">
            <a:avLst/>
          </a:prstGeom>
          <a:solidFill>
            <a:srgbClr val="53565A"/>
          </a:solidFill>
          <a:ln w="12700">
            <a:solidFill>
              <a:srgbClr val="53565A"/>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APPENDIX</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Every figure not in Exhibits 1-6 is an explicit team estimate, applied consistently; the simulator lets the panel change each one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09728" y="786384"/>
          <a:ext cx="11978640" cy="914400"/>
        </p:xfrm>
        <a:graphic>
          <a:graphicData uri="http://schemas.openxmlformats.org/drawingml/2006/table">
            <a:tbl>
              <a:tblPr/>
              <a:tblGrid>
                <a:gridCol w="1828800"/>
                <a:gridCol w="6035040"/>
                <a:gridCol w="2194560"/>
                <a:gridCol w="1920240"/>
              </a:tblGrid>
              <a:tr h="310896">
                <a:tc>
                  <a:txBody>
                    <a:bodyPr/>
                    <a:lstStyle/>
                    <a:p>
                      <a:pPr indent="0" marL="0">
                        <a:buNone/>
                      </a:pPr>
                      <a:r>
                        <a:rPr lang="en-US" sz="800" b="1" dirty="0">
                          <a:solidFill>
                            <a:srgbClr val="FFFFFF"/>
                          </a:solidFill>
                          <a:latin typeface="Arial" pitchFamily="34" charset="0"/>
                          <a:ea typeface="Arial" pitchFamily="34" charset="-122"/>
                          <a:cs typeface="Arial" pitchFamily="34" charset="-120"/>
                        </a:rPr>
                        <a:t>Area</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Assumption</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Core business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Legacy range grows at its FY18-21 rate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4.8% p.a.</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Exhibit 1</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Today's new products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Herbal digestive, premium variant and others grow</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10% p.a. from Rs 23.5 Cr</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Exhibit 1; team</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Market size and growth</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FY21 size grown at Exhibit 5 CAGR</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Spices 11%, premixes 14%</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Exhibit 5</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Reach</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Share of category sales through outlets we serve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8% base; 10% stretch FY24</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category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Our share (year three)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Spices / premixes / pickles / RTC</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3% / 10% / 5% / 4%</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category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Net realisation</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Share of MRP kept (flagship, Exh. 2). At the planned 78.5/10.6/10.9 GT/MT/Q-com mix it is 73.3%: base 18.1%, stretch + RTC 29.7%</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75.4% (73.3% sensitivity)</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Exhibit 3; team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Launch ramps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Premixes 30/75/100%; spices 5/60/95%; 3rd category 0/15/75%</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Base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category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Scenario multipliers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Stretch x1.5 share, reach to 10%; downside x0.6 share, one-season slip</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As stated</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category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Contribution margin</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After partner margin, trade spend and freight, channel-weighted</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Spices 19.9%; premixes 25.6%</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Excel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Programme spend</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A&amp;P 8/14/13; R&amp;D-QA 3/2/2; selling 1/2/2; capex 1/2/2; WC 18; contingency 5</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Rs 75 Cr</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Excel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Working capital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Receivables, inventory less payables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6.4% of sales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Excel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FY25E-26E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Market CAGR at full ramp; sustaining A&amp;P 6% of sales + Rs 3 Cr; capex Rs 1 Cr</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Extension</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estimate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Velocity check</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Half of our 4.5 lakh outlets stock each category; premixes sell 5 months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GT: Rs 291-297 per outlet a month</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category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Distributor economics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390 distributors; gross 6.6%, net 1.9% of GT sell-out; GT 78.5% of new-line sales</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Rs 1.9 L / 0.55 L each</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Team Excel model</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0896">
                <a:tc>
                  <a:txBody>
                    <a:bodyPr/>
                    <a:lstStyle/>
                    <a:p>
                      <a:pPr indent="0" marL="0">
                        <a:buNone/>
                      </a:pPr>
                      <a:r>
                        <a:rPr lang="en-US" sz="840" b="1" dirty="0">
                          <a:solidFill>
                            <a:srgbClr val="000000"/>
                          </a:solidFill>
                          <a:latin typeface="Arial" pitchFamily="34" charset="0"/>
                          <a:ea typeface="Arial" pitchFamily="34" charset="-122"/>
                          <a:cs typeface="Arial" pitchFamily="34" charset="-120"/>
                        </a:rPr>
                        <a:t>Seasonality</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Core sells 58% in Mar-Jul; spices, pickles, RTC sell evenly (5 of 12 months in Mar-Jul); premixes 10%</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Mar-Jul ~54% in FY24</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840" dirty="0">
                          <a:solidFill>
                            <a:srgbClr val="000000"/>
                          </a:solidFill>
                          <a:latin typeface="Arial" pitchFamily="34" charset="0"/>
                          <a:ea typeface="Arial" pitchFamily="34" charset="-122"/>
                          <a:cs typeface="Arial" pitchFamily="34" charset="-120"/>
                        </a:rPr>
                        <a:t>Exhibit 1; team estimate</a:t>
                      </a:r>
                      <a:endParaRPr lang="en-US" sz="84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7" name="Shape 4"/>
          <p:cNvSpPr/>
          <p:nvPr/>
        </p:nvSpPr>
        <p:spPr>
          <a:xfrm>
            <a:off x="0" y="5961888"/>
            <a:ext cx="12191695" cy="530352"/>
          </a:xfrm>
          <a:prstGeom prst="rect">
            <a:avLst/>
          </a:prstGeom>
          <a:solidFill>
            <a:srgbClr val="86BC25"/>
          </a:solidFill>
          <a:ln w="12700">
            <a:solidFill>
              <a:srgbClr val="86BC25"/>
            </a:solidFill>
            <a:prstDash val="solid"/>
          </a:ln>
        </p:spPr>
      </p:sp>
      <p:sp>
        <p:nvSpPr>
          <p:cNvPr id="8" name="Text 5"/>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Exhibits govern: </a:t>
            </a:r>
            <a:pPr algn="ctr" indent="0" marL="0">
              <a:buNone/>
            </a:pPr>
            <a:r>
              <a:rPr lang="en-US" sz="1250" dirty="0">
                <a:solidFill>
                  <a:srgbClr val="000000"/>
                </a:solidFill>
                <a:latin typeface="Arial" pitchFamily="34" charset="0"/>
                <a:ea typeface="Arial" pitchFamily="34" charset="-122"/>
                <a:cs typeface="Arial" pitchFamily="34" charset="-120"/>
              </a:rPr>
              <a:t>where public data and the case differ, the case figure is used; demand estimates are replaced by pilot data at each gate.</a:t>
            </a:r>
            <a:endParaRPr lang="en-US" sz="1250" dirty="0"/>
          </a:p>
        </p:txBody>
      </p:sp>
      <p:sp>
        <p:nvSpPr>
          <p:cNvPr id="9" name="Text 6"/>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Sources: Case Exhibits 1-6; team category model; team Excel model 'Rasmitra_Financial_Model'.</a:t>
            </a:r>
            <a:endParaRPr lang="en-US" sz="730" dirty="0"/>
          </a:p>
        </p:txBody>
      </p:sp>
      <p:sp>
        <p:nvSpPr>
          <p:cNvPr id="10" name="Text 7"/>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A1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09728" y="18288"/>
            <a:ext cx="6766560" cy="329184"/>
          </a:xfrm>
          <a:prstGeom prst="rect">
            <a:avLst/>
          </a:prstGeom>
          <a:noFill/>
          <a:ln/>
        </p:spPr>
        <p:txBody>
          <a:bodyPr wrap="square" lIns="0" tIns="0" rIns="0" bIns="0" rtlCol="0" anchor="ctr"/>
          <a:lstStyle/>
          <a:p>
            <a:pPr indent="0" marL="0">
              <a:buNone/>
            </a:pPr>
            <a:r>
              <a:rPr lang="en-US" sz="1700" b="1" dirty="0">
                <a:solidFill>
                  <a:srgbClr val="26890D"/>
                </a:solidFill>
                <a:latin typeface="Arial" pitchFamily="34" charset="0"/>
                <a:ea typeface="Arial" pitchFamily="34" charset="-122"/>
                <a:cs typeface="Arial" pitchFamily="34" charset="-120"/>
              </a:rPr>
              <a:t>A2. Sources and Links</a:t>
            </a:r>
            <a:endParaRPr lang="en-US" sz="1700" dirty="0"/>
          </a:p>
        </p:txBody>
      </p:sp>
      <p:sp>
        <p:nvSpPr>
          <p:cNvPr id="3" name="Shape 1"/>
          <p:cNvSpPr/>
          <p:nvPr/>
        </p:nvSpPr>
        <p:spPr>
          <a:xfrm>
            <a:off x="6949440" y="64008"/>
            <a:ext cx="1463040" cy="237744"/>
          </a:xfrm>
          <a:prstGeom prst="rect">
            <a:avLst/>
          </a:prstGeom>
          <a:solidFill>
            <a:srgbClr val="53565A"/>
          </a:solidFill>
          <a:ln w="12700">
            <a:solidFill>
              <a:srgbClr val="53565A"/>
            </a:solidFill>
            <a:prstDash val="solid"/>
          </a:ln>
        </p:spPr>
      </p:sp>
      <p:sp>
        <p:nvSpPr>
          <p:cNvPr id="4" name="Text 2"/>
          <p:cNvSpPr txBox="1"/>
          <p:nvPr/>
        </p:nvSpPr>
        <p:spPr>
          <a:xfrm>
            <a:off x="6949440" y="64008"/>
            <a:ext cx="1463040" cy="237744"/>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APPENDIX</a:t>
            </a:r>
            <a:endParaRPr lang="en-US" sz="750" dirty="0"/>
          </a:p>
        </p:txBody>
      </p:sp>
      <p:sp>
        <p:nvSpPr>
          <p:cNvPr id="5" name="Text 3"/>
          <p:cNvSpPr txBox="1"/>
          <p:nvPr/>
        </p:nvSpPr>
        <p:spPr>
          <a:xfrm>
            <a:off x="109728" y="384048"/>
            <a:ext cx="11978640" cy="329184"/>
          </a:xfrm>
          <a:prstGeom prst="rect">
            <a:avLst/>
          </a:prstGeom>
          <a:noFill/>
          <a:ln/>
        </p:spPr>
        <p:txBody>
          <a:bodyPr wrap="square" lIns="0" tIns="0" rIns="0" bIns="0" rtlCol="0" anchor="ctr"/>
          <a:lstStyle/>
          <a:p>
            <a:pPr indent="0" marL="0">
              <a:buNone/>
            </a:pPr>
            <a:r>
              <a:rPr lang="en-US" sz="1250" i="1" dirty="0">
                <a:solidFill>
                  <a:srgbClr val="000000"/>
                </a:solidFill>
                <a:latin typeface="Arial" pitchFamily="34" charset="0"/>
                <a:ea typeface="Arial" pitchFamily="34" charset="-122"/>
                <a:cs typeface="Arial" pitchFamily="34" charset="-120"/>
              </a:rPr>
              <a:t>Every source behind this presentation, with live links to the models; click any link in the PPT or PDF</a:t>
            </a:r>
            <a:endParaRPr lang="en-US" sz="1250" dirty="0"/>
          </a:p>
        </p:txBody>
      </p:sp>
      <p:sp>
        <p:nvSpPr>
          <p:cNvPr id="6" name="Text 4"/>
          <p:cNvSpPr txBox="1"/>
          <p:nvPr/>
        </p:nvSpPr>
        <p:spPr>
          <a:xfrm>
            <a:off x="109728" y="749808"/>
            <a:ext cx="58521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Live links: models and tools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09728" y="1005840"/>
          <a:ext cx="5852160" cy="914400"/>
        </p:xfrm>
        <a:graphic>
          <a:graphicData uri="http://schemas.openxmlformats.org/drawingml/2006/table">
            <a:tbl>
              <a:tblPr/>
              <a:tblGrid>
                <a:gridCol w="1417320"/>
                <a:gridCol w="2240280"/>
                <a:gridCol w="2194560"/>
              </a:tblGrid>
              <a:tr h="274320">
                <a:tc>
                  <a:txBody>
                    <a:bodyPr/>
                    <a:lstStyle/>
                    <a:p>
                      <a:pPr indent="0" marL="0">
                        <a:buNone/>
                      </a:pPr>
                      <a:r>
                        <a:rPr lang="en-US" sz="800" b="1" dirty="0">
                          <a:solidFill>
                            <a:srgbClr val="FFFFFF"/>
                          </a:solidFill>
                          <a:latin typeface="Arial" pitchFamily="34" charset="0"/>
                          <a:ea typeface="Arial" pitchFamily="34" charset="-122"/>
                          <a:cs typeface="Arial" pitchFamily="34" charset="-120"/>
                        </a:rPr>
                        <a:t>Link</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it holds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Address</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29184">
                <a:tc>
                  <a:txBody>
                    <a:bodyPr/>
                    <a:lstStyle/>
                    <a:p>
                      <a:pPr indent="0" marL="0">
                        <a:buNone/>
                      </a:pPr>
                      <a:r>
                        <a:rPr lang="en-US" sz="780" b="1" dirty="0">
                          <a:solidFill>
                            <a:srgbClr val="000000"/>
                          </a:solidFill>
                          <a:latin typeface="Arial" pitchFamily="34" charset="0"/>
                          <a:ea typeface="Arial" pitchFamily="34" charset="-122"/>
                          <a:cs typeface="Arial" pitchFamily="34" charset="-120"/>
                        </a:rPr>
                        <a:t>Category screen and growth model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Team top-down model: screen, weights, scenarios, assumptions. QR on cover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claude.ai/artifact/TEa5SgsMFq1L6yyBw3a9u6</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29184">
                <a:tc>
                  <a:txBody>
                    <a:bodyPr/>
                    <a:lstStyle/>
                    <a:p>
                      <a:pPr indent="0" marL="0">
                        <a:buNone/>
                      </a:pPr>
                      <a:r>
                        <a:rPr lang="en-US" sz="780" b="1" dirty="0">
                          <a:solidFill>
                            <a:srgbClr val="000000"/>
                          </a:solidFill>
                          <a:latin typeface="Arial" pitchFamily="34" charset="0"/>
                          <a:ea typeface="Arial" pitchFamily="34" charset="-122"/>
                          <a:cs typeface="Arial" pitchFamily="34" charset="-120"/>
                        </a:rPr>
                        <a:t>Growth simulator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5 tabs: screen, growth, what has to be true, packs front/back, stage-gate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claude.ai/artifact/8m7DvmjMwMNyDfwxoNqZCB</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420624">
                <a:tc>
                  <a:txBody>
                    <a:bodyPr/>
                    <a:lstStyle/>
                    <a:p>
                      <a:pPr indent="0" marL="0">
                        <a:buNone/>
                      </a:pPr>
                      <a:r>
                        <a:rPr lang="en-US" sz="780" b="1" dirty="0">
                          <a:solidFill>
                            <a:srgbClr val="000000"/>
                          </a:solidFill>
                          <a:latin typeface="Arial" pitchFamily="34" charset="0"/>
                          <a:ea typeface="Arial" pitchFamily="34" charset="-122"/>
                          <a:cs typeface="Arial" pitchFamily="34" charset="-120"/>
                        </a:rPr>
                        <a:t>No-login mirrors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Model (second QR on cover) and simulator on GitHub Pages; open in any browser</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amitg2027-del.github.io/rasmitra-growth-simulator/model.html</a:t>
                      </a:r>
                      <a:pPr indent="0" marL="0">
                        <a:buNone/>
                      </a:pPr>
                      <a:endParaRPr lang="en-US" sz="700" dirty="0">
                        <a:latin typeface="Arial" charset="0"/>
                        <a:ea typeface="Arial" charset="0"/>
                        <a:cs typeface="Arial" charset="0"/>
                      </a:endParaRPr>
                    </a:p>
                    <a:p>
                      <a:pPr indent="0" marL="0">
                        <a:buNone/>
                      </a:pPr>
                      <a:r>
                        <a:rPr lang="en-US" sz="700" u="sng" dirty="0">
                          <a:solidFill>
                            <a:srgbClr val="0097A9"/>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amitg2027-del.github.io/rasmitra-growth-simulator</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84048">
                <a:tc>
                  <a:txBody>
                    <a:bodyPr/>
                    <a:lstStyle/>
                    <a:p>
                      <a:pPr indent="0" marL="0">
                        <a:buNone/>
                      </a:pPr>
                      <a:r>
                        <a:rPr lang="en-US" sz="780" b="1" dirty="0">
                          <a:solidFill>
                            <a:srgbClr val="000000"/>
                          </a:solidFill>
                          <a:latin typeface="Arial" pitchFamily="34" charset="0"/>
                          <a:ea typeface="Arial" pitchFamily="34" charset="-122"/>
                          <a:cs typeface="Arial" pitchFamily="34" charset="-120"/>
                        </a:rPr>
                        <a:t>Financial model (Google Sheet)</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View-only, live formulas. Deck_TopDown tab = slides 10-12; other tabs = bottom-up model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docs.google.com/spreadsheets/d/1nZSGHXq3_sRKb0EueC1a_8jHta1uloNFJPVZoNb5j6Y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274320">
                <a:tc>
                  <a:txBody>
                    <a:bodyPr/>
                    <a:lstStyle/>
                    <a:p>
                      <a:pPr indent="0" marL="0">
                        <a:buNone/>
                      </a:pPr>
                      <a:r>
                        <a:rPr lang="en-US" sz="780" b="1" dirty="0">
                          <a:solidFill>
                            <a:srgbClr val="000000"/>
                          </a:solidFill>
                          <a:latin typeface="Arial" pitchFamily="34" charset="0"/>
                          <a:ea typeface="Arial" pitchFamily="34" charset="-122"/>
                          <a:cs typeface="Arial" pitchFamily="34" charset="-120"/>
                        </a:rPr>
                        <a:t>Workbook and code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Model as .xlsx and simulator source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github.com/amitg2027-del/rasmitra-growth-simulator</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8" name="Text 5"/>
          <p:cNvSpPr txBox="1"/>
          <p:nvPr/>
        </p:nvSpPr>
        <p:spPr>
          <a:xfrm>
            <a:off x="109728" y="3127248"/>
            <a:ext cx="585216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Case data and primary research</a:t>
            </a:r>
            <a:endParaRPr lang="en-US" sz="11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109728" y="3383280"/>
          <a:ext cx="5852160" cy="914400"/>
        </p:xfrm>
        <a:graphic>
          <a:graphicData uri="http://schemas.openxmlformats.org/drawingml/2006/table">
            <a:tbl>
              <a:tblPr/>
              <a:tblGrid>
                <a:gridCol w="3291840"/>
                <a:gridCol w="2560320"/>
              </a:tblGrid>
              <a:tr h="365760">
                <a:tc>
                  <a:txBody>
                    <a:bodyPr/>
                    <a:lstStyle/>
                    <a:p>
                      <a:pPr indent="0" marL="0">
                        <a:buNone/>
                      </a:pPr>
                      <a:r>
                        <a:rPr lang="en-US" sz="800" b="1"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Used for</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65760">
                <a:tc>
                  <a:txBody>
                    <a:bodyPr/>
                    <a:lstStyle/>
                    <a:p>
                      <a:pPr indent="0" marL="0">
                        <a:buNone/>
                      </a:pPr>
                      <a:r>
                        <a:rPr lang="en-US" sz="780" b="1" dirty="0">
                          <a:solidFill>
                            <a:srgbClr val="000000"/>
                          </a:solidFill>
                          <a:latin typeface="Arial" pitchFamily="34" charset="0"/>
                          <a:ea typeface="Arial" pitchFamily="34" charset="-122"/>
                          <a:cs typeface="Arial" pitchFamily="34" charset="-120"/>
                        </a:rPr>
                        <a:t>The Growth Gambit case, IIM Calcutta x Monitor Deloitte: Exhibits 1-6</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Every company figure; where public data differs, the exhibit governs</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65760">
                <a:tc>
                  <a:txBody>
                    <a:bodyPr/>
                    <a:lstStyle/>
                    <a:p>
                      <a:pPr indent="0" marL="0">
                        <a:buNone/>
                      </a:pPr>
                      <a:r>
                        <a:rPr lang="en-US" sz="780" b="1" dirty="0">
                          <a:solidFill>
                            <a:srgbClr val="000000"/>
                          </a:solidFill>
                          <a:latin typeface="Arial" pitchFamily="34" charset="0"/>
                          <a:ea typeface="Arial" pitchFamily="34" charset="-122"/>
                          <a:cs typeface="Arial" pitchFamily="34" charset="-120"/>
                        </a:rPr>
                        <a:t>FGD 1: young working adults (6, ages 22-29); transcript and photo</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Slides 5-6: brand stretch, trial packs, low-sugar premix</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65760">
                <a:tc>
                  <a:txBody>
                    <a:bodyPr/>
                    <a:lstStyle/>
                    <a:p>
                      <a:pPr indent="0" marL="0">
                        <a:buNone/>
                      </a:pPr>
                      <a:r>
                        <a:rPr lang="en-US" sz="780" b="1" dirty="0">
                          <a:solidFill>
                            <a:srgbClr val="000000"/>
                          </a:solidFill>
                          <a:latin typeface="Arial" pitchFamily="34" charset="0"/>
                          <a:ea typeface="Arial" pitchFamily="34" charset="-122"/>
                          <a:cs typeface="Arial" pitchFamily="34" charset="-120"/>
                        </a:rPr>
                        <a:t>FGD 2: college students (5, ages 20-23); transcript and photo</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Slides 6-7: Rs 10-15 sachet, campus stores, RTC demand</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65760">
                <a:tc>
                  <a:txBody>
                    <a:bodyPr/>
                    <a:lstStyle/>
                    <a:p>
                      <a:pPr indent="0" marL="0">
                        <a:buNone/>
                      </a:pPr>
                      <a:r>
                        <a:rPr lang="en-US" sz="780" b="1" dirty="0">
                          <a:solidFill>
                            <a:srgbClr val="000000"/>
                          </a:solidFill>
                          <a:latin typeface="Arial" pitchFamily="34" charset="0"/>
                          <a:ea typeface="Arial" pitchFamily="34" charset="-122"/>
                          <a:cs typeface="Arial" pitchFamily="34" charset="-120"/>
                        </a:rPr>
                        <a:t>Interview plan: 5 consumer profiles (team)</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Slide 7 personas; older profiles tested at gate 2</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65760">
                <a:tc>
                  <a:txBody>
                    <a:bodyPr/>
                    <a:lstStyle/>
                    <a:p>
                      <a:pPr indent="0" marL="0">
                        <a:buNone/>
                      </a:pPr>
                      <a:r>
                        <a:rPr lang="en-US" sz="780" b="1" dirty="0">
                          <a:solidFill>
                            <a:srgbClr val="000000"/>
                          </a:solidFill>
                          <a:latin typeface="Arial" pitchFamily="34" charset="0"/>
                          <a:ea typeface="Arial" pitchFamily="34" charset="-122"/>
                          <a:cs typeface="Arial" pitchFamily="34" charset="-120"/>
                        </a:rPr>
                        <a:t>Team category model and team bottom-up Excel model</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80" dirty="0">
                          <a:solidFill>
                            <a:srgbClr val="000000"/>
                          </a:solidFill>
                          <a:latin typeface="Arial" pitchFamily="34" charset="0"/>
                          <a:ea typeface="Arial" pitchFamily="34" charset="-122"/>
                          <a:cs typeface="Arial" pitchFamily="34" charset="-120"/>
                        </a:rPr>
                        <a:t>Slides 3, 10-12 and A1; both linked above</a:t>
                      </a:r>
                      <a:endParaRPr lang="en-US" sz="78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0" name="Text 6"/>
          <p:cNvSpPr txBox="1"/>
          <p:nvPr/>
        </p:nvSpPr>
        <p:spPr>
          <a:xfrm>
            <a:off x="6126480" y="749808"/>
            <a:ext cx="5989320" cy="237744"/>
          </a:xfrm>
          <a:prstGeom prst="rect">
            <a:avLst/>
          </a:prstGeom>
          <a:noFill/>
          <a:ln/>
        </p:spPr>
        <p:txBody>
          <a:bodyPr wrap="square" lIns="0" tIns="0" rIns="0" bIns="0" rtlCol="0" anchor="ctr"/>
          <a:lstStyle/>
          <a:p>
            <a:pPr indent="0" marL="0">
              <a:buNone/>
            </a:pPr>
            <a:r>
              <a:rPr lang="en-US" sz="1100" b="1" dirty="0">
                <a:solidFill>
                  <a:srgbClr val="046A38"/>
                </a:solidFill>
                <a:latin typeface="Arial" pitchFamily="34" charset="0"/>
                <a:ea typeface="Arial" pitchFamily="34" charset="-122"/>
                <a:cs typeface="Arial" pitchFamily="34" charset="-120"/>
              </a:rPr>
              <a:t>Secondary sources (each checked against the original)</a:t>
            </a:r>
            <a:endParaRPr lang="en-US" sz="1100" dirty="0"/>
          </a:p>
        </p:txBody>
      </p:sp>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6126480" y="1005840"/>
          <a:ext cx="5989320" cy="914400"/>
        </p:xfrm>
        <a:graphic>
          <a:graphicData uri="http://schemas.openxmlformats.org/drawingml/2006/table">
            <a:tbl>
              <a:tblPr/>
              <a:tblGrid>
                <a:gridCol w="3429000"/>
                <a:gridCol w="2011680"/>
                <a:gridCol w="548640"/>
              </a:tblGrid>
              <a:tr h="315468">
                <a:tc>
                  <a:txBody>
                    <a:bodyPr/>
                    <a:lstStyle/>
                    <a:p>
                      <a:pPr indent="0" marL="0">
                        <a:buNone/>
                      </a:pPr>
                      <a:r>
                        <a:rPr lang="en-US" sz="800" b="1"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What we use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c>
                  <a:txBody>
                    <a:bodyPr/>
                    <a:lstStyle/>
                    <a:p>
                      <a:pPr indent="0" marL="0">
                        <a:buNone/>
                      </a:pPr>
                      <a:r>
                        <a:rPr lang="en-US" sz="800" b="1" dirty="0">
                          <a:solidFill>
                            <a:srgbClr val="FFFFFF"/>
                          </a:solidFill>
                          <a:latin typeface="Arial" pitchFamily="34" charset="0"/>
                          <a:ea typeface="Arial" pitchFamily="34" charset="-122"/>
                          <a:cs typeface="Arial" pitchFamily="34" charset="-120"/>
                        </a:rPr>
                        <a:t>Slide</a:t>
                      </a:r>
                      <a:endParaRPr lang="en-US" sz="8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solidFill>
                      <a:srgbClr val="000000"/>
                    </a:solidFill>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Deloitte &amp; FICCI, 'SPURring growth in FMCG, retail and e-commerce', 7 Oct 2024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78% willing to pay a premium for healthy F&amp;B</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Retail4Growth on the Deloitte-FICCI report, 8 Oct 2024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Q-com about 35% of FMCG online sales, FY24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Bain &amp; Flipkart, 'How India Shops Online 2025'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Q-com two-thirds of e-grocery orders, 2024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Business Standard, 22 Oct 2024: distributors allege predatory pricing</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Why Q-com runs at per-gram parity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7, 8</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Avendus Capital, 10 Aug 2021: branded spices study</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Branded spices to Rs 50,000 Cr by 2025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3</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The Week, 21 May 2024: FSSAI clears MDH, Everest samples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Purity as the spice promise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FSSAI (Labelling and Display) Regulations, 2020, compendium</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Pack label checklist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5</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Bain &amp; Co. (Zook), 'Hard-core growth', 2004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1 in 4 adjacency moves succeeds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Business Standard, 26 Feb 2017: 'Rasna's health trump card'</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Rasna's earlier diversification</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Indian Retailer, Dec 2022: Rasna forays into health and wellness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Rs 10 winter soup sachet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Wikipedia: Paper Boat</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Chikki 2016; ~5 lakh outlets</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Business Today, 8 Sep 2016: RoohAfza Fusion</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Sharbat brand into ready-to-drink</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u="sng" dirty="0">
                          <a:solidFill>
                            <a:srgbClr val="0097A9"/>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Nagji &amp; Tuff (Monitor), 'Managing your innovation portfolio', HBR 2012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Core / adjacent / transformational</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4</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r h="315468">
                <a:tc>
                  <a:txBody>
                    <a:bodyPr/>
                    <a:lstStyle/>
                    <a:p>
                      <a:pPr indent="0" marL="0">
                        <a:buNone/>
                      </a:pPr>
                      <a:r>
                        <a:rPr lang="en-US" sz="700" dirty="0">
                          <a:solidFill>
                            <a:srgbClr val="000000"/>
                          </a:solidFill>
                          <a:latin typeface="Arial" pitchFamily="34" charset="0"/>
                          <a:ea typeface="Arial" pitchFamily="34" charset="-122"/>
                          <a:cs typeface="Arial" pitchFamily="34" charset="-120"/>
                        </a:rPr>
                        <a:t>Lafley &amp; Martin, 'Playing to Win', HBR Press 2013</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indent="0" marL="0">
                        <a:buNone/>
                      </a:pPr>
                      <a:r>
                        <a:rPr lang="en-US" sz="700" dirty="0">
                          <a:solidFill>
                            <a:srgbClr val="000000"/>
                          </a:solidFill>
                          <a:latin typeface="Arial" pitchFamily="34" charset="0"/>
                          <a:ea typeface="Arial" pitchFamily="34" charset="-122"/>
                          <a:cs typeface="Arial" pitchFamily="34" charset="-120"/>
                        </a:rPr>
                        <a:t>Where to play / how to win structure</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c>
                  <a:txBody>
                    <a:bodyPr/>
                    <a:lstStyle/>
                    <a:p>
                      <a:pPr algn="ctr" indent="0" marL="0">
                        <a:buNone/>
                      </a:pPr>
                      <a:r>
                        <a:rPr lang="en-US" sz="700" dirty="0">
                          <a:solidFill>
                            <a:srgbClr val="000000"/>
                          </a:solidFill>
                          <a:latin typeface="Arial" pitchFamily="34" charset="0"/>
                          <a:ea typeface="Arial" pitchFamily="34" charset="-122"/>
                          <a:cs typeface="Arial" pitchFamily="34" charset="-120"/>
                        </a:rPr>
                        <a:t>1-12</a:t>
                      </a:r>
                      <a:endParaRPr lang="en-US" sz="700" dirty="0">
                        <a:latin typeface="Arial" charset="0"/>
                        <a:ea typeface="Arial" charset="0"/>
                        <a:cs typeface="Arial" charset="0"/>
                      </a:endParaRPr>
                    </a:p>
                  </a:txBody>
                  <a:tcPr marL="38100" marR="38100" marT="19050" marB="19050" anchor="ctr">
                    <a:lnL w="6350" cap="flat" cmpd="sng" algn="ctr">
                      <a:solidFill>
                        <a:srgbClr val="D0D0CE"/>
                      </a:solidFill>
                      <a:prstDash val="solid"/>
                      <a:round/>
                      <a:headEnd type="none" w="med" len="med"/>
                      <a:tailEnd type="none" w="med" len="med"/>
                    </a:lnL>
                    <a:lnR w="6350" cap="flat" cmpd="sng" algn="ctr">
                      <a:solidFill>
                        <a:srgbClr val="D0D0CE"/>
                      </a:solidFill>
                      <a:prstDash val="solid"/>
                      <a:round/>
                      <a:headEnd type="none" w="med" len="med"/>
                      <a:tailEnd type="none" w="med" len="med"/>
                    </a:lnR>
                    <a:lnT w="6350" cap="flat" cmpd="sng" algn="ctr">
                      <a:solidFill>
                        <a:srgbClr val="D0D0CE"/>
                      </a:solidFill>
                      <a:prstDash val="solid"/>
                      <a:round/>
                      <a:headEnd type="none" w="med" len="med"/>
                      <a:tailEnd type="none" w="med" len="med"/>
                    </a:lnT>
                    <a:lnB w="6350" cap="flat" cmpd="sng" algn="ctr">
                      <a:solidFill>
                        <a:srgbClr val="D0D0CE"/>
                      </a:solidFill>
                      <a:prstDash val="solid"/>
                      <a:round/>
                      <a:headEnd type="none" w="med" len="med"/>
                      <a:tailEnd type="none" w="med" len="med"/>
                    </a:lnB>
                  </a:tcPr>
                </a:tc>
              </a:tr>
            </a:tbl>
          </a:graphicData>
        </a:graphic>
      </p:graphicFrame>
      <p:sp>
        <p:nvSpPr>
          <p:cNvPr id="12" name="Shape 7"/>
          <p:cNvSpPr/>
          <p:nvPr/>
        </p:nvSpPr>
        <p:spPr>
          <a:xfrm>
            <a:off x="0" y="5961888"/>
            <a:ext cx="12191695" cy="530352"/>
          </a:xfrm>
          <a:prstGeom prst="rect">
            <a:avLst/>
          </a:prstGeom>
          <a:solidFill>
            <a:srgbClr val="86BC25"/>
          </a:solidFill>
          <a:ln w="12700">
            <a:solidFill>
              <a:srgbClr val="86BC25"/>
            </a:solidFill>
            <a:prstDash val="solid"/>
          </a:ln>
        </p:spPr>
      </p:sp>
      <p:sp>
        <p:nvSpPr>
          <p:cNvPr id="13" name="Text 8"/>
          <p:cNvSpPr txBox="1"/>
          <p:nvPr/>
        </p:nvSpPr>
        <p:spPr>
          <a:xfrm>
            <a:off x="137160" y="5961888"/>
            <a:ext cx="11914632" cy="530352"/>
          </a:xfrm>
          <a:prstGeom prst="rect">
            <a:avLst/>
          </a:prstGeom>
          <a:noFill/>
          <a:ln/>
        </p:spPr>
        <p:txBody>
          <a:bodyPr wrap="square" lIns="0" tIns="0" rIns="0" bIns="0" rtlCol="0" anchor="ctr"/>
          <a:lstStyle/>
          <a:p>
            <a:pPr algn="ctr" indent="0" marL="0">
              <a:buNone/>
            </a:pPr>
            <a:r>
              <a:rPr lang="en-US" sz="1250" b="1" dirty="0">
                <a:solidFill>
                  <a:srgbClr val="000000"/>
                </a:solidFill>
                <a:latin typeface="Arial" pitchFamily="34" charset="0"/>
                <a:ea typeface="Arial" pitchFamily="34" charset="-122"/>
                <a:cs typeface="Arial" pitchFamily="34" charset="-120"/>
              </a:rPr>
              <a:t>Everything is open to check: </a:t>
            </a:r>
            <a:pPr algn="ctr" indent="0" marL="0">
              <a:buNone/>
            </a:pPr>
            <a:r>
              <a:rPr lang="en-US" sz="1250" dirty="0">
                <a:solidFill>
                  <a:srgbClr val="000000"/>
                </a:solidFill>
                <a:latin typeface="Arial" pitchFamily="34" charset="0"/>
                <a:ea typeface="Arial" pitchFamily="34" charset="-122"/>
                <a:cs typeface="Arial" pitchFamily="34" charset="-120"/>
              </a:rPr>
              <a:t>both models, the simulator and the financial model are view-only links anyone can open.</a:t>
            </a:r>
            <a:endParaRPr lang="en-US" sz="1250" dirty="0"/>
          </a:p>
        </p:txBody>
      </p:sp>
      <p:sp>
        <p:nvSpPr>
          <p:cNvPr id="14" name="Text 9"/>
          <p:cNvSpPr txBox="1"/>
          <p:nvPr/>
        </p:nvSpPr>
        <p:spPr>
          <a:xfrm>
            <a:off x="91440" y="6528816"/>
            <a:ext cx="11521440" cy="292608"/>
          </a:xfrm>
          <a:prstGeom prst="rect">
            <a:avLst/>
          </a:prstGeom>
          <a:noFill/>
          <a:ln/>
        </p:spPr>
        <p:txBody>
          <a:bodyPr wrap="square" lIns="0" tIns="0" rIns="0" bIns="0" rtlCol="0" anchor="ctr"/>
          <a:lstStyle/>
          <a:p>
            <a:pPr indent="0" marL="0">
              <a:buNone/>
            </a:pPr>
            <a:r>
              <a:rPr lang="en-US" sz="730" dirty="0">
                <a:solidFill>
                  <a:srgbClr val="53565A"/>
                </a:solidFill>
                <a:latin typeface="Arial" pitchFamily="34" charset="0"/>
                <a:ea typeface="Arial" pitchFamily="34" charset="-122"/>
                <a:cs typeface="Arial" pitchFamily="34" charset="-120"/>
              </a:rPr>
              <a:t>All web sources accessed October 2026. Team models and transcripts are the team's own work. Photos of both focus groups are on slide 6.</a:t>
            </a:r>
            <a:endParaRPr lang="en-US" sz="730" dirty="0"/>
          </a:p>
        </p:txBody>
      </p:sp>
      <p:sp>
        <p:nvSpPr>
          <p:cNvPr id="15" name="Text 10"/>
          <p:cNvSpPr txBox="1"/>
          <p:nvPr/>
        </p:nvSpPr>
        <p:spPr>
          <a:xfrm>
            <a:off x="11658600" y="6547104"/>
            <a:ext cx="457200" cy="256032"/>
          </a:xfrm>
          <a:prstGeom prst="rect">
            <a:avLst/>
          </a:prstGeom>
          <a:noFill/>
          <a:ln/>
        </p:spPr>
        <p:txBody>
          <a:bodyPr wrap="square" lIns="0" tIns="0" rIns="0" bIns="0" rtlCol="0" anchor="ctr"/>
          <a:lstStyle/>
          <a:p>
            <a:pPr algn="r" indent="0" marL="0">
              <a:buNone/>
            </a:pPr>
            <a:r>
              <a:rPr lang="en-US" sz="800" dirty="0">
                <a:solidFill>
                  <a:srgbClr val="53565A"/>
                </a:solidFill>
                <a:latin typeface="Arial" pitchFamily="34" charset="0"/>
                <a:ea typeface="Arial" pitchFamily="34" charset="-122"/>
                <a:cs typeface="Arial" pitchFamily="34" charset="-120"/>
              </a:rPr>
              <a:t>A2</a:t>
            </a:r>
            <a:endParaRPr lang="en-US" sz="800" dirty="0"/>
          </a:p>
        </p:txBody>
      </p:sp>
    </p:spTree>
  </p:cSld>
  <p:clrMapOvr>
    <a:masterClrMapping/>
  </p:clrMapOvr>
</p:sld>
</file>

<file path=ppt/theme/theme1.xml><?xml version="1.0" encoding="utf-8"?>
<a:theme xmlns:a="http://schemas.openxmlformats.org/drawingml/2006/main" name="Monitor Deloitte Green">
  <a:themeElements>
    <a:clrScheme name="Monitor Deloitte Green">
      <a:dk1>
        <a:srgbClr val="000000"/>
      </a:dk1>
      <a:lt1>
        <a:srgbClr val="FFFFFF"/>
      </a:lt1>
      <a:dk2>
        <a:srgbClr val="1A1A1A"/>
      </a:dk2>
      <a:lt2>
        <a:srgbClr val="F2F2F2"/>
      </a:lt2>
      <a:accent1>
        <a:srgbClr val="86BC25"/>
      </a:accent1>
      <a:accent2>
        <a:srgbClr val="26890D"/>
      </a:accent2>
      <a:accent3>
        <a:srgbClr val="046A38"/>
      </a:accent3>
      <a:accent4>
        <a:srgbClr val="0097A9"/>
      </a:accent4>
      <a:accent5>
        <a:srgbClr val="53565A"/>
      </a:accent5>
      <a:accent6>
        <a:srgbClr val="D0D0CE"/>
      </a:accent6>
      <a:hlink>
        <a:srgbClr val="0097A9"/>
      </a:hlink>
      <a:folHlink>
        <a:srgbClr val="53565A"/>
      </a:folHlink>
    </a:clrScheme>
    <a:fontScheme name="Monitor Deloitte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Growth Gambit - Final Round Presentation</dc:title>
  <dc:subject>PptxGenJS Presentation</dc:subject>
  <dc:creator>Team Quadria, IIM Calcutta</dc:creator>
  <cp:lastModifiedBy>Team Quadria, IIM Calcutta</cp:lastModifiedBy>
  <cp:revision>1</cp:revision>
  <dcterms:created xsi:type="dcterms:W3CDTF">2026-10-22T17:43:49Z</dcterms:created>
  <dcterms:modified xsi:type="dcterms:W3CDTF">2026-10-22T17:43:49Z</dcterms:modified>
</cp:coreProperties>
</file>